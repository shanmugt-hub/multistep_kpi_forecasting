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7" r:id="rId10"/>
    <p:sldId id="265" r:id="rId11"/>
    <p:sldId id="266" r:id="rId12"/>
  </p:sldIdLst>
  <p:sldSz cx="9144000" cy="5143500" type="screen16x9"/>
  <p:notesSz cx="6858000" cy="9144000"/>
  <p:embeddedFontLst>
    <p:embeddedFont>
      <p:font typeface="Lato" panose="020F0502020204030203" pitchFamily="34" charset="0"/>
      <p:regular r:id="rId14"/>
      <p:bold r:id="rId15"/>
      <p:italic r:id="rId16"/>
      <p:boldItalic r:id="rId17"/>
    </p:embeddedFont>
    <p:embeddedFont>
      <p:font typeface="Raleway" pitchFamily="2" charset="0"/>
      <p:regular r:id="rId18"/>
      <p:bold r:id="rId19"/>
      <p:italic r:id="rId20"/>
      <p:boldItalic r:id="rId21"/>
    </p:embeddedFont>
    <p:embeddedFont>
      <p:font typeface="Roboto" panose="02000000000000000000" pitchFamily="2"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13" y="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7b453ca69b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7b453ca69b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Student name - 2 marks</a:t>
            </a:r>
            <a:endParaRPr/>
          </a:p>
          <a:p>
            <a:pPr marL="0" lvl="0" indent="0" algn="l" rtl="0">
              <a:spcBef>
                <a:spcPts val="0"/>
              </a:spcBef>
              <a:spcAft>
                <a:spcPts val="0"/>
              </a:spcAft>
              <a:buNone/>
            </a:pPr>
            <a:r>
              <a:rPr lang="en"/>
              <a:t>Mentor’s name - 2 marks</a:t>
            </a:r>
            <a:endParaRPr/>
          </a:p>
          <a:p>
            <a:pPr marL="0" lvl="0" indent="0" algn="l" rtl="0">
              <a:spcBef>
                <a:spcPts val="0"/>
              </a:spcBef>
              <a:spcAft>
                <a:spcPts val="0"/>
              </a:spcAft>
              <a:buNone/>
            </a:pPr>
            <a:r>
              <a:rPr lang="en"/>
              <a:t>Topic name - 2 marks </a:t>
            </a:r>
            <a:endParaRPr/>
          </a:p>
          <a:p>
            <a:pPr marL="0" lvl="0" indent="0" algn="l" rtl="0">
              <a:spcBef>
                <a:spcPts val="0"/>
              </a:spcBef>
              <a:spcAft>
                <a:spcPts val="0"/>
              </a:spcAft>
              <a:buNone/>
            </a:pPr>
            <a:r>
              <a:rPr lang="en"/>
              <a:t>-&gt; automated grading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7b453ca69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7b453ca69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7b453ca69b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7b453ca69b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b453ca69b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7b453ca69b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7b453ca69b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7b453ca69b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7b453ca69b_0_1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7b453ca69b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37b453ca69b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37b453ca69b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7b453ca69b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7b453ca69b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E311E791-3F97-C906-CC0C-07CB2722579E}"/>
            </a:ext>
          </a:extLst>
        </p:cNvPr>
        <p:cNvGrpSpPr/>
        <p:nvPr/>
      </p:nvGrpSpPr>
      <p:grpSpPr>
        <a:xfrm>
          <a:off x="0" y="0"/>
          <a:ext cx="0" cy="0"/>
          <a:chOff x="0" y="0"/>
          <a:chExt cx="0" cy="0"/>
        </a:xfrm>
      </p:grpSpPr>
      <p:sp>
        <p:nvSpPr>
          <p:cNvPr id="131" name="Google Shape;131;g37b453ca69b_0_199:notes">
            <a:extLst>
              <a:ext uri="{FF2B5EF4-FFF2-40B4-BE49-F238E27FC236}">
                <a16:creationId xmlns:a16="http://schemas.microsoft.com/office/drawing/2014/main" id="{A2471D71-C020-E302-341B-19432A7B0B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7b453ca69b_0_199:notes">
            <a:extLst>
              <a:ext uri="{FF2B5EF4-FFF2-40B4-BE49-F238E27FC236}">
                <a16:creationId xmlns:a16="http://schemas.microsoft.com/office/drawing/2014/main" id="{39603D44-9333-112E-E61C-48512C4038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1654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7b453ca69b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7b453ca69b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b453ca69b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7b453ca69b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p>
            <a:r>
              <a:rPr lang="en-IN" sz="2000" dirty="0"/>
              <a:t>AI-Driven Predictive Multi-step KPI Forecasting for Proactive Telecom Service Assurance</a:t>
            </a:r>
            <a:br>
              <a:rPr lang="en-IN" sz="2000" dirty="0"/>
            </a:br>
            <a:br>
              <a:rPr lang="en-IN" sz="2000" dirty="0"/>
            </a:br>
            <a:br>
              <a:rPr lang="en-IN" sz="2000" dirty="0"/>
            </a:br>
            <a:r>
              <a:rPr lang="en" sz="2000" dirty="0"/>
              <a:t>Final Presentation</a:t>
            </a:r>
            <a:endParaRPr sz="1200" dirty="0">
              <a:latin typeface="Times New Roman"/>
              <a:ea typeface="Times New Roman"/>
              <a:cs typeface="Times New Roman"/>
              <a:sym typeface="Times New Roman"/>
            </a:endParaRPr>
          </a:p>
        </p:txBody>
      </p:sp>
      <p:sp>
        <p:nvSpPr>
          <p:cNvPr id="87" name="Google Shape;87;p13"/>
          <p:cNvSpPr txBox="1">
            <a:spLocks noGrp="1"/>
          </p:cNvSpPr>
          <p:nvPr>
            <p:ph type="subTitle" idx="1"/>
          </p:nvPr>
        </p:nvSpPr>
        <p:spPr>
          <a:xfrm>
            <a:off x="729450" y="3056825"/>
            <a:ext cx="8102700" cy="792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800" dirty="0">
                <a:latin typeface="Times New Roman"/>
                <a:ea typeface="Times New Roman"/>
                <a:cs typeface="Times New Roman"/>
                <a:sym typeface="Times New Roman"/>
              </a:rPr>
              <a:t>Name – Shanmuganathan Thiagarajan</a:t>
            </a:r>
            <a:endParaRPr sz="1800" dirty="0">
              <a:latin typeface="Times New Roman"/>
              <a:ea typeface="Times New Roman"/>
              <a:cs typeface="Times New Roman"/>
              <a:sym typeface="Times New Roman"/>
            </a:endParaRPr>
          </a:p>
          <a:p>
            <a:pPr marL="0" indent="0"/>
            <a:r>
              <a:rPr lang="en" sz="1800" dirty="0">
                <a:latin typeface="Times New Roman"/>
                <a:ea typeface="Times New Roman"/>
                <a:cs typeface="Times New Roman"/>
                <a:sym typeface="Times New Roman"/>
              </a:rPr>
              <a:t>Mentor’s name - </a:t>
            </a:r>
            <a:r>
              <a:rPr lang="en-IN" dirty="0"/>
              <a:t>Dr. </a:t>
            </a:r>
            <a:r>
              <a:rPr lang="en-IN" dirty="0" err="1"/>
              <a:t>Pralhad</a:t>
            </a:r>
            <a:r>
              <a:rPr lang="en-IN" dirty="0"/>
              <a:t> P. </a:t>
            </a:r>
            <a:r>
              <a:rPr lang="en-IN" dirty="0" err="1"/>
              <a:t>Teggi</a:t>
            </a:r>
            <a:endParaRPr lang="en-IN" dirty="0"/>
          </a:p>
          <a:p>
            <a:pPr marL="0" lvl="0" indent="0" algn="l" rtl="0">
              <a:spcBef>
                <a:spcPts val="0"/>
              </a:spcBef>
              <a:spcAft>
                <a:spcPts val="0"/>
              </a:spcAft>
              <a:buNone/>
            </a:pPr>
            <a:endParaRPr sz="1800"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30600" y="607594"/>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Executive Summary</a:t>
            </a:r>
            <a:endParaRPr dirty="0"/>
          </a:p>
        </p:txBody>
      </p:sp>
      <p:sp>
        <p:nvSpPr>
          <p:cNvPr id="2" name="Google Shape;92;p14">
            <a:extLst>
              <a:ext uri="{FF2B5EF4-FFF2-40B4-BE49-F238E27FC236}">
                <a16:creationId xmlns:a16="http://schemas.microsoft.com/office/drawing/2014/main" id="{1F18847D-06C7-0EC4-D2E7-50CF9DC1615E}"/>
              </a:ext>
            </a:extLst>
          </p:cNvPr>
          <p:cNvSpPr txBox="1">
            <a:spLocks noGrp="1"/>
          </p:cNvSpPr>
          <p:nvPr>
            <p:ph type="body" idx="1"/>
          </p:nvPr>
        </p:nvSpPr>
        <p:spPr>
          <a:xfrm>
            <a:off x="727075" y="1441450"/>
            <a:ext cx="7689850" cy="3433638"/>
          </a:xfrm>
          <a:prstGeom prst="rect">
            <a:avLst/>
          </a:prstGeom>
        </p:spPr>
        <p:txBody>
          <a:bodyPr spcFirstLastPara="1" wrap="square" lIns="91425" tIns="91425" rIns="91425" bIns="91425" anchor="t" anchorCtr="0">
            <a:normAutofit fontScale="90000" lnSpcReduction="20000"/>
          </a:bodyPr>
          <a:lstStyle/>
          <a:p>
            <a:pPr marL="285750" indent="-285750"/>
            <a:r>
              <a:rPr b="1" dirty="0"/>
              <a:t>Objective</a:t>
            </a:r>
            <a:r>
              <a:rPr dirty="0"/>
              <a:t>: </a:t>
            </a:r>
            <a:r>
              <a:rPr lang="en-IN" dirty="0"/>
              <a:t>Forecast telecom </a:t>
            </a:r>
            <a:r>
              <a:rPr lang="en-IN" b="1" dirty="0"/>
              <a:t>KPI</a:t>
            </a:r>
            <a:r>
              <a:rPr lang="en-IN" dirty="0"/>
              <a:t> ( Key Performance Indicators ) </a:t>
            </a:r>
            <a:r>
              <a:rPr lang="en-IN" dirty="0" err="1"/>
              <a:t>behavior</a:t>
            </a:r>
            <a:r>
              <a:rPr lang="en-IN" dirty="0"/>
              <a:t> accurately and proactively, which requires models capable of capturing both linear temporal dependencies and nonlinear patterns present in telecom network data	</a:t>
            </a:r>
          </a:p>
          <a:p>
            <a:pPr marL="285750" indent="-285750"/>
            <a:endParaRPr lang="en-IN" dirty="0"/>
          </a:p>
          <a:p>
            <a:pPr marL="285750" indent="-285750"/>
            <a:r>
              <a:rPr b="1" dirty="0"/>
              <a:t>Importance</a:t>
            </a:r>
            <a:r>
              <a:rPr dirty="0"/>
              <a:t>: </a:t>
            </a:r>
            <a:r>
              <a:rPr lang="en-IN" dirty="0"/>
              <a:t>KPI forecasting enables telecom operators to anticipate network performance degradation before it impacts services, allowing proactive intervention instead of reactive troubleshooting. This </a:t>
            </a:r>
            <a:r>
              <a:rPr lang="en-IN" b="1" dirty="0"/>
              <a:t>improves network reliability, reduces operational costs, and enhances customer experience </a:t>
            </a:r>
            <a:r>
              <a:rPr lang="en-IN" dirty="0"/>
              <a:t>by supporting intelligent and automated service assurance.</a:t>
            </a:r>
            <a:r>
              <a:rPr dirty="0"/>
              <a:t>Reduce outages and</a:t>
            </a:r>
            <a:r>
              <a:rPr lang="en-IN" dirty="0"/>
              <a:t> enables network capacity forecasting.</a:t>
            </a:r>
          </a:p>
          <a:p>
            <a:pPr marL="285750" indent="-285750"/>
            <a:endParaRPr lang="en-IN" dirty="0"/>
          </a:p>
          <a:p>
            <a:pPr marL="285750" indent="-285750"/>
            <a:r>
              <a:rPr b="1" dirty="0"/>
              <a:t>Data</a:t>
            </a:r>
            <a:r>
              <a:rPr dirty="0"/>
              <a:t>: </a:t>
            </a:r>
            <a:r>
              <a:rPr lang="en-IN" dirty="0"/>
              <a:t>Anonymized </a:t>
            </a:r>
            <a:r>
              <a:rPr dirty="0"/>
              <a:t>telecom </a:t>
            </a:r>
            <a:r>
              <a:rPr lang="en-IN" dirty="0"/>
              <a:t>network </a:t>
            </a:r>
            <a:r>
              <a:rPr dirty="0"/>
              <a:t>KPI dataset with hourly measurements</a:t>
            </a:r>
            <a:r>
              <a:rPr lang="en-IN" dirty="0"/>
              <a:t> for a month</a:t>
            </a:r>
          </a:p>
          <a:p>
            <a:pPr marL="285750" indent="-285750"/>
            <a:endParaRPr lang="en-IN" dirty="0"/>
          </a:p>
          <a:p>
            <a:pPr marL="285750" indent="-285750"/>
            <a:r>
              <a:rPr b="1" dirty="0"/>
              <a:t>Approach</a:t>
            </a:r>
            <a:r>
              <a:rPr dirty="0"/>
              <a:t>: </a:t>
            </a:r>
            <a:r>
              <a:rPr lang="en-IN" dirty="0"/>
              <a:t>Applies a layered forecasting approach combining statistical models (</a:t>
            </a:r>
            <a:r>
              <a:rPr lang="en-IN" b="1" dirty="0"/>
              <a:t>ARIMA, SARIMA</a:t>
            </a:r>
            <a:r>
              <a:rPr lang="en-IN" dirty="0"/>
              <a:t>) and AI models (</a:t>
            </a:r>
            <a:r>
              <a:rPr lang="en-IN" b="1" dirty="0"/>
              <a:t>LSTM</a:t>
            </a:r>
            <a:r>
              <a:rPr lang="en-IN" dirty="0"/>
              <a:t>) to </a:t>
            </a:r>
            <a:r>
              <a:rPr lang="en-IN" dirty="0" err="1"/>
              <a:t>analyze</a:t>
            </a:r>
            <a:r>
              <a:rPr lang="en-IN" dirty="0"/>
              <a:t> and predict telecom KPI time-series </a:t>
            </a:r>
            <a:r>
              <a:rPr lang="en-IN" dirty="0" err="1"/>
              <a:t>behavior</a:t>
            </a:r>
            <a:r>
              <a:rPr lang="en-IN" dirty="0"/>
              <a:t>. A </a:t>
            </a:r>
            <a:r>
              <a:rPr lang="en-IN" b="1" dirty="0"/>
              <a:t>hybrid SARIMA–LSTM model</a:t>
            </a:r>
            <a:r>
              <a:rPr lang="en-IN" dirty="0"/>
              <a:t> is then developed to capture both linear seasonal patterns and nonlinear temporal dependencies for improved multi-step forecasting accuracy</a:t>
            </a:r>
          </a:p>
          <a:p>
            <a:pPr marL="285750" indent="-285750"/>
            <a:endParaRPr lang="en-IN" dirty="0"/>
          </a:p>
          <a:p>
            <a:pPr marL="285750" indent="-285750"/>
            <a:r>
              <a:rPr b="1" dirty="0"/>
              <a:t>Result</a:t>
            </a:r>
            <a:r>
              <a:rPr dirty="0"/>
              <a:t>: </a:t>
            </a:r>
            <a:r>
              <a:rPr lang="en-IN" dirty="0"/>
              <a:t>LSTM </a:t>
            </a:r>
            <a:r>
              <a:rPr dirty="0"/>
              <a:t>model </a:t>
            </a:r>
            <a:r>
              <a:rPr lang="en-IN" dirty="0"/>
              <a:t>achieved highest accuracy</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5850" y="645693"/>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Gap Analysis</a:t>
            </a:r>
            <a:endParaRPr dirty="0"/>
          </a:p>
        </p:txBody>
      </p:sp>
      <p:sp>
        <p:nvSpPr>
          <p:cNvPr id="99" name="Google Shape;99;p15"/>
          <p:cNvSpPr txBox="1">
            <a:spLocks noGrp="1"/>
          </p:cNvSpPr>
          <p:nvPr>
            <p:ph type="body" idx="1"/>
          </p:nvPr>
        </p:nvSpPr>
        <p:spPr>
          <a:xfrm>
            <a:off x="5907626" y="1466402"/>
            <a:ext cx="3133633" cy="3113705"/>
          </a:xfrm>
          <a:prstGeom prst="rect">
            <a:avLst/>
          </a:prstGeom>
        </p:spPr>
        <p:txBody>
          <a:bodyPr spcFirstLastPara="1" wrap="square" lIns="91425" tIns="91425" rIns="91425" bIns="91425" anchor="t" anchorCtr="0">
            <a:noAutofit/>
          </a:bodyPr>
          <a:lstStyle/>
          <a:p>
            <a:pPr marL="0" indent="0">
              <a:buNone/>
            </a:pPr>
            <a:r>
              <a:rPr lang="en" sz="1050" b="1" dirty="0"/>
              <a:t>Justification</a:t>
            </a:r>
            <a:r>
              <a:rPr lang="en" sz="900" dirty="0"/>
              <a:t> :</a:t>
            </a:r>
          </a:p>
          <a:p>
            <a:pPr marL="285750" indent="-285750"/>
            <a:r>
              <a:rPr lang="en-IN" sz="1100" dirty="0"/>
              <a:t>Telecom monitoring systems are largely </a:t>
            </a:r>
            <a:r>
              <a:rPr lang="en-IN" sz="1100" b="1" dirty="0"/>
              <a:t>reactive</a:t>
            </a:r>
            <a:r>
              <a:rPr lang="en-IN" sz="1100" dirty="0"/>
              <a:t>, relying on threshold-based alarms after issues occur.</a:t>
            </a:r>
          </a:p>
          <a:p>
            <a:pPr marL="285750" indent="-285750"/>
            <a:r>
              <a:rPr lang="en-IN" sz="1100" dirty="0"/>
              <a:t>Network KPIs often show </a:t>
            </a:r>
            <a:r>
              <a:rPr lang="en-IN" sz="1100" b="1" dirty="0"/>
              <a:t>early trends and seasonal patterns</a:t>
            </a:r>
            <a:r>
              <a:rPr lang="en-IN" sz="1100" dirty="0"/>
              <a:t> before service degradation.</a:t>
            </a:r>
          </a:p>
          <a:p>
            <a:pPr marL="285750" indent="-285750"/>
            <a:r>
              <a:rPr lang="en-IN" sz="1100" dirty="0"/>
              <a:t>Traditional statistical models alone cannot capture </a:t>
            </a:r>
            <a:r>
              <a:rPr lang="en-IN" sz="1100" b="1" dirty="0"/>
              <a:t>complex nonlinear KPI </a:t>
            </a:r>
            <a:r>
              <a:rPr lang="en-IN" sz="1100" b="1" dirty="0" err="1"/>
              <a:t>behavior</a:t>
            </a:r>
            <a:r>
              <a:rPr lang="en-IN" sz="1100" dirty="0"/>
              <a:t>.</a:t>
            </a:r>
          </a:p>
          <a:p>
            <a:pPr marL="285750" indent="-285750"/>
            <a:r>
              <a:rPr lang="en-IN" sz="1100" dirty="0"/>
              <a:t>AI models show strong capability to  learn </a:t>
            </a:r>
            <a:r>
              <a:rPr lang="en-IN" sz="1100" b="1" dirty="0"/>
              <a:t>hidden temporal patterns</a:t>
            </a:r>
            <a:r>
              <a:rPr lang="en-IN" sz="1100" dirty="0"/>
              <a:t> in telecom network data.</a:t>
            </a:r>
          </a:p>
          <a:p>
            <a:pPr marL="285750" indent="-285750"/>
            <a:r>
              <a:rPr lang="en-IN" sz="1100" dirty="0"/>
              <a:t>A </a:t>
            </a:r>
            <a:r>
              <a:rPr lang="en-IN" sz="1100" b="1" dirty="0"/>
              <a:t>hybrid statistical–AI forecasting approach</a:t>
            </a:r>
            <a:r>
              <a:rPr lang="en-IN" sz="1100" dirty="0"/>
              <a:t> can improve proactive service assurance and network reliability.</a:t>
            </a:r>
            <a:endParaRPr sz="1100" dirty="0"/>
          </a:p>
        </p:txBody>
      </p:sp>
      <p:graphicFrame>
        <p:nvGraphicFramePr>
          <p:cNvPr id="4" name="Table 3">
            <a:extLst>
              <a:ext uri="{FF2B5EF4-FFF2-40B4-BE49-F238E27FC236}">
                <a16:creationId xmlns:a16="http://schemas.microsoft.com/office/drawing/2014/main" id="{1200F6DB-A60D-D04E-41A4-BE1876F98A42}"/>
              </a:ext>
            </a:extLst>
          </p:cNvPr>
          <p:cNvGraphicFramePr>
            <a:graphicFrameLocks noGrp="1"/>
          </p:cNvGraphicFramePr>
          <p:nvPr>
            <p:extLst>
              <p:ext uri="{D42A27DB-BD31-4B8C-83A1-F6EECF244321}">
                <p14:modId xmlns:p14="http://schemas.microsoft.com/office/powerpoint/2010/main" val="2994192490"/>
              </p:ext>
            </p:extLst>
          </p:nvPr>
        </p:nvGraphicFramePr>
        <p:xfrm>
          <a:off x="833729" y="1466406"/>
          <a:ext cx="5001975" cy="3113701"/>
        </p:xfrm>
        <a:graphic>
          <a:graphicData uri="http://schemas.openxmlformats.org/drawingml/2006/table">
            <a:tbl>
              <a:tblPr firstRow="1" firstCol="1" bandRow="1">
                <a:tableStyleId>{B301B821-A1FF-4177-AEE7-76D212191A09}</a:tableStyleId>
              </a:tblPr>
              <a:tblGrid>
                <a:gridCol w="1540027">
                  <a:extLst>
                    <a:ext uri="{9D8B030D-6E8A-4147-A177-3AD203B41FA5}">
                      <a16:colId xmlns:a16="http://schemas.microsoft.com/office/drawing/2014/main" val="3597401756"/>
                    </a:ext>
                  </a:extLst>
                </a:gridCol>
                <a:gridCol w="1794623">
                  <a:extLst>
                    <a:ext uri="{9D8B030D-6E8A-4147-A177-3AD203B41FA5}">
                      <a16:colId xmlns:a16="http://schemas.microsoft.com/office/drawing/2014/main" val="3922958263"/>
                    </a:ext>
                  </a:extLst>
                </a:gridCol>
                <a:gridCol w="1667325">
                  <a:extLst>
                    <a:ext uri="{9D8B030D-6E8A-4147-A177-3AD203B41FA5}">
                      <a16:colId xmlns:a16="http://schemas.microsoft.com/office/drawing/2014/main" val="739501819"/>
                    </a:ext>
                  </a:extLst>
                </a:gridCol>
              </a:tblGrid>
              <a:tr h="311253">
                <a:tc>
                  <a:txBody>
                    <a:bodyPr/>
                    <a:lstStyle/>
                    <a:p>
                      <a:pPr>
                        <a:lnSpc>
                          <a:spcPct val="115000"/>
                        </a:lnSpc>
                        <a:buNone/>
                      </a:pPr>
                      <a:r>
                        <a:rPr lang="en-IN" sz="900">
                          <a:solidFill>
                            <a:srgbClr val="FFFFFF"/>
                          </a:solidFill>
                          <a:effectLst/>
                        </a:rPr>
                        <a:t>Author(s) &amp; Year</a:t>
                      </a:r>
                      <a:endParaRPr lang="en-IN" sz="105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rgbClr val="FFFFFF"/>
                          </a:solidFill>
                          <a:effectLst/>
                        </a:rPr>
                        <a:t>Research Focus</a:t>
                      </a:r>
                      <a:endParaRPr lang="en-IN" sz="105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rgbClr val="FFFFFF"/>
                          </a:solidFill>
                          <a:effectLst/>
                        </a:rPr>
                        <a:t>Methodology / Models Used</a:t>
                      </a:r>
                      <a:endParaRPr lang="en-IN" sz="105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831448484"/>
                  </a:ext>
                </a:extLst>
              </a:tr>
              <a:tr h="311253">
                <a:tc>
                  <a:txBody>
                    <a:bodyPr/>
                    <a:lstStyle/>
                    <a:p>
                      <a:pPr>
                        <a:lnSpc>
                          <a:spcPct val="115000"/>
                        </a:lnSpc>
                        <a:buNone/>
                      </a:pPr>
                      <a:r>
                        <a:rPr lang="en-IN" sz="900" dirty="0">
                          <a:solidFill>
                            <a:schemeClr val="tx1"/>
                          </a:solidFill>
                          <a:effectLst/>
                        </a:rPr>
                        <a:t>Vaswani et al., 2017</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rgbClr val="000000"/>
                          </a:solidFill>
                          <a:effectLst/>
                        </a:rPr>
                        <a:t>Sequence modeling using attention</a:t>
                      </a:r>
                      <a:endParaRPr lang="en-IN" sz="105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rgbClr val="000000"/>
                          </a:solidFill>
                          <a:effectLst/>
                        </a:rPr>
                        <a:t>Transformer architecture</a:t>
                      </a:r>
                      <a:endParaRPr lang="en-IN" sz="105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546504520"/>
                  </a:ext>
                </a:extLst>
              </a:tr>
              <a:tr h="311253">
                <a:tc>
                  <a:txBody>
                    <a:bodyPr/>
                    <a:lstStyle/>
                    <a:p>
                      <a:pPr>
                        <a:lnSpc>
                          <a:spcPct val="115000"/>
                        </a:lnSpc>
                        <a:buNone/>
                      </a:pPr>
                      <a:r>
                        <a:rPr lang="en-IN" sz="900" dirty="0">
                          <a:solidFill>
                            <a:schemeClr val="tx1"/>
                          </a:solidFill>
                          <a:effectLst/>
                        </a:rPr>
                        <a:t>Hyndman &amp; Athanasopoulos, 2018</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Time-series forecasting principles</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ARIMA, ETS, decomposition</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722302768"/>
                  </a:ext>
                </a:extLst>
              </a:tr>
              <a:tr h="148707">
                <a:tc>
                  <a:txBody>
                    <a:bodyPr/>
                    <a:lstStyle/>
                    <a:p>
                      <a:pPr>
                        <a:lnSpc>
                          <a:spcPct val="115000"/>
                        </a:lnSpc>
                        <a:buNone/>
                      </a:pPr>
                      <a:r>
                        <a:rPr lang="en-IN" sz="900" dirty="0">
                          <a:solidFill>
                            <a:schemeClr val="tx1"/>
                          </a:solidFill>
                          <a:effectLst/>
                        </a:rPr>
                        <a:t>Ahmed et al., 2019</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Telecom KPI prediction</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LSTM neural networks</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994107847"/>
                  </a:ext>
                </a:extLst>
              </a:tr>
              <a:tr h="311253">
                <a:tc>
                  <a:txBody>
                    <a:bodyPr/>
                    <a:lstStyle/>
                    <a:p>
                      <a:pPr>
                        <a:lnSpc>
                          <a:spcPct val="115000"/>
                        </a:lnSpc>
                        <a:buNone/>
                      </a:pPr>
                      <a:r>
                        <a:rPr lang="en-IN" sz="900" dirty="0">
                          <a:solidFill>
                            <a:schemeClr val="tx1"/>
                          </a:solidFill>
                          <a:effectLst/>
                        </a:rPr>
                        <a:t>ITU-T, 2019</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ML architecture for telecom networks</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ML pipeline framework</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832301588"/>
                  </a:ext>
                </a:extLst>
              </a:tr>
              <a:tr h="311253">
                <a:tc>
                  <a:txBody>
                    <a:bodyPr/>
                    <a:lstStyle/>
                    <a:p>
                      <a:pPr>
                        <a:lnSpc>
                          <a:spcPct val="115000"/>
                        </a:lnSpc>
                        <a:buNone/>
                      </a:pPr>
                      <a:r>
                        <a:rPr lang="en-IN" sz="900" dirty="0">
                          <a:solidFill>
                            <a:schemeClr val="tx1"/>
                          </a:solidFill>
                          <a:effectLst/>
                        </a:rPr>
                        <a:t>Zhang et al., 2020</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Deep learning in wireless networking</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Survey of DL models (LSTM, CNN)</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290950726"/>
                  </a:ext>
                </a:extLst>
              </a:tr>
              <a:tr h="148707">
                <a:tc>
                  <a:txBody>
                    <a:bodyPr/>
                    <a:lstStyle/>
                    <a:p>
                      <a:pPr>
                        <a:lnSpc>
                          <a:spcPct val="115000"/>
                        </a:lnSpc>
                        <a:buNone/>
                      </a:pPr>
                      <a:r>
                        <a:rPr lang="en-IN" sz="900">
                          <a:solidFill>
                            <a:schemeClr val="tx1"/>
                          </a:solidFill>
                          <a:effectLst/>
                        </a:rPr>
                        <a:t>Wu et al., 2020</a:t>
                      </a:r>
                      <a:endParaRPr lang="en-IN" sz="105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Multivariate forecasting</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Graph Neural Networks</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965594147"/>
                  </a:ext>
                </a:extLst>
              </a:tr>
              <a:tr h="311253">
                <a:tc>
                  <a:txBody>
                    <a:bodyPr/>
                    <a:lstStyle/>
                    <a:p>
                      <a:pPr>
                        <a:lnSpc>
                          <a:spcPct val="115000"/>
                        </a:lnSpc>
                        <a:buNone/>
                      </a:pPr>
                      <a:r>
                        <a:rPr lang="en-IN" sz="900" dirty="0">
                          <a:solidFill>
                            <a:schemeClr val="tx1"/>
                          </a:solidFill>
                          <a:effectLst/>
                        </a:rPr>
                        <a:t>Smyl, 2020</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Hybrid forecasting</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Exponential smoothing + RNN</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08549150"/>
                  </a:ext>
                </a:extLst>
              </a:tr>
              <a:tr h="311253">
                <a:tc>
                  <a:txBody>
                    <a:bodyPr/>
                    <a:lstStyle/>
                    <a:p>
                      <a:pPr>
                        <a:lnSpc>
                          <a:spcPct val="115000"/>
                        </a:lnSpc>
                        <a:buNone/>
                      </a:pPr>
                      <a:r>
                        <a:rPr lang="en-IN" sz="900" dirty="0">
                          <a:solidFill>
                            <a:schemeClr val="tx1"/>
                          </a:solidFill>
                          <a:effectLst/>
                        </a:rPr>
                        <a:t>Wang et al., 2021</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Hybrid time-series forecasting</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ARIMA + LSTM</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008801261"/>
                  </a:ext>
                </a:extLst>
              </a:tr>
              <a:tr h="311253">
                <a:tc>
                  <a:txBody>
                    <a:bodyPr/>
                    <a:lstStyle/>
                    <a:p>
                      <a:pPr>
                        <a:lnSpc>
                          <a:spcPct val="115000"/>
                        </a:lnSpc>
                        <a:buNone/>
                      </a:pPr>
                      <a:r>
                        <a:rPr lang="en-IN" sz="900" dirty="0">
                          <a:solidFill>
                            <a:schemeClr val="tx1"/>
                          </a:solidFill>
                          <a:effectLst/>
                        </a:rPr>
                        <a:t>Zhou et al., 2021</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Long-sequence forecasting</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Informer (Transformer variant)</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4177012070"/>
                  </a:ext>
                </a:extLst>
              </a:tr>
              <a:tr h="326263">
                <a:tc>
                  <a:txBody>
                    <a:bodyPr/>
                    <a:lstStyle/>
                    <a:p>
                      <a:pPr>
                        <a:lnSpc>
                          <a:spcPct val="115000"/>
                        </a:lnSpc>
                        <a:buNone/>
                      </a:pPr>
                      <a:r>
                        <a:rPr lang="en-IN" sz="900" dirty="0">
                          <a:solidFill>
                            <a:schemeClr val="tx1"/>
                          </a:solidFill>
                          <a:effectLst/>
                        </a:rPr>
                        <a:t>Das et al., 2024</a:t>
                      </a:r>
                      <a:endParaRPr lang="en-IN" sz="1050" dirty="0">
                        <a:solidFill>
                          <a:schemeClr val="tx1"/>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a:solidFill>
                            <a:schemeClr val="bg2"/>
                          </a:solidFill>
                          <a:effectLst/>
                        </a:rPr>
                        <a:t>Foundation time-series models</a:t>
                      </a:r>
                      <a:endParaRPr lang="en-IN" sz="1050">
                        <a:solidFill>
                          <a:schemeClr val="bg2"/>
                        </a:solidFill>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err="1">
                          <a:solidFill>
                            <a:schemeClr val="bg2"/>
                          </a:solidFill>
                          <a:effectLst/>
                        </a:rPr>
                        <a:t>TimesFM</a:t>
                      </a:r>
                      <a:r>
                        <a:rPr lang="en-IN" sz="900" dirty="0">
                          <a:solidFill>
                            <a:schemeClr val="bg2"/>
                          </a:solidFill>
                          <a:effectLst/>
                        </a:rPr>
                        <a:t> pretrained model</a:t>
                      </a:r>
                      <a:endParaRPr lang="en-IN" sz="105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23656986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7650" y="594322"/>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Research Questions</a:t>
            </a:r>
            <a:endParaRPr dirty="0"/>
          </a:p>
        </p:txBody>
      </p:sp>
      <p:graphicFrame>
        <p:nvGraphicFramePr>
          <p:cNvPr id="4" name="Table 3">
            <a:extLst>
              <a:ext uri="{FF2B5EF4-FFF2-40B4-BE49-F238E27FC236}">
                <a16:creationId xmlns:a16="http://schemas.microsoft.com/office/drawing/2014/main" id="{1C4EFE48-A416-9407-C23A-2D50FA3DEB81}"/>
              </a:ext>
            </a:extLst>
          </p:cNvPr>
          <p:cNvGraphicFramePr>
            <a:graphicFrameLocks noGrp="1"/>
          </p:cNvGraphicFramePr>
          <p:nvPr>
            <p:extLst>
              <p:ext uri="{D42A27DB-BD31-4B8C-83A1-F6EECF244321}">
                <p14:modId xmlns:p14="http://schemas.microsoft.com/office/powerpoint/2010/main" val="4112789826"/>
              </p:ext>
            </p:extLst>
          </p:nvPr>
        </p:nvGraphicFramePr>
        <p:xfrm>
          <a:off x="798221" y="1425474"/>
          <a:ext cx="7862895" cy="3273457"/>
        </p:xfrm>
        <a:graphic>
          <a:graphicData uri="http://schemas.openxmlformats.org/drawingml/2006/table">
            <a:tbl>
              <a:tblPr firstRow="1" bandRow="1">
                <a:tableStyleId>{B301B821-A1FF-4177-AEE7-76D212191A09}</a:tableStyleId>
              </a:tblPr>
              <a:tblGrid>
                <a:gridCol w="1572579">
                  <a:extLst>
                    <a:ext uri="{9D8B030D-6E8A-4147-A177-3AD203B41FA5}">
                      <a16:colId xmlns:a16="http://schemas.microsoft.com/office/drawing/2014/main" val="4044494683"/>
                    </a:ext>
                  </a:extLst>
                </a:gridCol>
                <a:gridCol w="1572579">
                  <a:extLst>
                    <a:ext uri="{9D8B030D-6E8A-4147-A177-3AD203B41FA5}">
                      <a16:colId xmlns:a16="http://schemas.microsoft.com/office/drawing/2014/main" val="2501336218"/>
                    </a:ext>
                  </a:extLst>
                </a:gridCol>
                <a:gridCol w="1572579">
                  <a:extLst>
                    <a:ext uri="{9D8B030D-6E8A-4147-A177-3AD203B41FA5}">
                      <a16:colId xmlns:a16="http://schemas.microsoft.com/office/drawing/2014/main" val="879489276"/>
                    </a:ext>
                  </a:extLst>
                </a:gridCol>
                <a:gridCol w="1572579">
                  <a:extLst>
                    <a:ext uri="{9D8B030D-6E8A-4147-A177-3AD203B41FA5}">
                      <a16:colId xmlns:a16="http://schemas.microsoft.com/office/drawing/2014/main" val="2329738728"/>
                    </a:ext>
                  </a:extLst>
                </a:gridCol>
                <a:gridCol w="1572579">
                  <a:extLst>
                    <a:ext uri="{9D8B030D-6E8A-4147-A177-3AD203B41FA5}">
                      <a16:colId xmlns:a16="http://schemas.microsoft.com/office/drawing/2014/main" val="696456703"/>
                    </a:ext>
                  </a:extLst>
                </a:gridCol>
              </a:tblGrid>
              <a:tr h="157266">
                <a:tc>
                  <a:txBody>
                    <a:bodyPr/>
                    <a:lstStyle/>
                    <a:p>
                      <a:pPr>
                        <a:buNone/>
                      </a:pPr>
                      <a:r>
                        <a:rPr lang="en-IN" sz="700" dirty="0">
                          <a:solidFill>
                            <a:schemeClr val="bg1"/>
                          </a:solidFill>
                        </a:rPr>
                        <a:t>Research Question</a:t>
                      </a:r>
                    </a:p>
                  </a:txBody>
                  <a:tcPr marL="29283" marR="29283" marT="14641" marB="14641" anchor="ctr"/>
                </a:tc>
                <a:tc>
                  <a:txBody>
                    <a:bodyPr/>
                    <a:lstStyle/>
                    <a:p>
                      <a:pPr>
                        <a:buNone/>
                      </a:pPr>
                      <a:r>
                        <a:rPr lang="en-IN" sz="700" dirty="0">
                          <a:solidFill>
                            <a:schemeClr val="bg1"/>
                          </a:solidFill>
                        </a:rPr>
                        <a:t>Null Hypothesis (H0)</a:t>
                      </a:r>
                    </a:p>
                  </a:txBody>
                  <a:tcPr marL="29283" marR="29283" marT="14641" marB="14641" anchor="ctr"/>
                </a:tc>
                <a:tc>
                  <a:txBody>
                    <a:bodyPr/>
                    <a:lstStyle/>
                    <a:p>
                      <a:pPr>
                        <a:buNone/>
                      </a:pPr>
                      <a:r>
                        <a:rPr lang="en-IN" sz="700" dirty="0">
                          <a:solidFill>
                            <a:schemeClr val="bg1"/>
                          </a:solidFill>
                        </a:rPr>
                        <a:t>Alternative Hypothesis (H1)</a:t>
                      </a:r>
                    </a:p>
                  </a:txBody>
                  <a:tcPr marL="29283" marR="29283" marT="14641" marB="14641" anchor="ctr"/>
                </a:tc>
                <a:tc>
                  <a:txBody>
                    <a:bodyPr/>
                    <a:lstStyle/>
                    <a:p>
                      <a:pPr>
                        <a:buNone/>
                      </a:pPr>
                      <a:r>
                        <a:rPr lang="en-IN" sz="700" dirty="0">
                          <a:solidFill>
                            <a:schemeClr val="bg1"/>
                          </a:solidFill>
                        </a:rPr>
                        <a:t>Statistical Method</a:t>
                      </a:r>
                    </a:p>
                  </a:txBody>
                  <a:tcPr marL="29283" marR="29283" marT="14641" marB="14641" anchor="ctr"/>
                </a:tc>
                <a:tc>
                  <a:txBody>
                    <a:bodyPr/>
                    <a:lstStyle/>
                    <a:p>
                      <a:pPr>
                        <a:buNone/>
                      </a:pPr>
                      <a:r>
                        <a:rPr lang="en-IN" sz="700" dirty="0">
                          <a:solidFill>
                            <a:schemeClr val="bg1"/>
                          </a:solidFill>
                        </a:rPr>
                        <a:t>Test Result / Finding</a:t>
                      </a:r>
                    </a:p>
                  </a:txBody>
                  <a:tcPr marL="29283" marR="29283" marT="14641" marB="14641" anchor="ctr"/>
                </a:tc>
                <a:extLst>
                  <a:ext uri="{0D108BD9-81ED-4DB2-BD59-A6C34878D82A}">
                    <a16:rowId xmlns:a16="http://schemas.microsoft.com/office/drawing/2014/main" val="3348146443"/>
                  </a:ext>
                </a:extLst>
              </a:tr>
              <a:tr h="545805">
                <a:tc>
                  <a:txBody>
                    <a:bodyPr/>
                    <a:lstStyle/>
                    <a:p>
                      <a:pPr>
                        <a:buNone/>
                      </a:pPr>
                      <a:r>
                        <a:rPr lang="en-IN" sz="700" b="1" dirty="0">
                          <a:solidFill>
                            <a:schemeClr val="tx1"/>
                          </a:solidFill>
                        </a:rPr>
                        <a:t>RQ1: Do telecom KPI time series exhibit stationarity or evolving trends and seasonality?</a:t>
                      </a:r>
                    </a:p>
                  </a:txBody>
                  <a:tcPr marL="29283" marR="29283" marT="14641" marB="14641" anchor="ctr"/>
                </a:tc>
                <a:tc>
                  <a:txBody>
                    <a:bodyPr/>
                    <a:lstStyle/>
                    <a:p>
                      <a:pPr>
                        <a:buNone/>
                      </a:pPr>
                      <a:r>
                        <a:rPr lang="en-IN" sz="700" dirty="0">
                          <a:solidFill>
                            <a:schemeClr val="bg2"/>
                          </a:solidFill>
                        </a:rPr>
                        <a:t>KPI time series is </a:t>
                      </a:r>
                      <a:r>
                        <a:rPr lang="en-IN" sz="700" b="1" dirty="0">
                          <a:solidFill>
                            <a:schemeClr val="bg2"/>
                          </a:solidFill>
                        </a:rPr>
                        <a:t>non-stationary</a:t>
                      </a:r>
                      <a:r>
                        <a:rPr lang="en-IN" sz="700" dirty="0">
                          <a:solidFill>
                            <a:schemeClr val="bg2"/>
                          </a:solidFill>
                        </a:rPr>
                        <a:t> and contains trends/seasonality.</a:t>
                      </a:r>
                    </a:p>
                  </a:txBody>
                  <a:tcPr marL="29283" marR="29283" marT="14641" marB="14641" anchor="ctr"/>
                </a:tc>
                <a:tc>
                  <a:txBody>
                    <a:bodyPr/>
                    <a:lstStyle/>
                    <a:p>
                      <a:pPr>
                        <a:buNone/>
                      </a:pPr>
                      <a:r>
                        <a:rPr lang="en-IN" sz="700" dirty="0">
                          <a:solidFill>
                            <a:schemeClr val="bg2"/>
                          </a:solidFill>
                        </a:rPr>
                        <a:t>KPI time series is </a:t>
                      </a:r>
                      <a:r>
                        <a:rPr lang="en-IN" sz="700" b="1" dirty="0">
                          <a:solidFill>
                            <a:schemeClr val="bg2"/>
                          </a:solidFill>
                        </a:rPr>
                        <a:t>stationary</a:t>
                      </a:r>
                      <a:r>
                        <a:rPr lang="en-IN" sz="700" dirty="0">
                          <a:solidFill>
                            <a:schemeClr val="bg2"/>
                          </a:solidFill>
                        </a:rPr>
                        <a:t> after transformation/differencing.</a:t>
                      </a:r>
                    </a:p>
                  </a:txBody>
                  <a:tcPr marL="29283" marR="29283" marT="14641" marB="14641" anchor="ctr"/>
                </a:tc>
                <a:tc>
                  <a:txBody>
                    <a:bodyPr/>
                    <a:lstStyle/>
                    <a:p>
                      <a:pPr>
                        <a:buNone/>
                      </a:pPr>
                      <a:r>
                        <a:rPr lang="en-IN" sz="700">
                          <a:solidFill>
                            <a:schemeClr val="bg2"/>
                          </a:solidFill>
                        </a:rPr>
                        <a:t>Augmented Dickey-Fuller (ADF) and KPSS stationarity tests</a:t>
                      </a:r>
                    </a:p>
                  </a:txBody>
                  <a:tcPr marL="29283" marR="29283" marT="14641" marB="14641" anchor="ctr"/>
                </a:tc>
                <a:tc>
                  <a:txBody>
                    <a:bodyPr/>
                    <a:lstStyle/>
                    <a:p>
                      <a:pPr>
                        <a:buNone/>
                      </a:pPr>
                      <a:r>
                        <a:rPr lang="en-IN" sz="700">
                          <a:solidFill>
                            <a:schemeClr val="bg2"/>
                          </a:solidFill>
                        </a:rPr>
                        <a:t>ADF rejected unit root and KPSS indicated stationarity after preprocessing, confirming stationarity of the KPI series.</a:t>
                      </a:r>
                    </a:p>
                  </a:txBody>
                  <a:tcPr marL="29283" marR="29283" marT="14641" marB="14641" anchor="ctr"/>
                </a:tc>
                <a:extLst>
                  <a:ext uri="{0D108BD9-81ED-4DB2-BD59-A6C34878D82A}">
                    <a16:rowId xmlns:a16="http://schemas.microsoft.com/office/drawing/2014/main" val="2763215242"/>
                  </a:ext>
                </a:extLst>
              </a:tr>
              <a:tr h="489956">
                <a:tc>
                  <a:txBody>
                    <a:bodyPr/>
                    <a:lstStyle/>
                    <a:p>
                      <a:pPr>
                        <a:buNone/>
                      </a:pPr>
                      <a:r>
                        <a:rPr lang="en-IN" sz="700" b="1" dirty="0">
                          <a:solidFill>
                            <a:schemeClr val="tx1"/>
                          </a:solidFill>
                        </a:rPr>
                        <a:t>RQ2: Does exploratory data analysis suggest the need for statistical or AI-based forecasting models?</a:t>
                      </a:r>
                    </a:p>
                  </a:txBody>
                  <a:tcPr marL="29283" marR="29283" marT="14641" marB="14641" anchor="ctr"/>
                </a:tc>
                <a:tc>
                  <a:txBody>
                    <a:bodyPr/>
                    <a:lstStyle/>
                    <a:p>
                      <a:pPr>
                        <a:buNone/>
                      </a:pPr>
                      <a:r>
                        <a:rPr lang="en-IN" sz="700" dirty="0">
                          <a:solidFill>
                            <a:schemeClr val="bg2"/>
                          </a:solidFill>
                        </a:rPr>
                        <a:t>KPI behaviour can be </a:t>
                      </a:r>
                      <a:r>
                        <a:rPr lang="en-IN" sz="700" dirty="0" err="1">
                          <a:solidFill>
                            <a:schemeClr val="bg2"/>
                          </a:solidFill>
                        </a:rPr>
                        <a:t>modeled</a:t>
                      </a:r>
                      <a:r>
                        <a:rPr lang="en-IN" sz="700" dirty="0">
                          <a:solidFill>
                            <a:schemeClr val="bg2"/>
                          </a:solidFill>
                        </a:rPr>
                        <a:t> adequately using simple statistical methods.</a:t>
                      </a:r>
                    </a:p>
                  </a:txBody>
                  <a:tcPr marL="29283" marR="29283" marT="14641" marB="14641" anchor="ctr"/>
                </a:tc>
                <a:tc>
                  <a:txBody>
                    <a:bodyPr/>
                    <a:lstStyle/>
                    <a:p>
                      <a:pPr>
                        <a:buNone/>
                      </a:pPr>
                      <a:r>
                        <a:rPr lang="en-IN" sz="700" dirty="0">
                          <a:solidFill>
                            <a:schemeClr val="bg2"/>
                          </a:solidFill>
                        </a:rPr>
                        <a:t>KPI behaviour shows nonlinear patterns requiring AI-based models.</a:t>
                      </a:r>
                    </a:p>
                  </a:txBody>
                  <a:tcPr marL="29283" marR="29283" marT="14641" marB="14641" anchor="ctr"/>
                </a:tc>
                <a:tc>
                  <a:txBody>
                    <a:bodyPr/>
                    <a:lstStyle/>
                    <a:p>
                      <a:pPr>
                        <a:buNone/>
                      </a:pPr>
                      <a:r>
                        <a:rPr lang="en-IN" sz="700">
                          <a:solidFill>
                            <a:schemeClr val="bg2"/>
                          </a:solidFill>
                        </a:rPr>
                        <a:t>EDA techniques (trend analysis, seasonal decomposition, distribution analysis)</a:t>
                      </a:r>
                    </a:p>
                  </a:txBody>
                  <a:tcPr marL="29283" marR="29283" marT="14641" marB="14641" anchor="ctr"/>
                </a:tc>
                <a:tc>
                  <a:txBody>
                    <a:bodyPr/>
                    <a:lstStyle/>
                    <a:p>
                      <a:pPr>
                        <a:buNone/>
                      </a:pPr>
                      <a:r>
                        <a:rPr lang="en-IN" sz="700">
                          <a:solidFill>
                            <a:schemeClr val="bg2"/>
                          </a:solidFill>
                        </a:rPr>
                        <a:t>EDA revealed strong seasonality and nonlinear fluctuations, indicating the need for both statistical and AI models.</a:t>
                      </a:r>
                    </a:p>
                  </a:txBody>
                  <a:tcPr marL="29283" marR="29283" marT="14641" marB="14641" anchor="ctr"/>
                </a:tc>
                <a:extLst>
                  <a:ext uri="{0D108BD9-81ED-4DB2-BD59-A6C34878D82A}">
                    <a16:rowId xmlns:a16="http://schemas.microsoft.com/office/drawing/2014/main" val="4073708430"/>
                  </a:ext>
                </a:extLst>
              </a:tr>
              <a:tr h="610562">
                <a:tc>
                  <a:txBody>
                    <a:bodyPr/>
                    <a:lstStyle/>
                    <a:p>
                      <a:pPr>
                        <a:buNone/>
                      </a:pPr>
                      <a:r>
                        <a:rPr lang="en-IN" sz="700" b="1" dirty="0">
                          <a:solidFill>
                            <a:schemeClr val="tx1"/>
                          </a:solidFill>
                        </a:rPr>
                        <a:t>RQ3: Can classical time-series models effectively predict telecom KPIs?</a:t>
                      </a:r>
                    </a:p>
                  </a:txBody>
                  <a:tcPr marL="29283" marR="29283" marT="14641" marB="14641" anchor="ctr"/>
                </a:tc>
                <a:tc>
                  <a:txBody>
                    <a:bodyPr/>
                    <a:lstStyle/>
                    <a:p>
                      <a:pPr>
                        <a:buNone/>
                      </a:pPr>
                      <a:r>
                        <a:rPr lang="en-IN" sz="700" dirty="0">
                          <a:solidFill>
                            <a:schemeClr val="bg2"/>
                          </a:solidFill>
                        </a:rPr>
                        <a:t>Classical statistical models cannot accurately forecast telecom KPIs.</a:t>
                      </a:r>
                    </a:p>
                  </a:txBody>
                  <a:tcPr marL="29283" marR="29283" marT="14641" marB="14641" anchor="ctr"/>
                </a:tc>
                <a:tc>
                  <a:txBody>
                    <a:bodyPr/>
                    <a:lstStyle/>
                    <a:p>
                      <a:pPr>
                        <a:buNone/>
                      </a:pPr>
                      <a:r>
                        <a:rPr lang="en-IN" sz="700" dirty="0">
                          <a:solidFill>
                            <a:schemeClr val="bg2"/>
                          </a:solidFill>
                        </a:rPr>
                        <a:t>Classical statistical models can provide reasonable KPI forecasts.</a:t>
                      </a:r>
                    </a:p>
                  </a:txBody>
                  <a:tcPr marL="29283" marR="29283" marT="14641" marB="14641" anchor="ctr"/>
                </a:tc>
                <a:tc>
                  <a:txBody>
                    <a:bodyPr/>
                    <a:lstStyle/>
                    <a:p>
                      <a:pPr>
                        <a:buNone/>
                      </a:pPr>
                      <a:r>
                        <a:rPr lang="en-IN" sz="700">
                          <a:solidFill>
                            <a:schemeClr val="bg2"/>
                          </a:solidFill>
                        </a:rPr>
                        <a:t>ARIMA / SARIMA modelling with AIC/BIC and forecast evaluation</a:t>
                      </a:r>
                    </a:p>
                  </a:txBody>
                  <a:tcPr marL="29283" marR="29283" marT="14641" marB="14641" anchor="ctr"/>
                </a:tc>
                <a:tc>
                  <a:txBody>
                    <a:bodyPr/>
                    <a:lstStyle/>
                    <a:p>
                      <a:pPr>
                        <a:buNone/>
                      </a:pPr>
                      <a:r>
                        <a:rPr lang="en-IN" sz="700">
                          <a:solidFill>
                            <a:schemeClr val="bg2"/>
                          </a:solidFill>
                        </a:rPr>
                        <a:t>ARIMA and SARIMA models successfully captured temporal and seasonal patterns but showed limitations during sudden KPI variations.</a:t>
                      </a:r>
                    </a:p>
                  </a:txBody>
                  <a:tcPr marL="29283" marR="29283" marT="14641" marB="14641" anchor="ctr"/>
                </a:tc>
                <a:extLst>
                  <a:ext uri="{0D108BD9-81ED-4DB2-BD59-A6C34878D82A}">
                    <a16:rowId xmlns:a16="http://schemas.microsoft.com/office/drawing/2014/main" val="1735113396"/>
                  </a:ext>
                </a:extLst>
              </a:tr>
              <a:tr h="489956">
                <a:tc>
                  <a:txBody>
                    <a:bodyPr/>
                    <a:lstStyle/>
                    <a:p>
                      <a:pPr>
                        <a:buNone/>
                      </a:pPr>
                      <a:r>
                        <a:rPr lang="en-IN" sz="700" b="1" dirty="0">
                          <a:solidFill>
                            <a:schemeClr val="tx1"/>
                          </a:solidFill>
                        </a:rPr>
                        <a:t>RQ4: Can AI models improve single or multi-step KPI forecasting accuracy compared to statistical models?</a:t>
                      </a:r>
                    </a:p>
                  </a:txBody>
                  <a:tcPr marL="29283" marR="29283" marT="14641" marB="14641" anchor="ctr"/>
                </a:tc>
                <a:tc>
                  <a:txBody>
                    <a:bodyPr/>
                    <a:lstStyle/>
                    <a:p>
                      <a:pPr>
                        <a:buNone/>
                      </a:pPr>
                      <a:r>
                        <a:rPr lang="en-IN" sz="700" dirty="0">
                          <a:solidFill>
                            <a:schemeClr val="bg2"/>
                          </a:solidFill>
                        </a:rPr>
                        <a:t>AI models do not significantly improve forecasting accuracy.</a:t>
                      </a:r>
                    </a:p>
                  </a:txBody>
                  <a:tcPr marL="29283" marR="29283" marT="14641" marB="14641" anchor="ctr"/>
                </a:tc>
                <a:tc>
                  <a:txBody>
                    <a:bodyPr/>
                    <a:lstStyle/>
                    <a:p>
                      <a:pPr>
                        <a:buNone/>
                      </a:pPr>
                      <a:r>
                        <a:rPr lang="en-IN" sz="700">
                          <a:solidFill>
                            <a:schemeClr val="bg2"/>
                          </a:solidFill>
                        </a:rPr>
                        <a:t>AI models significantly improve forecasting accuracy.</a:t>
                      </a:r>
                    </a:p>
                  </a:txBody>
                  <a:tcPr marL="29283" marR="29283" marT="14641" marB="14641" anchor="ctr"/>
                </a:tc>
                <a:tc>
                  <a:txBody>
                    <a:bodyPr/>
                    <a:lstStyle/>
                    <a:p>
                      <a:pPr>
                        <a:buNone/>
                      </a:pPr>
                      <a:r>
                        <a:rPr lang="en-IN" sz="700">
                          <a:solidFill>
                            <a:schemeClr val="bg2"/>
                          </a:solidFill>
                        </a:rPr>
                        <a:t>LSTM deep learning forecasting with MAE/RMSE evaluation</a:t>
                      </a:r>
                    </a:p>
                  </a:txBody>
                  <a:tcPr marL="29283" marR="29283" marT="14641" marB="14641" anchor="ctr"/>
                </a:tc>
                <a:tc>
                  <a:txBody>
                    <a:bodyPr/>
                    <a:lstStyle/>
                    <a:p>
                      <a:pPr>
                        <a:buNone/>
                      </a:pPr>
                      <a:r>
                        <a:rPr lang="en-IN" sz="700" dirty="0">
                          <a:solidFill>
                            <a:schemeClr val="bg2"/>
                          </a:solidFill>
                        </a:rPr>
                        <a:t>LSTM models reduced prediction error and captured nonlinear temporal dependencies effectively</a:t>
                      </a:r>
                    </a:p>
                  </a:txBody>
                  <a:tcPr marL="29283" marR="29283" marT="14641" marB="14641" anchor="ctr"/>
                </a:tc>
                <a:extLst>
                  <a:ext uri="{0D108BD9-81ED-4DB2-BD59-A6C34878D82A}">
                    <a16:rowId xmlns:a16="http://schemas.microsoft.com/office/drawing/2014/main" val="2182690135"/>
                  </a:ext>
                </a:extLst>
              </a:tr>
              <a:tr h="489956">
                <a:tc>
                  <a:txBody>
                    <a:bodyPr/>
                    <a:lstStyle/>
                    <a:p>
                      <a:pPr>
                        <a:buNone/>
                      </a:pPr>
                      <a:r>
                        <a:rPr lang="en-IN" sz="700" b="1" dirty="0">
                          <a:solidFill>
                            <a:schemeClr val="tx1"/>
                          </a:solidFill>
                        </a:rPr>
                        <a:t>RQ5: Can AI models automatically detect seasonality and temporal dependencies in telecom KPIs?</a:t>
                      </a:r>
                    </a:p>
                  </a:txBody>
                  <a:tcPr marL="29283" marR="29283" marT="14641" marB="14641" anchor="ctr"/>
                </a:tc>
                <a:tc>
                  <a:txBody>
                    <a:bodyPr/>
                    <a:lstStyle/>
                    <a:p>
                      <a:pPr>
                        <a:buNone/>
                      </a:pPr>
                      <a:r>
                        <a:rPr lang="en-IN" sz="700">
                          <a:solidFill>
                            <a:schemeClr val="bg2"/>
                          </a:solidFill>
                        </a:rPr>
                        <a:t>AI models cannot automatically learn seasonal patterns.</a:t>
                      </a:r>
                    </a:p>
                  </a:txBody>
                  <a:tcPr marL="29283" marR="29283" marT="14641" marB="14641" anchor="ctr"/>
                </a:tc>
                <a:tc>
                  <a:txBody>
                    <a:bodyPr/>
                    <a:lstStyle/>
                    <a:p>
                      <a:pPr>
                        <a:buNone/>
                      </a:pPr>
                      <a:r>
                        <a:rPr lang="en-IN" sz="700">
                          <a:solidFill>
                            <a:schemeClr val="bg2"/>
                          </a:solidFill>
                        </a:rPr>
                        <a:t>AI models can learn complex temporal dependencies automatically.</a:t>
                      </a:r>
                    </a:p>
                  </a:txBody>
                  <a:tcPr marL="29283" marR="29283" marT="14641" marB="14641" anchor="ctr"/>
                </a:tc>
                <a:tc>
                  <a:txBody>
                    <a:bodyPr/>
                    <a:lstStyle/>
                    <a:p>
                      <a:pPr>
                        <a:buNone/>
                      </a:pPr>
                      <a:r>
                        <a:rPr lang="en-IN" sz="700">
                          <a:solidFill>
                            <a:schemeClr val="bg2"/>
                          </a:solidFill>
                        </a:rPr>
                        <a:t>LSTM sequence modelling</a:t>
                      </a:r>
                    </a:p>
                  </a:txBody>
                  <a:tcPr marL="29283" marR="29283" marT="14641" marB="14641" anchor="ctr"/>
                </a:tc>
                <a:tc>
                  <a:txBody>
                    <a:bodyPr/>
                    <a:lstStyle/>
                    <a:p>
                      <a:pPr>
                        <a:buNone/>
                      </a:pPr>
                      <a:r>
                        <a:rPr lang="en-IN" sz="700" dirty="0">
                          <a:solidFill>
                            <a:schemeClr val="bg2"/>
                          </a:solidFill>
                        </a:rPr>
                        <a:t>LSTM successfully learned temporal and seasonal dependencies.</a:t>
                      </a:r>
                    </a:p>
                  </a:txBody>
                  <a:tcPr marL="29283" marR="29283" marT="14641" marB="14641" anchor="ctr"/>
                </a:tc>
                <a:extLst>
                  <a:ext uri="{0D108BD9-81ED-4DB2-BD59-A6C34878D82A}">
                    <a16:rowId xmlns:a16="http://schemas.microsoft.com/office/drawing/2014/main" val="552470089"/>
                  </a:ext>
                </a:extLst>
              </a:tr>
              <a:tr h="489956">
                <a:tc>
                  <a:txBody>
                    <a:bodyPr/>
                    <a:lstStyle/>
                    <a:p>
                      <a:pPr>
                        <a:buNone/>
                      </a:pPr>
                      <a:r>
                        <a:rPr lang="en-IN" sz="700" b="1" dirty="0">
                          <a:solidFill>
                            <a:schemeClr val="tx1"/>
                          </a:solidFill>
                        </a:rPr>
                        <a:t>RQ6: Does a hybrid statistical–AI model outperform individual models? ( Optional )</a:t>
                      </a:r>
                    </a:p>
                  </a:txBody>
                  <a:tcPr marL="29283" marR="29283" marT="14641" marB="14641" anchor="ctr"/>
                </a:tc>
                <a:tc>
                  <a:txBody>
                    <a:bodyPr/>
                    <a:lstStyle/>
                    <a:p>
                      <a:pPr>
                        <a:buNone/>
                      </a:pPr>
                      <a:r>
                        <a:rPr lang="en-IN" sz="700">
                          <a:solidFill>
                            <a:schemeClr val="bg2"/>
                          </a:solidFill>
                        </a:rPr>
                        <a:t>Hybrid models do not outperform standalone models.</a:t>
                      </a:r>
                    </a:p>
                  </a:txBody>
                  <a:tcPr marL="29283" marR="29283" marT="14641" marB="14641" anchor="ctr"/>
                </a:tc>
                <a:tc>
                  <a:txBody>
                    <a:bodyPr/>
                    <a:lstStyle/>
                    <a:p>
                      <a:pPr>
                        <a:buNone/>
                      </a:pPr>
                      <a:r>
                        <a:rPr lang="en-IN" sz="700">
                          <a:solidFill>
                            <a:schemeClr val="bg2"/>
                          </a:solidFill>
                        </a:rPr>
                        <a:t>Hybrid models outperform standalone statistical or AI models.</a:t>
                      </a:r>
                    </a:p>
                  </a:txBody>
                  <a:tcPr marL="29283" marR="29283" marT="14641" marB="14641" anchor="ctr"/>
                </a:tc>
                <a:tc>
                  <a:txBody>
                    <a:bodyPr/>
                    <a:lstStyle/>
                    <a:p>
                      <a:pPr>
                        <a:buNone/>
                      </a:pPr>
                      <a:r>
                        <a:rPr lang="en-IN" sz="700">
                          <a:solidFill>
                            <a:schemeClr val="bg2"/>
                          </a:solidFill>
                        </a:rPr>
                        <a:t>SARIMA–LSTM Hybrid forecasting</a:t>
                      </a:r>
                    </a:p>
                  </a:txBody>
                  <a:tcPr marL="29283" marR="29283" marT="14641" marB="14641" anchor="ctr"/>
                </a:tc>
                <a:tc>
                  <a:txBody>
                    <a:bodyPr/>
                    <a:lstStyle/>
                    <a:p>
                      <a:pPr>
                        <a:buNone/>
                      </a:pPr>
                      <a:r>
                        <a:rPr lang="en-IN" sz="700" dirty="0">
                          <a:solidFill>
                            <a:schemeClr val="bg2"/>
                          </a:solidFill>
                        </a:rPr>
                        <a:t>Hybrid model failed to achieve the </a:t>
                      </a:r>
                      <a:r>
                        <a:rPr lang="en-IN" sz="700" b="0" dirty="0">
                          <a:solidFill>
                            <a:schemeClr val="bg2"/>
                          </a:solidFill>
                        </a:rPr>
                        <a:t>lowest MAE and RMSE for certain limitations.</a:t>
                      </a:r>
                    </a:p>
                  </a:txBody>
                  <a:tcPr marL="29283" marR="29283" marT="14641" marB="14641" anchor="ctr"/>
                </a:tc>
                <a:extLst>
                  <a:ext uri="{0D108BD9-81ED-4DB2-BD59-A6C34878D82A}">
                    <a16:rowId xmlns:a16="http://schemas.microsoft.com/office/drawing/2014/main" val="2606435906"/>
                  </a:ext>
                </a:extLst>
              </a:tr>
            </a:tbl>
          </a:graphicData>
        </a:graphic>
      </p:graphicFrame>
      <p:pic>
        <p:nvPicPr>
          <p:cNvPr id="6" name="Graphic 5" descr="Checkmark with solid fill">
            <a:extLst>
              <a:ext uri="{FF2B5EF4-FFF2-40B4-BE49-F238E27FC236}">
                <a16:creationId xmlns:a16="http://schemas.microsoft.com/office/drawing/2014/main" id="{FF511779-42D5-EFC4-D819-70D39B1FE4A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2288" y="1605979"/>
            <a:ext cx="164387" cy="164387"/>
          </a:xfrm>
          <a:prstGeom prst="rect">
            <a:avLst/>
          </a:prstGeom>
        </p:spPr>
      </p:pic>
      <p:pic>
        <p:nvPicPr>
          <p:cNvPr id="7" name="Graphic 6" descr="Checkmark with solid fill">
            <a:extLst>
              <a:ext uri="{FF2B5EF4-FFF2-40B4-BE49-F238E27FC236}">
                <a16:creationId xmlns:a16="http://schemas.microsoft.com/office/drawing/2014/main" id="{AECEEED1-5FA2-E783-5AE7-04C3FF9978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2288" y="2148797"/>
            <a:ext cx="164387" cy="164387"/>
          </a:xfrm>
          <a:prstGeom prst="rect">
            <a:avLst/>
          </a:prstGeom>
        </p:spPr>
      </p:pic>
      <p:pic>
        <p:nvPicPr>
          <p:cNvPr id="8" name="Graphic 7" descr="Checkmark with solid fill">
            <a:extLst>
              <a:ext uri="{FF2B5EF4-FFF2-40B4-BE49-F238E27FC236}">
                <a16:creationId xmlns:a16="http://schemas.microsoft.com/office/drawing/2014/main" id="{B1F48783-7B4A-E314-8FDA-6A9706182B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2287" y="2665930"/>
            <a:ext cx="164387" cy="164387"/>
          </a:xfrm>
          <a:prstGeom prst="rect">
            <a:avLst/>
          </a:prstGeom>
        </p:spPr>
      </p:pic>
      <p:pic>
        <p:nvPicPr>
          <p:cNvPr id="9" name="Graphic 8" descr="Checkmark with solid fill">
            <a:extLst>
              <a:ext uri="{FF2B5EF4-FFF2-40B4-BE49-F238E27FC236}">
                <a16:creationId xmlns:a16="http://schemas.microsoft.com/office/drawing/2014/main" id="{A05815A2-A8AE-0B38-16FE-DAD56BADD9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2286" y="3259477"/>
            <a:ext cx="164387" cy="164387"/>
          </a:xfrm>
          <a:prstGeom prst="rect">
            <a:avLst/>
          </a:prstGeom>
        </p:spPr>
      </p:pic>
      <p:pic>
        <p:nvPicPr>
          <p:cNvPr id="10" name="Graphic 9" descr="Checkmark with solid fill">
            <a:extLst>
              <a:ext uri="{FF2B5EF4-FFF2-40B4-BE49-F238E27FC236}">
                <a16:creationId xmlns:a16="http://schemas.microsoft.com/office/drawing/2014/main" id="{A8A0390E-F555-3899-63E3-A265B7CCB2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32286" y="3720101"/>
            <a:ext cx="164387" cy="164387"/>
          </a:xfrm>
          <a:prstGeom prst="rect">
            <a:avLst/>
          </a:prstGeom>
        </p:spPr>
      </p:pic>
      <p:pic>
        <p:nvPicPr>
          <p:cNvPr id="11" name="Graphic 10" descr="Checkmark with solid fill">
            <a:extLst>
              <a:ext uri="{FF2B5EF4-FFF2-40B4-BE49-F238E27FC236}">
                <a16:creationId xmlns:a16="http://schemas.microsoft.com/office/drawing/2014/main" id="{098FBE4B-C1C0-76AE-35AB-9D89590A9B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743219" y="4239588"/>
            <a:ext cx="164387" cy="16438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678054"/>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Data Description and EDA</a:t>
            </a:r>
            <a:endParaRPr dirty="0"/>
          </a:p>
        </p:txBody>
      </p:sp>
      <p:sp>
        <p:nvSpPr>
          <p:cNvPr id="111" name="Google Shape;111;p17"/>
          <p:cNvSpPr txBox="1">
            <a:spLocks noGrp="1"/>
          </p:cNvSpPr>
          <p:nvPr>
            <p:ph type="body" idx="1"/>
          </p:nvPr>
        </p:nvSpPr>
        <p:spPr>
          <a:xfrm>
            <a:off x="774270" y="1399751"/>
            <a:ext cx="3842550" cy="3264715"/>
          </a:xfrm>
          <a:prstGeom prst="rect">
            <a:avLst/>
          </a:prstGeom>
          <a:noFill/>
          <a:ln>
            <a:noFill/>
          </a:ln>
        </p:spPr>
        <p:txBody>
          <a:bodyPr spcFirstLastPara="1" wrap="square" lIns="91425" tIns="91425" rIns="91425" bIns="91425" anchor="t" anchorCtr="0">
            <a:normAutofit fontScale="47500" lnSpcReduction="20000"/>
          </a:bodyPr>
          <a:lstStyle/>
          <a:p>
            <a:pPr marL="0" indent="0">
              <a:spcAft>
                <a:spcPts val="1200"/>
              </a:spcAft>
              <a:buNone/>
            </a:pPr>
            <a:r>
              <a:rPr lang="en-IN" sz="1800" dirty="0">
                <a:sym typeface="Arial"/>
              </a:rPr>
              <a:t>The dataset consists of univariate KPI time series collected at fixed intervals (60 minutes) for 30 days.</a:t>
            </a:r>
          </a:p>
          <a:p>
            <a:pPr marL="0" indent="0">
              <a:spcAft>
                <a:spcPts val="1200"/>
              </a:spcAft>
              <a:buNone/>
            </a:pPr>
            <a:endParaRPr lang="en-IN" dirty="0">
              <a:sym typeface="Arial"/>
            </a:endParaRPr>
          </a:p>
          <a:p>
            <a:pPr marL="0" indent="0">
              <a:spcAft>
                <a:spcPts val="1200"/>
              </a:spcAft>
              <a:buNone/>
            </a:pPr>
            <a:endParaRPr lang="en-IN" dirty="0">
              <a:sym typeface="Arial"/>
            </a:endParaRPr>
          </a:p>
          <a:p>
            <a:pPr marL="0" indent="0">
              <a:spcAft>
                <a:spcPts val="1200"/>
              </a:spcAft>
              <a:buNone/>
            </a:pPr>
            <a:endParaRPr lang="en-IN" dirty="0">
              <a:sym typeface="Arial"/>
            </a:endParaRPr>
          </a:p>
          <a:p>
            <a:pPr marL="0" indent="0">
              <a:spcAft>
                <a:spcPts val="1200"/>
              </a:spcAft>
              <a:buNone/>
            </a:pPr>
            <a:endParaRPr lang="en-IN" dirty="0">
              <a:sym typeface="Arial"/>
            </a:endParaRPr>
          </a:p>
          <a:p>
            <a:pPr marL="0" indent="0">
              <a:spcAft>
                <a:spcPts val="1200"/>
              </a:spcAft>
              <a:buNone/>
            </a:pPr>
            <a:endParaRPr lang="en-IN" dirty="0">
              <a:sym typeface="Arial"/>
            </a:endParaRPr>
          </a:p>
          <a:p>
            <a:pPr marL="0" indent="0">
              <a:spcAft>
                <a:spcPts val="1200"/>
              </a:spcAft>
              <a:buNone/>
            </a:pPr>
            <a:endParaRPr lang="en-IN" sz="1800" b="1" dirty="0"/>
          </a:p>
          <a:p>
            <a:pPr marL="0" indent="0">
              <a:spcAft>
                <a:spcPts val="1200"/>
              </a:spcAft>
              <a:buNone/>
            </a:pPr>
            <a:r>
              <a:rPr lang="en-IN" sz="1800" b="1" dirty="0"/>
              <a:t>Data Preprocessing -</a:t>
            </a:r>
          </a:p>
          <a:p>
            <a:pPr marL="285750" indent="-285750">
              <a:spcAft>
                <a:spcPts val="1200"/>
              </a:spcAft>
            </a:pPr>
            <a:r>
              <a:rPr lang="en-IN" sz="1800" dirty="0"/>
              <a:t>Data Clean up</a:t>
            </a:r>
          </a:p>
          <a:p>
            <a:pPr marL="285750" indent="-285750">
              <a:spcAft>
                <a:spcPts val="1200"/>
              </a:spcAft>
            </a:pPr>
            <a:r>
              <a:rPr lang="en-IN" sz="1800" dirty="0"/>
              <a:t>Remove Duplicates</a:t>
            </a:r>
          </a:p>
          <a:p>
            <a:pPr marL="285750" indent="-285750">
              <a:spcAft>
                <a:spcPts val="1200"/>
              </a:spcAft>
            </a:pPr>
            <a:r>
              <a:rPr lang="en-IN" sz="1800" dirty="0"/>
              <a:t>Handle Missing timestamps with Imputation ( FF, BF)</a:t>
            </a:r>
          </a:p>
          <a:p>
            <a:pPr marL="0" indent="0">
              <a:spcAft>
                <a:spcPts val="1200"/>
              </a:spcAft>
              <a:buNone/>
            </a:pPr>
            <a:endParaRPr lang="en-IN" dirty="0">
              <a:sym typeface="Arial"/>
            </a:endParaRPr>
          </a:p>
          <a:p>
            <a:pPr marL="285750" indent="-285750">
              <a:spcAft>
                <a:spcPts val="1200"/>
              </a:spcAft>
            </a:pPr>
            <a:endParaRPr lang="en-IN" dirty="0">
              <a:sym typeface="Arial"/>
            </a:endParaRPr>
          </a:p>
          <a:p>
            <a:pPr marL="285750" indent="-285750">
              <a:spcAft>
                <a:spcPts val="1200"/>
              </a:spcAft>
            </a:pPr>
            <a:endParaRPr dirty="0">
              <a:sym typeface="Arial"/>
            </a:endParaRPr>
          </a:p>
        </p:txBody>
      </p:sp>
      <p:graphicFrame>
        <p:nvGraphicFramePr>
          <p:cNvPr id="2" name="Table 1">
            <a:extLst>
              <a:ext uri="{FF2B5EF4-FFF2-40B4-BE49-F238E27FC236}">
                <a16:creationId xmlns:a16="http://schemas.microsoft.com/office/drawing/2014/main" id="{A2AA65EA-F207-1B4B-94D7-54EB3B591957}"/>
              </a:ext>
            </a:extLst>
          </p:cNvPr>
          <p:cNvGraphicFramePr>
            <a:graphicFrameLocks noGrp="1"/>
          </p:cNvGraphicFramePr>
          <p:nvPr>
            <p:extLst>
              <p:ext uri="{D42A27DB-BD31-4B8C-83A1-F6EECF244321}">
                <p14:modId xmlns:p14="http://schemas.microsoft.com/office/powerpoint/2010/main" val="1783934498"/>
              </p:ext>
            </p:extLst>
          </p:nvPr>
        </p:nvGraphicFramePr>
        <p:xfrm>
          <a:off x="837940" y="1891037"/>
          <a:ext cx="3646730" cy="1124268"/>
        </p:xfrm>
        <a:graphic>
          <a:graphicData uri="http://schemas.openxmlformats.org/drawingml/2006/table">
            <a:tbl>
              <a:tblPr firstRow="1" firstCol="1" bandRow="1">
                <a:tableStyleId>{B301B821-A1FF-4177-AEE7-76D212191A09}</a:tableStyleId>
              </a:tblPr>
              <a:tblGrid>
                <a:gridCol w="1233927">
                  <a:extLst>
                    <a:ext uri="{9D8B030D-6E8A-4147-A177-3AD203B41FA5}">
                      <a16:colId xmlns:a16="http://schemas.microsoft.com/office/drawing/2014/main" val="2303751051"/>
                    </a:ext>
                  </a:extLst>
                </a:gridCol>
                <a:gridCol w="2412803">
                  <a:extLst>
                    <a:ext uri="{9D8B030D-6E8A-4147-A177-3AD203B41FA5}">
                      <a16:colId xmlns:a16="http://schemas.microsoft.com/office/drawing/2014/main" val="1520992742"/>
                    </a:ext>
                  </a:extLst>
                </a:gridCol>
              </a:tblGrid>
              <a:tr h="210570">
                <a:tc>
                  <a:txBody>
                    <a:bodyPr/>
                    <a:lstStyle/>
                    <a:p>
                      <a:pPr>
                        <a:lnSpc>
                          <a:spcPct val="200000"/>
                        </a:lnSpc>
                        <a:buNone/>
                      </a:pPr>
                      <a:r>
                        <a:rPr lang="en-IN" sz="900">
                          <a:effectLst/>
                        </a:rPr>
                        <a:t>Attribute Name</a:t>
                      </a:r>
                      <a:endParaRPr lang="en-IN" sz="900">
                        <a:effectLst/>
                        <a:latin typeface="Arial" panose="020B0604020202020204" pitchFamily="34" charset="0"/>
                        <a:ea typeface="Arial" panose="020B0604020202020204" pitchFamily="34" charset="0"/>
                      </a:endParaRPr>
                    </a:p>
                  </a:txBody>
                  <a:tcPr marL="68580" marR="68580" marT="0" marB="0"/>
                </a:tc>
                <a:tc>
                  <a:txBody>
                    <a:bodyPr/>
                    <a:lstStyle/>
                    <a:p>
                      <a:pPr>
                        <a:lnSpc>
                          <a:spcPct val="200000"/>
                        </a:lnSpc>
                        <a:buNone/>
                      </a:pPr>
                      <a:r>
                        <a:rPr lang="en-IN" sz="900" dirty="0">
                          <a:effectLst/>
                        </a:rPr>
                        <a:t>Description</a:t>
                      </a:r>
                      <a:endParaRPr lang="en-IN" sz="9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522783047"/>
                  </a:ext>
                </a:extLst>
              </a:tr>
              <a:tr h="131108">
                <a:tc>
                  <a:txBody>
                    <a:bodyPr/>
                    <a:lstStyle/>
                    <a:p>
                      <a:pPr>
                        <a:lnSpc>
                          <a:spcPct val="115000"/>
                        </a:lnSpc>
                        <a:buNone/>
                      </a:pPr>
                      <a:r>
                        <a:rPr lang="en-IN" sz="900">
                          <a:effectLst/>
                        </a:rPr>
                        <a:t>timestamp</a:t>
                      </a:r>
                      <a:endParaRPr lang="en-IN" sz="90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Time at which KPI is measured</a:t>
                      </a:r>
                      <a:endParaRPr lang="en-IN" sz="90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4053433344"/>
                  </a:ext>
                </a:extLst>
              </a:tr>
              <a:tr h="274450">
                <a:tc>
                  <a:txBody>
                    <a:bodyPr/>
                    <a:lstStyle/>
                    <a:p>
                      <a:pPr>
                        <a:lnSpc>
                          <a:spcPct val="115000"/>
                        </a:lnSpc>
                        <a:buNone/>
                      </a:pPr>
                      <a:r>
                        <a:rPr lang="en-IN" sz="900">
                          <a:effectLst/>
                        </a:rPr>
                        <a:t>entity_id</a:t>
                      </a:r>
                      <a:endParaRPr lang="en-IN" sz="90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Abstracted identifier for network element or service</a:t>
                      </a:r>
                      <a:endParaRPr lang="en-IN" sz="90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346535493"/>
                  </a:ext>
                </a:extLst>
              </a:tr>
              <a:tr h="131108">
                <a:tc>
                  <a:txBody>
                    <a:bodyPr/>
                    <a:lstStyle/>
                    <a:p>
                      <a:pPr>
                        <a:lnSpc>
                          <a:spcPct val="115000"/>
                        </a:lnSpc>
                        <a:buNone/>
                      </a:pPr>
                      <a:r>
                        <a:rPr lang="en-IN" sz="900">
                          <a:effectLst/>
                        </a:rPr>
                        <a:t>kpi_id</a:t>
                      </a:r>
                      <a:endParaRPr lang="en-IN" sz="90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Unique identifier for the KPI</a:t>
                      </a:r>
                      <a:endParaRPr lang="en-IN" sz="90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595403284"/>
                  </a:ext>
                </a:extLst>
              </a:tr>
              <a:tr h="274450">
                <a:tc>
                  <a:txBody>
                    <a:bodyPr/>
                    <a:lstStyle/>
                    <a:p>
                      <a:pPr>
                        <a:lnSpc>
                          <a:spcPct val="115000"/>
                        </a:lnSpc>
                        <a:buNone/>
                      </a:pPr>
                      <a:r>
                        <a:rPr lang="en-IN" sz="900">
                          <a:effectLst/>
                        </a:rPr>
                        <a:t>kpi_value</a:t>
                      </a:r>
                    </a:p>
                    <a:p>
                      <a:pPr>
                        <a:lnSpc>
                          <a:spcPct val="115000"/>
                        </a:lnSpc>
                        <a:buNone/>
                      </a:pPr>
                      <a:r>
                        <a:rPr lang="en-IN" sz="900">
                          <a:effectLst/>
                        </a:rPr>
                        <a:t> </a:t>
                      </a:r>
                      <a:endParaRPr lang="en-IN" sz="900">
                        <a:effectLst/>
                        <a:latin typeface="Arial" panose="020B0604020202020204" pitchFamily="34" charset="0"/>
                        <a:ea typeface="Arial" panose="020B0604020202020204" pitchFamily="34" charset="0"/>
                      </a:endParaRPr>
                    </a:p>
                  </a:txBody>
                  <a:tcPr marL="68580" marR="68580" marT="0" marB="0"/>
                </a:tc>
                <a:tc>
                  <a:txBody>
                    <a:bodyPr/>
                    <a:lstStyle/>
                    <a:p>
                      <a:pPr>
                        <a:lnSpc>
                          <a:spcPct val="115000"/>
                        </a:lnSpc>
                        <a:buNone/>
                      </a:pPr>
                      <a:r>
                        <a:rPr lang="en-IN" sz="900" dirty="0">
                          <a:solidFill>
                            <a:schemeClr val="bg2"/>
                          </a:solidFill>
                          <a:effectLst/>
                        </a:rPr>
                        <a:t>Value of the KPI for the interval</a:t>
                      </a:r>
                      <a:endParaRPr lang="en-IN" sz="900" dirty="0">
                        <a:solidFill>
                          <a:schemeClr val="bg2"/>
                        </a:solidFill>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59714166"/>
                  </a:ext>
                </a:extLst>
              </a:tr>
            </a:tbl>
          </a:graphicData>
        </a:graphic>
      </p:graphicFrame>
      <p:sp>
        <p:nvSpPr>
          <p:cNvPr id="3" name="Google Shape;111;p17">
            <a:extLst>
              <a:ext uri="{FF2B5EF4-FFF2-40B4-BE49-F238E27FC236}">
                <a16:creationId xmlns:a16="http://schemas.microsoft.com/office/drawing/2014/main" id="{A4238EB1-0593-D5EA-2018-AE63607AE5FB}"/>
              </a:ext>
            </a:extLst>
          </p:cNvPr>
          <p:cNvSpPr txBox="1">
            <a:spLocks/>
          </p:cNvSpPr>
          <p:nvPr/>
        </p:nvSpPr>
        <p:spPr>
          <a:xfrm>
            <a:off x="4634462" y="1356621"/>
            <a:ext cx="3671598" cy="2444818"/>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spcAft>
                <a:spcPts val="1200"/>
              </a:spcAft>
              <a:buNone/>
            </a:pPr>
            <a:r>
              <a:rPr lang="en-IN" sz="1000" b="1" dirty="0"/>
              <a:t>Exploratory Data Analysis -</a:t>
            </a:r>
          </a:p>
          <a:p>
            <a:pPr marL="285750" indent="-285750">
              <a:spcAft>
                <a:spcPts val="1200"/>
              </a:spcAft>
            </a:pPr>
            <a:r>
              <a:rPr lang="en-IN" sz="1100" dirty="0"/>
              <a:t>Distribution - Box Plot , Histogram</a:t>
            </a:r>
          </a:p>
          <a:p>
            <a:pPr marL="285750" indent="-285750">
              <a:spcAft>
                <a:spcPts val="1200"/>
              </a:spcAft>
            </a:pPr>
            <a:r>
              <a:rPr lang="en-IN" sz="1100" dirty="0"/>
              <a:t>Time plot – Trend analysis</a:t>
            </a:r>
          </a:p>
          <a:p>
            <a:pPr marL="285750" indent="-285750">
              <a:spcAft>
                <a:spcPts val="1200"/>
              </a:spcAft>
            </a:pPr>
            <a:r>
              <a:rPr lang="en-IN" sz="1100" dirty="0"/>
              <a:t>Aggregated temporal plots – Hour of the Day</a:t>
            </a:r>
          </a:p>
          <a:p>
            <a:pPr marL="285750" indent="-285750">
              <a:spcAft>
                <a:spcPts val="1200"/>
              </a:spcAft>
            </a:pPr>
            <a:r>
              <a:rPr lang="en-IN" sz="1100" dirty="0"/>
              <a:t>Seasonal Decomposition – Trend, Seasonality, Residues</a:t>
            </a:r>
          </a:p>
          <a:p>
            <a:pPr marL="285750" indent="-285750">
              <a:spcAft>
                <a:spcPts val="1200"/>
              </a:spcAft>
            </a:pPr>
            <a:r>
              <a:rPr lang="en-IN" sz="1100" dirty="0"/>
              <a:t>ACF/PACF – Autocorrelation </a:t>
            </a:r>
          </a:p>
          <a:p>
            <a:pPr marL="285750" indent="-285750">
              <a:spcAft>
                <a:spcPts val="1200"/>
              </a:spcAft>
            </a:pPr>
            <a:r>
              <a:rPr lang="en-IN" sz="1100" dirty="0"/>
              <a:t>Stationarity Testing – ADF/KPSS</a:t>
            </a:r>
          </a:p>
          <a:p>
            <a:pPr marL="0" indent="0">
              <a:spcAft>
                <a:spcPts val="1200"/>
              </a:spcAft>
              <a:buFont typeface="Lato"/>
              <a:buNone/>
            </a:pPr>
            <a:endParaRPr lang="en-IN" sz="1000" dirty="0"/>
          </a:p>
        </p:txBody>
      </p:sp>
      <p:sp>
        <p:nvSpPr>
          <p:cNvPr id="4" name="Google Shape;111;p17">
            <a:extLst>
              <a:ext uri="{FF2B5EF4-FFF2-40B4-BE49-F238E27FC236}">
                <a16:creationId xmlns:a16="http://schemas.microsoft.com/office/drawing/2014/main" id="{6BEC0E85-A84D-8D9F-E719-58088B0564B4}"/>
              </a:ext>
            </a:extLst>
          </p:cNvPr>
          <p:cNvSpPr txBox="1">
            <a:spLocks/>
          </p:cNvSpPr>
          <p:nvPr/>
        </p:nvSpPr>
        <p:spPr>
          <a:xfrm>
            <a:off x="4690183" y="3699591"/>
            <a:ext cx="3838797" cy="102266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spcAft>
                <a:spcPts val="1200"/>
              </a:spcAft>
              <a:buFont typeface="Lato"/>
              <a:buNone/>
            </a:pPr>
            <a:r>
              <a:rPr lang="en-IN" sz="900" b="1" dirty="0"/>
              <a:t>Observation</a:t>
            </a:r>
            <a:r>
              <a:rPr lang="en-IN" sz="900" dirty="0"/>
              <a:t> – </a:t>
            </a:r>
          </a:p>
          <a:p>
            <a:pPr marL="171450" indent="-171450">
              <a:spcAft>
                <a:spcPts val="1200"/>
              </a:spcAft>
            </a:pPr>
            <a:r>
              <a:rPr lang="en-IN" sz="900" dirty="0"/>
              <a:t>Stationarity confirmed after pre-processing with both ADF/KPSS</a:t>
            </a:r>
          </a:p>
          <a:p>
            <a:pPr marL="171450" indent="-171450">
              <a:spcAft>
                <a:spcPts val="1200"/>
              </a:spcAft>
            </a:pPr>
            <a:r>
              <a:rPr lang="en-IN" sz="900" dirty="0"/>
              <a:t>EDA shows non-linearity, seasonal daily patterns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7650" y="553225"/>
            <a:ext cx="7688700" cy="535200"/>
          </a:xfrm>
          <a:prstGeom prst="rect">
            <a:avLst/>
          </a:prstGeom>
        </p:spPr>
        <p:txBody>
          <a:bodyPr spcFirstLastPara="1" wrap="square" lIns="91425" tIns="91425" rIns="91425" bIns="91425" anchor="t" anchorCtr="0">
            <a:normAutofit fontScale="90000"/>
          </a:bodyPr>
          <a:lstStyle/>
          <a:p>
            <a:pPr marL="0" lvl="0" indent="0" algn="just" rtl="0">
              <a:lnSpc>
                <a:spcPct val="150000"/>
              </a:lnSpc>
              <a:spcBef>
                <a:spcPts val="0"/>
              </a:spcBef>
              <a:spcAft>
                <a:spcPts val="0"/>
              </a:spcAft>
              <a:buNone/>
            </a:pPr>
            <a:r>
              <a:rPr lang="en" dirty="0"/>
              <a:t>Architecture diagram/Workflow</a:t>
            </a:r>
            <a:endParaRPr dirty="0"/>
          </a:p>
        </p:txBody>
      </p:sp>
      <p:sp>
        <p:nvSpPr>
          <p:cNvPr id="5" name="TextBox 4">
            <a:extLst>
              <a:ext uri="{FF2B5EF4-FFF2-40B4-BE49-F238E27FC236}">
                <a16:creationId xmlns:a16="http://schemas.microsoft.com/office/drawing/2014/main" id="{B12BC799-9F7F-B336-F76B-A28F5F8A4AFF}"/>
              </a:ext>
            </a:extLst>
          </p:cNvPr>
          <p:cNvSpPr txBox="1"/>
          <p:nvPr/>
        </p:nvSpPr>
        <p:spPr>
          <a:xfrm>
            <a:off x="7419957" y="1276585"/>
            <a:ext cx="1662405" cy="3631763"/>
          </a:xfrm>
          <a:prstGeom prst="rect">
            <a:avLst/>
          </a:prstGeom>
          <a:noFill/>
        </p:spPr>
        <p:txBody>
          <a:bodyPr wrap="square">
            <a:spAutoFit/>
          </a:bodyPr>
          <a:lstStyle/>
          <a:p>
            <a:pPr algn="ctr"/>
            <a:r>
              <a:rPr lang="en-IN" sz="1000" b="1" dirty="0"/>
              <a:t>Problem Definition</a:t>
            </a:r>
            <a:br>
              <a:rPr lang="en-IN" sz="1000" b="1" dirty="0"/>
            </a:br>
            <a:r>
              <a:rPr lang="en-IN" sz="1000" b="1" dirty="0"/>
              <a:t>↓</a:t>
            </a:r>
            <a:br>
              <a:rPr lang="en-IN" sz="1000" b="1" dirty="0"/>
            </a:br>
            <a:r>
              <a:rPr lang="en-IN" sz="1000" b="1" dirty="0"/>
              <a:t>Literature Review</a:t>
            </a:r>
            <a:br>
              <a:rPr lang="en-IN" sz="1000" b="1" dirty="0"/>
            </a:br>
            <a:r>
              <a:rPr lang="en-IN" sz="1000" b="1" dirty="0"/>
              <a:t>↓</a:t>
            </a:r>
            <a:br>
              <a:rPr lang="en-IN" sz="1000" b="1" dirty="0"/>
            </a:br>
            <a:r>
              <a:rPr lang="en-IN" sz="1000" b="1" dirty="0"/>
              <a:t>Dataset Collection</a:t>
            </a:r>
            <a:br>
              <a:rPr lang="en-IN" sz="1000" b="1" dirty="0"/>
            </a:br>
            <a:r>
              <a:rPr lang="en-IN" sz="1000" b="1" dirty="0"/>
              <a:t>↓</a:t>
            </a:r>
            <a:br>
              <a:rPr lang="en-IN" sz="1000" b="1" dirty="0"/>
            </a:br>
            <a:r>
              <a:rPr lang="en-IN" sz="1000" b="1" dirty="0"/>
              <a:t>Data Preprocessing</a:t>
            </a:r>
            <a:br>
              <a:rPr lang="en-IN" sz="1000" b="1" dirty="0"/>
            </a:br>
            <a:r>
              <a:rPr lang="en-IN" sz="1000" b="1" dirty="0"/>
              <a:t>↓</a:t>
            </a:r>
            <a:br>
              <a:rPr lang="en-IN" sz="1000" b="1" dirty="0"/>
            </a:br>
            <a:r>
              <a:rPr lang="en-IN" sz="1000" b="1" dirty="0"/>
              <a:t>Exploratory Data Analysis</a:t>
            </a:r>
            <a:br>
              <a:rPr lang="en-IN" sz="1000" b="1" dirty="0"/>
            </a:br>
            <a:r>
              <a:rPr lang="en-IN" sz="1000" b="1" dirty="0"/>
              <a:t>↓</a:t>
            </a:r>
            <a:br>
              <a:rPr lang="en-IN" sz="1000" b="1" dirty="0"/>
            </a:br>
            <a:r>
              <a:rPr lang="en-IN" sz="1000" b="1" dirty="0"/>
              <a:t>Feature Engineering</a:t>
            </a:r>
            <a:br>
              <a:rPr lang="en-IN" sz="1000" b="1" dirty="0"/>
            </a:br>
            <a:r>
              <a:rPr lang="en-IN" sz="1000" b="1" dirty="0"/>
              <a:t>↓</a:t>
            </a:r>
            <a:br>
              <a:rPr lang="en-IN" sz="1000" b="1" dirty="0"/>
            </a:br>
            <a:r>
              <a:rPr lang="en-IN" sz="1000" b="1" dirty="0"/>
              <a:t>Model Development</a:t>
            </a:r>
            <a:br>
              <a:rPr lang="en-IN" sz="1000" b="1" dirty="0"/>
            </a:br>
            <a:r>
              <a:rPr lang="en-IN" sz="1000" b="1" dirty="0"/>
              <a:t>↓</a:t>
            </a:r>
            <a:br>
              <a:rPr lang="en-IN" sz="1000" b="1" dirty="0"/>
            </a:br>
            <a:r>
              <a:rPr lang="en-IN" sz="1000" b="1" dirty="0"/>
              <a:t>Model Training</a:t>
            </a:r>
            <a:br>
              <a:rPr lang="en-IN" sz="1000" b="1" dirty="0"/>
            </a:br>
            <a:r>
              <a:rPr lang="en-IN" sz="1000" b="1" dirty="0"/>
              <a:t>↓</a:t>
            </a:r>
            <a:br>
              <a:rPr lang="en-IN" sz="1000" b="1" dirty="0"/>
            </a:br>
            <a:r>
              <a:rPr lang="en-IN" sz="1000" b="1" dirty="0"/>
              <a:t>Model Evaluation</a:t>
            </a:r>
            <a:br>
              <a:rPr lang="en-IN" sz="1000" b="1" dirty="0"/>
            </a:br>
            <a:r>
              <a:rPr lang="en-IN" sz="1000" b="1" dirty="0"/>
              <a:t>↓</a:t>
            </a:r>
            <a:br>
              <a:rPr lang="en-IN" sz="1000" b="1" dirty="0"/>
            </a:br>
            <a:r>
              <a:rPr lang="en-IN" sz="1000" b="1" dirty="0"/>
              <a:t>Results Interpretation</a:t>
            </a:r>
            <a:br>
              <a:rPr lang="en-IN" sz="1000" b="1" dirty="0"/>
            </a:br>
            <a:r>
              <a:rPr lang="en-IN" sz="1000" b="1" dirty="0"/>
              <a:t>↓</a:t>
            </a:r>
            <a:br>
              <a:rPr lang="en-IN" sz="1000" b="1" dirty="0"/>
            </a:br>
            <a:r>
              <a:rPr lang="en-IN" sz="1000" b="1" dirty="0"/>
              <a:t>Application to Proactive Service Assurance</a:t>
            </a:r>
          </a:p>
        </p:txBody>
      </p:sp>
      <p:grpSp>
        <p:nvGrpSpPr>
          <p:cNvPr id="79" name="Group 78">
            <a:extLst>
              <a:ext uri="{FF2B5EF4-FFF2-40B4-BE49-F238E27FC236}">
                <a16:creationId xmlns:a16="http://schemas.microsoft.com/office/drawing/2014/main" id="{2A17763A-C543-5CDE-3CF3-B8855603D076}"/>
              </a:ext>
            </a:extLst>
          </p:cNvPr>
          <p:cNvGrpSpPr/>
          <p:nvPr/>
        </p:nvGrpSpPr>
        <p:grpSpPr>
          <a:xfrm>
            <a:off x="655731" y="1393002"/>
            <a:ext cx="6567431" cy="3471812"/>
            <a:chOff x="1154906" y="1331357"/>
            <a:chExt cx="6834187" cy="4195286"/>
          </a:xfrm>
        </p:grpSpPr>
        <p:sp>
          <p:nvSpPr>
            <p:cNvPr id="80" name="Rounded Rectangle 1">
              <a:extLst>
                <a:ext uri="{FF2B5EF4-FFF2-40B4-BE49-F238E27FC236}">
                  <a16:creationId xmlns:a16="http://schemas.microsoft.com/office/drawing/2014/main" id="{2BAFBF09-8CEA-0462-5098-9BE03FE45CEB}"/>
                </a:ext>
              </a:extLst>
            </p:cNvPr>
            <p:cNvSpPr/>
            <p:nvPr/>
          </p:nvSpPr>
          <p:spPr>
            <a:xfrm>
              <a:off x="1154906" y="3579257"/>
              <a:ext cx="6258216" cy="9525"/>
            </a:xfrm>
            <a:custGeom>
              <a:avLst/>
              <a:gdLst/>
              <a:ahLst/>
              <a:cxnLst/>
              <a:rect l="0" t="0" r="0" b="0"/>
              <a:pathLst>
                <a:path w="6258216" h="9525">
                  <a:moveTo>
                    <a:pt x="542925" y="0"/>
                  </a:moveTo>
                  <a:lnTo>
                    <a:pt x="0" y="0"/>
                  </a:lnTo>
                  <a:moveTo>
                    <a:pt x="1114717" y="0"/>
                  </a:moveTo>
                  <a:lnTo>
                    <a:pt x="599794" y="0"/>
                  </a:lnTo>
                  <a:moveTo>
                    <a:pt x="1685925" y="0"/>
                  </a:moveTo>
                  <a:lnTo>
                    <a:pt x="1171575" y="0"/>
                  </a:lnTo>
                  <a:moveTo>
                    <a:pt x="2257425" y="0"/>
                  </a:moveTo>
                  <a:lnTo>
                    <a:pt x="1742790" y="0"/>
                  </a:lnTo>
                  <a:moveTo>
                    <a:pt x="2828925" y="0"/>
                  </a:moveTo>
                  <a:lnTo>
                    <a:pt x="2314292" y="0"/>
                  </a:lnTo>
                  <a:moveTo>
                    <a:pt x="3400716" y="0"/>
                  </a:moveTo>
                  <a:lnTo>
                    <a:pt x="2885790" y="0"/>
                  </a:lnTo>
                  <a:moveTo>
                    <a:pt x="3972209" y="0"/>
                  </a:moveTo>
                  <a:lnTo>
                    <a:pt x="3457575" y="0"/>
                  </a:lnTo>
                  <a:moveTo>
                    <a:pt x="4543425" y="0"/>
                  </a:moveTo>
                  <a:lnTo>
                    <a:pt x="4029075" y="0"/>
                  </a:lnTo>
                  <a:moveTo>
                    <a:pt x="5115207" y="0"/>
                  </a:moveTo>
                  <a:lnTo>
                    <a:pt x="4600385" y="0"/>
                  </a:lnTo>
                  <a:moveTo>
                    <a:pt x="5686709" y="0"/>
                  </a:moveTo>
                  <a:lnTo>
                    <a:pt x="5172075" y="0"/>
                  </a:lnTo>
                  <a:moveTo>
                    <a:pt x="6258216" y="0"/>
                  </a:moveTo>
                  <a:lnTo>
                    <a:pt x="5743575" y="0"/>
                  </a:lnTo>
                </a:path>
              </a:pathLst>
            </a:custGeom>
            <a:noFill/>
            <a:ln w="14287">
              <a:solidFill>
                <a:srgbClr val="484848"/>
              </a:solidFill>
            </a:ln>
          </p:spPr>
          <p:txBody>
            <a:bodyPr rtlCol="0" anchor="ctr"/>
            <a:lstStyle/>
            <a:p>
              <a:pPr algn="ctr"/>
              <a:endParaRPr/>
            </a:p>
          </p:txBody>
        </p:sp>
        <p:grpSp>
          <p:nvGrpSpPr>
            <p:cNvPr id="81" name="Group 80">
              <a:extLst>
                <a:ext uri="{FF2B5EF4-FFF2-40B4-BE49-F238E27FC236}">
                  <a16:creationId xmlns:a16="http://schemas.microsoft.com/office/drawing/2014/main" id="{63641914-0A81-BD2D-4263-0E7A3AFFE7F4}"/>
                </a:ext>
              </a:extLst>
            </p:cNvPr>
            <p:cNvGrpSpPr/>
            <p:nvPr/>
          </p:nvGrpSpPr>
          <p:grpSpPr>
            <a:xfrm>
              <a:off x="1330927" y="1331357"/>
              <a:ext cx="6658166" cy="4195286"/>
              <a:chOff x="1330927" y="1331357"/>
              <a:chExt cx="6658166" cy="4195286"/>
            </a:xfrm>
          </p:grpSpPr>
          <p:grpSp>
            <p:nvGrpSpPr>
              <p:cNvPr id="82" name="Group 81">
                <a:extLst>
                  <a:ext uri="{FF2B5EF4-FFF2-40B4-BE49-F238E27FC236}">
                    <a16:creationId xmlns:a16="http://schemas.microsoft.com/office/drawing/2014/main" id="{C7595302-188E-7920-5CB1-3C188AC7F64B}"/>
                  </a:ext>
                </a:extLst>
              </p:cNvPr>
              <p:cNvGrpSpPr/>
              <p:nvPr/>
            </p:nvGrpSpPr>
            <p:grpSpPr>
              <a:xfrm>
                <a:off x="7460456" y="3517344"/>
                <a:ext cx="528637" cy="123825"/>
                <a:chOff x="6591300" y="2662237"/>
                <a:chExt cx="528637" cy="123825"/>
              </a:xfrm>
            </p:grpSpPr>
            <p:sp>
              <p:nvSpPr>
                <p:cNvPr id="152" name="Rounded Rectangle 2">
                  <a:extLst>
                    <a:ext uri="{FF2B5EF4-FFF2-40B4-BE49-F238E27FC236}">
                      <a16:creationId xmlns:a16="http://schemas.microsoft.com/office/drawing/2014/main" id="{B5FF9AE6-C76A-4371-0FBB-F2B3B2E149F7}"/>
                    </a:ext>
                  </a:extLst>
                </p:cNvPr>
                <p:cNvSpPr/>
                <p:nvPr/>
              </p:nvSpPr>
              <p:spPr>
                <a:xfrm>
                  <a:off x="6591300" y="2724150"/>
                  <a:ext cx="523875" cy="9525"/>
                </a:xfrm>
                <a:custGeom>
                  <a:avLst/>
                  <a:gdLst/>
                  <a:ahLst/>
                  <a:cxnLst/>
                  <a:rect l="0" t="0" r="0" b="0"/>
                  <a:pathLst>
                    <a:path w="523875" h="9525">
                      <a:moveTo>
                        <a:pt x="523875" y="0"/>
                      </a:moveTo>
                      <a:lnTo>
                        <a:pt x="0" y="0"/>
                      </a:lnTo>
                    </a:path>
                  </a:pathLst>
                </a:custGeom>
                <a:noFill/>
                <a:ln w="14287">
                  <a:solidFill>
                    <a:srgbClr val="484848"/>
                  </a:solidFill>
                </a:ln>
              </p:spPr>
              <p:txBody>
                <a:bodyPr rtlCol="0" anchor="ctr"/>
                <a:lstStyle/>
                <a:p>
                  <a:pPr algn="ctr"/>
                  <a:endParaRPr/>
                </a:p>
              </p:txBody>
            </p:sp>
            <p:sp>
              <p:nvSpPr>
                <p:cNvPr id="153" name="Rounded Rectangle 3">
                  <a:extLst>
                    <a:ext uri="{FF2B5EF4-FFF2-40B4-BE49-F238E27FC236}">
                      <a16:creationId xmlns:a16="http://schemas.microsoft.com/office/drawing/2014/main" id="{FC835499-6785-B583-7CAA-77DB560B5FB5}"/>
                    </a:ext>
                  </a:extLst>
                </p:cNvPr>
                <p:cNvSpPr/>
                <p:nvPr/>
              </p:nvSpPr>
              <p:spPr>
                <a:xfrm>
                  <a:off x="7058025" y="2662237"/>
                  <a:ext cx="61912" cy="123825"/>
                </a:xfrm>
                <a:custGeom>
                  <a:avLst/>
                  <a:gdLst/>
                  <a:ahLst/>
                  <a:cxnLst/>
                  <a:rect l="0" t="0" r="0" b="0"/>
                  <a:pathLst>
                    <a:path w="61912" h="123825">
                      <a:moveTo>
                        <a:pt x="0" y="123825"/>
                      </a:moveTo>
                      <a:lnTo>
                        <a:pt x="61912" y="61912"/>
                      </a:lnTo>
                      <a:lnTo>
                        <a:pt x="0" y="0"/>
                      </a:lnTo>
                    </a:path>
                  </a:pathLst>
                </a:custGeom>
                <a:noFill/>
                <a:ln w="14287">
                  <a:solidFill>
                    <a:srgbClr val="484848"/>
                  </a:solidFill>
                </a:ln>
              </p:spPr>
              <p:txBody>
                <a:bodyPr rtlCol="0" anchor="ctr"/>
                <a:lstStyle/>
                <a:p>
                  <a:pPr algn="ctr"/>
                  <a:endParaRPr/>
                </a:p>
              </p:txBody>
            </p:sp>
          </p:grpSp>
          <p:sp>
            <p:nvSpPr>
              <p:cNvPr id="83" name="Rounded Rectangle 5">
                <a:extLst>
                  <a:ext uri="{FF2B5EF4-FFF2-40B4-BE49-F238E27FC236}">
                    <a16:creationId xmlns:a16="http://schemas.microsoft.com/office/drawing/2014/main" id="{02800B96-6520-B8BE-834E-953DA63D6B5B}"/>
                  </a:ext>
                </a:extLst>
              </p:cNvPr>
              <p:cNvSpPr/>
              <p:nvPr/>
            </p:nvSpPr>
            <p:spPr>
              <a:xfrm>
                <a:off x="1431131" y="2817257"/>
                <a:ext cx="590550" cy="590550"/>
              </a:xfrm>
              <a:custGeom>
                <a:avLst/>
                <a:gdLst/>
                <a:ahLst/>
                <a:cxnLst/>
                <a:rect l="0" t="0" r="0" b="0"/>
                <a:pathLst>
                  <a:path w="590550" h="590550">
                    <a:moveTo>
                      <a:pt x="0" y="295275"/>
                    </a:moveTo>
                    <a:cubicBezTo>
                      <a:pt x="0" y="132197"/>
                      <a:pt x="132197" y="0"/>
                      <a:pt x="295275" y="0"/>
                    </a:cubicBezTo>
                    <a:cubicBezTo>
                      <a:pt x="458352" y="0"/>
                      <a:pt x="590550" y="132197"/>
                      <a:pt x="590550" y="295275"/>
                    </a:cubicBezTo>
                    <a:cubicBezTo>
                      <a:pt x="590550" y="458352"/>
                      <a:pt x="458352" y="590550"/>
                      <a:pt x="295275" y="590550"/>
                    </a:cubicBezTo>
                    <a:cubicBezTo>
                      <a:pt x="132197" y="590550"/>
                      <a:pt x="0" y="458352"/>
                      <a:pt x="0" y="295275"/>
                    </a:cubicBezTo>
                  </a:path>
                </a:pathLst>
              </a:custGeom>
              <a:gradFill rotWithShape="1">
                <a:gsLst>
                  <a:gs pos="0">
                    <a:srgbClr val="9CC2FF"/>
                  </a:gs>
                  <a:gs pos="100000">
                    <a:srgbClr val="4F92FF"/>
                  </a:gs>
                </a:gsLst>
                <a:lin ang="5400000" scaled="1"/>
              </a:gradFill>
              <a:ln>
                <a:noFill/>
              </a:ln>
            </p:spPr>
            <p:txBody>
              <a:bodyPr rtlCol="0" anchor="ctr"/>
              <a:lstStyle/>
              <a:p>
                <a:pPr algn="ctr"/>
                <a:endParaRPr/>
              </a:p>
            </p:txBody>
          </p:sp>
          <p:sp>
            <p:nvSpPr>
              <p:cNvPr id="84" name="Rounded Rectangle 6">
                <a:extLst>
                  <a:ext uri="{FF2B5EF4-FFF2-40B4-BE49-F238E27FC236}">
                    <a16:creationId xmlns:a16="http://schemas.microsoft.com/office/drawing/2014/main" id="{44BD7543-7822-EEBC-9616-18680DCE09A7}"/>
                  </a:ext>
                </a:extLst>
              </p:cNvPr>
              <p:cNvSpPr/>
              <p:nvPr/>
            </p:nvSpPr>
            <p:spPr>
              <a:xfrm>
                <a:off x="1431131" y="2817257"/>
                <a:ext cx="590550" cy="590550"/>
              </a:xfrm>
              <a:custGeom>
                <a:avLst/>
                <a:gdLst/>
                <a:ahLst/>
                <a:cxnLst/>
                <a:rect l="0" t="0" r="0" b="0"/>
                <a:pathLst>
                  <a:path w="590550" h="590550">
                    <a:moveTo>
                      <a:pt x="0" y="295275"/>
                    </a:moveTo>
                    <a:cubicBezTo>
                      <a:pt x="0" y="132199"/>
                      <a:pt x="132199" y="0"/>
                      <a:pt x="295275" y="0"/>
                    </a:cubicBezTo>
                    <a:cubicBezTo>
                      <a:pt x="458350" y="0"/>
                      <a:pt x="590550" y="132199"/>
                      <a:pt x="590550" y="295275"/>
                    </a:cubicBezTo>
                    <a:cubicBezTo>
                      <a:pt x="590550" y="458350"/>
                      <a:pt x="458350" y="590550"/>
                      <a:pt x="295275" y="590550"/>
                    </a:cubicBezTo>
                    <a:cubicBezTo>
                      <a:pt x="132199" y="590550"/>
                      <a:pt x="0" y="458350"/>
                      <a:pt x="0" y="295275"/>
                    </a:cubicBezTo>
                    <a:close/>
                  </a:path>
                </a:pathLst>
              </a:custGeom>
              <a:noFill/>
              <a:ln w="14287">
                <a:solidFill>
                  <a:srgbClr val="484848"/>
                </a:solidFill>
              </a:ln>
            </p:spPr>
            <p:txBody>
              <a:bodyPr rtlCol="0" anchor="ctr"/>
              <a:lstStyle/>
              <a:p>
                <a:pPr algn="ctr"/>
                <a:endParaRPr/>
              </a:p>
            </p:txBody>
          </p:sp>
          <p:sp>
            <p:nvSpPr>
              <p:cNvPr id="85" name="Rounded Rectangle 7">
                <a:extLst>
                  <a:ext uri="{FF2B5EF4-FFF2-40B4-BE49-F238E27FC236}">
                    <a16:creationId xmlns:a16="http://schemas.microsoft.com/office/drawing/2014/main" id="{2B25D9F6-DEF4-9AE8-8E0A-17C3E8183BEB}"/>
                  </a:ext>
                </a:extLst>
              </p:cNvPr>
              <p:cNvSpPr/>
              <p:nvPr/>
            </p:nvSpPr>
            <p:spPr>
              <a:xfrm>
                <a:off x="1697831" y="3407807"/>
                <a:ext cx="57150" cy="200025"/>
              </a:xfrm>
              <a:custGeom>
                <a:avLst/>
                <a:gdLst/>
                <a:ahLst/>
                <a:cxnLst/>
                <a:rect l="0" t="0" r="0" b="0"/>
                <a:pathLst>
                  <a:path w="57150" h="200025">
                    <a:moveTo>
                      <a:pt x="28575" y="0"/>
                    </a:moveTo>
                    <a:lnTo>
                      <a:pt x="28575" y="142875"/>
                    </a:lnTo>
                    <a:moveTo>
                      <a:pt x="57150" y="171450"/>
                    </a:moveTo>
                    <a:cubicBezTo>
                      <a:pt x="57150" y="187231"/>
                      <a:pt x="44356" y="200025"/>
                      <a:pt x="28575" y="200025"/>
                    </a:cubicBezTo>
                    <a:cubicBezTo>
                      <a:pt x="12793" y="200025"/>
                      <a:pt x="0" y="187231"/>
                      <a:pt x="0" y="171450"/>
                    </a:cubicBezTo>
                    <a:cubicBezTo>
                      <a:pt x="0" y="155668"/>
                      <a:pt x="12793" y="142875"/>
                      <a:pt x="28575" y="142875"/>
                    </a:cubicBezTo>
                    <a:cubicBezTo>
                      <a:pt x="44356" y="142875"/>
                      <a:pt x="57150" y="155668"/>
                      <a:pt x="57150" y="171450"/>
                    </a:cubicBezTo>
                    <a:close/>
                  </a:path>
                </a:pathLst>
              </a:custGeom>
              <a:noFill/>
              <a:ln w="14287">
                <a:solidFill>
                  <a:srgbClr val="484848"/>
                </a:solidFill>
              </a:ln>
            </p:spPr>
            <p:txBody>
              <a:bodyPr rtlCol="0" anchor="ctr"/>
              <a:lstStyle/>
              <a:p>
                <a:pPr algn="ctr"/>
                <a:endParaRPr/>
              </a:p>
            </p:txBody>
          </p:sp>
          <p:sp>
            <p:nvSpPr>
              <p:cNvPr id="86" name="Rounded Rectangle 8">
                <a:extLst>
                  <a:ext uri="{FF2B5EF4-FFF2-40B4-BE49-F238E27FC236}">
                    <a16:creationId xmlns:a16="http://schemas.microsoft.com/office/drawing/2014/main" id="{87B2B160-0FC9-8B9A-43DD-5E99B53082D1}"/>
                  </a:ext>
                </a:extLst>
              </p:cNvPr>
              <p:cNvSpPr/>
              <p:nvPr/>
            </p:nvSpPr>
            <p:spPr>
              <a:xfrm>
                <a:off x="1993106" y="3760232"/>
                <a:ext cx="590550" cy="590550"/>
              </a:xfrm>
              <a:custGeom>
                <a:avLst/>
                <a:gdLst/>
                <a:ahLst/>
                <a:cxnLst/>
                <a:rect l="0" t="0" r="0" b="0"/>
                <a:pathLst>
                  <a:path w="590550" h="590550">
                    <a:moveTo>
                      <a:pt x="590550" y="295275"/>
                    </a:moveTo>
                    <a:cubicBezTo>
                      <a:pt x="590550" y="458352"/>
                      <a:pt x="458352" y="590550"/>
                      <a:pt x="295275" y="590550"/>
                    </a:cubicBezTo>
                    <a:cubicBezTo>
                      <a:pt x="132197" y="590550"/>
                      <a:pt x="0" y="458352"/>
                      <a:pt x="0" y="295275"/>
                    </a:cubicBezTo>
                    <a:cubicBezTo>
                      <a:pt x="0" y="132197"/>
                      <a:pt x="132197" y="0"/>
                      <a:pt x="295275" y="0"/>
                    </a:cubicBezTo>
                    <a:cubicBezTo>
                      <a:pt x="458352" y="0"/>
                      <a:pt x="590550" y="132197"/>
                      <a:pt x="590550" y="295275"/>
                    </a:cubicBezTo>
                  </a:path>
                </a:pathLst>
              </a:custGeom>
              <a:gradFill rotWithShape="1">
                <a:gsLst>
                  <a:gs pos="0">
                    <a:srgbClr val="7FDFFF"/>
                  </a:gs>
                  <a:gs pos="100000">
                    <a:srgbClr val="1AC6FF"/>
                  </a:gs>
                </a:gsLst>
                <a:lin ang="5400000" scaled="1"/>
              </a:gradFill>
              <a:ln>
                <a:noFill/>
              </a:ln>
            </p:spPr>
            <p:txBody>
              <a:bodyPr rtlCol="0" anchor="ctr"/>
              <a:lstStyle/>
              <a:p>
                <a:pPr algn="ctr"/>
                <a:endParaRPr/>
              </a:p>
            </p:txBody>
          </p:sp>
          <p:sp>
            <p:nvSpPr>
              <p:cNvPr id="87" name="Rounded Rectangle 9">
                <a:extLst>
                  <a:ext uri="{FF2B5EF4-FFF2-40B4-BE49-F238E27FC236}">
                    <a16:creationId xmlns:a16="http://schemas.microsoft.com/office/drawing/2014/main" id="{BFC72B53-354D-100E-8DC7-8972D7CFCAB2}"/>
                  </a:ext>
                </a:extLst>
              </p:cNvPr>
              <p:cNvSpPr/>
              <p:nvPr/>
            </p:nvSpPr>
            <p:spPr>
              <a:xfrm>
                <a:off x="1993106" y="3760232"/>
                <a:ext cx="590550" cy="590550"/>
              </a:xfrm>
              <a:custGeom>
                <a:avLst/>
                <a:gdLst/>
                <a:ahLst/>
                <a:cxnLst/>
                <a:rect l="0" t="0" r="0" b="0"/>
                <a:pathLst>
                  <a:path w="590550" h="590550">
                    <a:moveTo>
                      <a:pt x="590550" y="295275"/>
                    </a:moveTo>
                    <a:cubicBezTo>
                      <a:pt x="590550" y="458350"/>
                      <a:pt x="458350" y="590550"/>
                      <a:pt x="295275" y="590550"/>
                    </a:cubicBezTo>
                    <a:cubicBezTo>
                      <a:pt x="132199" y="590550"/>
                      <a:pt x="0" y="458350"/>
                      <a:pt x="0" y="295275"/>
                    </a:cubicBezTo>
                    <a:cubicBezTo>
                      <a:pt x="0" y="132199"/>
                      <a:pt x="132199" y="0"/>
                      <a:pt x="295275" y="0"/>
                    </a:cubicBezTo>
                    <a:cubicBezTo>
                      <a:pt x="458350" y="0"/>
                      <a:pt x="590550" y="132199"/>
                      <a:pt x="590550" y="295275"/>
                    </a:cubicBezTo>
                    <a:close/>
                  </a:path>
                </a:pathLst>
              </a:custGeom>
              <a:noFill/>
              <a:ln w="14287">
                <a:solidFill>
                  <a:srgbClr val="484848"/>
                </a:solidFill>
              </a:ln>
            </p:spPr>
            <p:txBody>
              <a:bodyPr rtlCol="0" anchor="ctr"/>
              <a:lstStyle/>
              <a:p>
                <a:pPr algn="ctr"/>
                <a:endParaRPr/>
              </a:p>
            </p:txBody>
          </p:sp>
          <p:sp>
            <p:nvSpPr>
              <p:cNvPr id="88" name="Rounded Rectangle 10">
                <a:extLst>
                  <a:ext uri="{FF2B5EF4-FFF2-40B4-BE49-F238E27FC236}">
                    <a16:creationId xmlns:a16="http://schemas.microsoft.com/office/drawing/2014/main" id="{B17102AB-77F5-CD43-5961-62769555C26E}"/>
                  </a:ext>
                </a:extLst>
              </p:cNvPr>
              <p:cNvSpPr/>
              <p:nvPr/>
            </p:nvSpPr>
            <p:spPr>
              <a:xfrm>
                <a:off x="2269331" y="3550682"/>
                <a:ext cx="57150" cy="200025"/>
              </a:xfrm>
              <a:custGeom>
                <a:avLst/>
                <a:gdLst/>
                <a:ahLst/>
                <a:cxnLst/>
                <a:rect l="0" t="0" r="0" b="0"/>
                <a:pathLst>
                  <a:path w="57150" h="200025">
                    <a:moveTo>
                      <a:pt x="28575" y="200025"/>
                    </a:moveTo>
                    <a:lnTo>
                      <a:pt x="28575" y="57150"/>
                    </a:lnTo>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89" name="Rounded Rectangle 11">
                <a:extLst>
                  <a:ext uri="{FF2B5EF4-FFF2-40B4-BE49-F238E27FC236}">
                    <a16:creationId xmlns:a16="http://schemas.microsoft.com/office/drawing/2014/main" id="{0DED6CDD-BEDD-36B5-4F95-3393CE4C3206}"/>
                  </a:ext>
                </a:extLst>
              </p:cNvPr>
              <p:cNvSpPr/>
              <p:nvPr/>
            </p:nvSpPr>
            <p:spPr>
              <a:xfrm>
                <a:off x="2574131" y="2817257"/>
                <a:ext cx="590550" cy="590550"/>
              </a:xfrm>
              <a:custGeom>
                <a:avLst/>
                <a:gdLst/>
                <a:ahLst/>
                <a:cxnLst/>
                <a:rect l="0" t="0" r="0" b="0"/>
                <a:pathLst>
                  <a:path w="590550" h="590550">
                    <a:moveTo>
                      <a:pt x="0" y="295275"/>
                    </a:moveTo>
                    <a:cubicBezTo>
                      <a:pt x="0" y="132197"/>
                      <a:pt x="132197" y="0"/>
                      <a:pt x="295275" y="0"/>
                    </a:cubicBezTo>
                    <a:cubicBezTo>
                      <a:pt x="458352" y="0"/>
                      <a:pt x="590550" y="132197"/>
                      <a:pt x="590550" y="295275"/>
                    </a:cubicBezTo>
                    <a:cubicBezTo>
                      <a:pt x="590550" y="458352"/>
                      <a:pt x="458352" y="590550"/>
                      <a:pt x="295275" y="590550"/>
                    </a:cubicBezTo>
                    <a:cubicBezTo>
                      <a:pt x="132197" y="590550"/>
                      <a:pt x="0" y="458352"/>
                      <a:pt x="0" y="295275"/>
                    </a:cubicBezTo>
                  </a:path>
                </a:pathLst>
              </a:custGeom>
              <a:gradFill rotWithShape="1">
                <a:gsLst>
                  <a:gs pos="0">
                    <a:srgbClr val="83FAC1"/>
                  </a:gs>
                  <a:gs pos="100000">
                    <a:srgbClr val="44E095"/>
                  </a:gs>
                </a:gsLst>
                <a:lin ang="5400000" scaled="1"/>
              </a:gradFill>
              <a:ln>
                <a:noFill/>
              </a:ln>
            </p:spPr>
            <p:txBody>
              <a:bodyPr rtlCol="0" anchor="ctr"/>
              <a:lstStyle/>
              <a:p>
                <a:pPr algn="ctr"/>
                <a:endParaRPr/>
              </a:p>
            </p:txBody>
          </p:sp>
          <p:sp>
            <p:nvSpPr>
              <p:cNvPr id="90" name="Rounded Rectangle 12">
                <a:extLst>
                  <a:ext uri="{FF2B5EF4-FFF2-40B4-BE49-F238E27FC236}">
                    <a16:creationId xmlns:a16="http://schemas.microsoft.com/office/drawing/2014/main" id="{86DC3046-C3D9-8DB7-0368-4D388E280190}"/>
                  </a:ext>
                </a:extLst>
              </p:cNvPr>
              <p:cNvSpPr/>
              <p:nvPr/>
            </p:nvSpPr>
            <p:spPr>
              <a:xfrm>
                <a:off x="2574131" y="2817257"/>
                <a:ext cx="590550" cy="590550"/>
              </a:xfrm>
              <a:custGeom>
                <a:avLst/>
                <a:gdLst/>
                <a:ahLst/>
                <a:cxnLst/>
                <a:rect l="0" t="0" r="0" b="0"/>
                <a:pathLst>
                  <a:path w="590550" h="590550">
                    <a:moveTo>
                      <a:pt x="0" y="295275"/>
                    </a:moveTo>
                    <a:cubicBezTo>
                      <a:pt x="0" y="132199"/>
                      <a:pt x="132199" y="0"/>
                      <a:pt x="295275" y="0"/>
                    </a:cubicBezTo>
                    <a:cubicBezTo>
                      <a:pt x="458350" y="0"/>
                      <a:pt x="590550" y="132199"/>
                      <a:pt x="590550" y="295275"/>
                    </a:cubicBezTo>
                    <a:cubicBezTo>
                      <a:pt x="590550" y="458350"/>
                      <a:pt x="458350" y="590550"/>
                      <a:pt x="295275" y="590550"/>
                    </a:cubicBezTo>
                    <a:cubicBezTo>
                      <a:pt x="132199" y="590550"/>
                      <a:pt x="0" y="458350"/>
                      <a:pt x="0" y="295275"/>
                    </a:cubicBezTo>
                    <a:close/>
                  </a:path>
                </a:pathLst>
              </a:custGeom>
              <a:noFill/>
              <a:ln w="14287">
                <a:solidFill>
                  <a:srgbClr val="484848"/>
                </a:solidFill>
              </a:ln>
            </p:spPr>
            <p:txBody>
              <a:bodyPr rtlCol="0" anchor="ctr"/>
              <a:lstStyle/>
              <a:p>
                <a:pPr algn="ctr"/>
                <a:endParaRPr/>
              </a:p>
            </p:txBody>
          </p:sp>
          <p:sp>
            <p:nvSpPr>
              <p:cNvPr id="91" name="Rounded Rectangle 13">
                <a:extLst>
                  <a:ext uri="{FF2B5EF4-FFF2-40B4-BE49-F238E27FC236}">
                    <a16:creationId xmlns:a16="http://schemas.microsoft.com/office/drawing/2014/main" id="{2E3C54AA-0DCF-8DC3-710C-9E9CE6BCE0F2}"/>
                  </a:ext>
                </a:extLst>
              </p:cNvPr>
              <p:cNvSpPr/>
              <p:nvPr/>
            </p:nvSpPr>
            <p:spPr>
              <a:xfrm>
                <a:off x="2840831" y="3407807"/>
                <a:ext cx="57150" cy="200025"/>
              </a:xfrm>
              <a:custGeom>
                <a:avLst/>
                <a:gdLst/>
                <a:ahLst/>
                <a:cxnLst/>
                <a:rect l="0" t="0" r="0" b="0"/>
                <a:pathLst>
                  <a:path w="57150" h="200025">
                    <a:moveTo>
                      <a:pt x="28575" y="0"/>
                    </a:moveTo>
                    <a:lnTo>
                      <a:pt x="28575" y="142875"/>
                    </a:lnTo>
                    <a:moveTo>
                      <a:pt x="57150" y="171450"/>
                    </a:moveTo>
                    <a:cubicBezTo>
                      <a:pt x="57150" y="187231"/>
                      <a:pt x="44356" y="200025"/>
                      <a:pt x="28575" y="200025"/>
                    </a:cubicBezTo>
                    <a:cubicBezTo>
                      <a:pt x="12793" y="200025"/>
                      <a:pt x="0" y="187231"/>
                      <a:pt x="0" y="171450"/>
                    </a:cubicBezTo>
                    <a:cubicBezTo>
                      <a:pt x="0" y="155668"/>
                      <a:pt x="12793" y="142875"/>
                      <a:pt x="28575" y="142875"/>
                    </a:cubicBezTo>
                    <a:cubicBezTo>
                      <a:pt x="44356" y="142875"/>
                      <a:pt x="57150" y="155668"/>
                      <a:pt x="57150" y="171450"/>
                    </a:cubicBezTo>
                    <a:close/>
                  </a:path>
                </a:pathLst>
              </a:custGeom>
              <a:noFill/>
              <a:ln w="14287">
                <a:solidFill>
                  <a:srgbClr val="484848"/>
                </a:solidFill>
              </a:ln>
            </p:spPr>
            <p:txBody>
              <a:bodyPr rtlCol="0" anchor="ctr"/>
              <a:lstStyle/>
              <a:p>
                <a:pPr algn="ctr"/>
                <a:endParaRPr/>
              </a:p>
            </p:txBody>
          </p:sp>
          <p:sp>
            <p:nvSpPr>
              <p:cNvPr id="92" name="Rounded Rectangle 14">
                <a:extLst>
                  <a:ext uri="{FF2B5EF4-FFF2-40B4-BE49-F238E27FC236}">
                    <a16:creationId xmlns:a16="http://schemas.microsoft.com/office/drawing/2014/main" id="{5598BA08-C5B5-3225-E856-C7F9F62DBE78}"/>
                  </a:ext>
                </a:extLst>
              </p:cNvPr>
              <p:cNvSpPr/>
              <p:nvPr/>
            </p:nvSpPr>
            <p:spPr>
              <a:xfrm>
                <a:off x="3145631" y="3750707"/>
                <a:ext cx="590550" cy="590550"/>
              </a:xfrm>
              <a:custGeom>
                <a:avLst/>
                <a:gdLst/>
                <a:ahLst/>
                <a:cxnLst/>
                <a:rect l="0" t="0" r="0" b="0"/>
                <a:pathLst>
                  <a:path w="590550" h="590550">
                    <a:moveTo>
                      <a:pt x="590550" y="295275"/>
                    </a:moveTo>
                    <a:cubicBezTo>
                      <a:pt x="590550" y="458352"/>
                      <a:pt x="458352" y="590550"/>
                      <a:pt x="295275" y="590550"/>
                    </a:cubicBezTo>
                    <a:cubicBezTo>
                      <a:pt x="132197" y="590550"/>
                      <a:pt x="0" y="458352"/>
                      <a:pt x="0" y="295275"/>
                    </a:cubicBezTo>
                    <a:cubicBezTo>
                      <a:pt x="0" y="132197"/>
                      <a:pt x="132197" y="0"/>
                      <a:pt x="295275" y="0"/>
                    </a:cubicBezTo>
                    <a:cubicBezTo>
                      <a:pt x="458352" y="0"/>
                      <a:pt x="590550" y="132197"/>
                      <a:pt x="590550" y="295275"/>
                    </a:cubicBezTo>
                  </a:path>
                </a:pathLst>
              </a:custGeom>
              <a:gradFill rotWithShape="1">
                <a:gsLst>
                  <a:gs pos="0">
                    <a:srgbClr val="CFF976"/>
                  </a:gs>
                  <a:gs pos="100000">
                    <a:srgbClr val="A8DD38"/>
                  </a:gs>
                </a:gsLst>
                <a:lin ang="5400000" scaled="1"/>
              </a:gradFill>
              <a:ln>
                <a:noFill/>
              </a:ln>
            </p:spPr>
            <p:txBody>
              <a:bodyPr rtlCol="0" anchor="ctr"/>
              <a:lstStyle/>
              <a:p>
                <a:pPr algn="ctr"/>
                <a:endParaRPr/>
              </a:p>
            </p:txBody>
          </p:sp>
          <p:sp>
            <p:nvSpPr>
              <p:cNvPr id="93" name="Rounded Rectangle 15">
                <a:extLst>
                  <a:ext uri="{FF2B5EF4-FFF2-40B4-BE49-F238E27FC236}">
                    <a16:creationId xmlns:a16="http://schemas.microsoft.com/office/drawing/2014/main" id="{69C89A64-7335-3C4B-C14B-12E6297A8045}"/>
                  </a:ext>
                </a:extLst>
              </p:cNvPr>
              <p:cNvSpPr/>
              <p:nvPr/>
            </p:nvSpPr>
            <p:spPr>
              <a:xfrm>
                <a:off x="3145631" y="3750707"/>
                <a:ext cx="590550" cy="590550"/>
              </a:xfrm>
              <a:custGeom>
                <a:avLst/>
                <a:gdLst/>
                <a:ahLst/>
                <a:cxnLst/>
                <a:rect l="0" t="0" r="0" b="0"/>
                <a:pathLst>
                  <a:path w="590550" h="590550">
                    <a:moveTo>
                      <a:pt x="590550" y="295275"/>
                    </a:moveTo>
                    <a:cubicBezTo>
                      <a:pt x="590550" y="458350"/>
                      <a:pt x="458350" y="590550"/>
                      <a:pt x="295275" y="590550"/>
                    </a:cubicBezTo>
                    <a:cubicBezTo>
                      <a:pt x="132199" y="590550"/>
                      <a:pt x="0" y="458350"/>
                      <a:pt x="0" y="295275"/>
                    </a:cubicBezTo>
                    <a:cubicBezTo>
                      <a:pt x="0" y="132199"/>
                      <a:pt x="132199" y="0"/>
                      <a:pt x="295275" y="0"/>
                    </a:cubicBezTo>
                    <a:cubicBezTo>
                      <a:pt x="458350" y="0"/>
                      <a:pt x="590550" y="132199"/>
                      <a:pt x="590550" y="295275"/>
                    </a:cubicBezTo>
                    <a:close/>
                  </a:path>
                </a:pathLst>
              </a:custGeom>
              <a:noFill/>
              <a:ln w="14287">
                <a:solidFill>
                  <a:srgbClr val="484848"/>
                </a:solidFill>
              </a:ln>
            </p:spPr>
            <p:txBody>
              <a:bodyPr rtlCol="0" anchor="ctr"/>
              <a:lstStyle/>
              <a:p>
                <a:pPr algn="ctr"/>
                <a:endParaRPr/>
              </a:p>
            </p:txBody>
          </p:sp>
          <p:sp>
            <p:nvSpPr>
              <p:cNvPr id="94" name="Rounded Rectangle 16">
                <a:extLst>
                  <a:ext uri="{FF2B5EF4-FFF2-40B4-BE49-F238E27FC236}">
                    <a16:creationId xmlns:a16="http://schemas.microsoft.com/office/drawing/2014/main" id="{088C1284-81A3-2CCF-236C-D5AC9381EB5A}"/>
                  </a:ext>
                </a:extLst>
              </p:cNvPr>
              <p:cNvSpPr/>
              <p:nvPr/>
            </p:nvSpPr>
            <p:spPr>
              <a:xfrm>
                <a:off x="3402806" y="3550682"/>
                <a:ext cx="57150" cy="200025"/>
              </a:xfrm>
              <a:custGeom>
                <a:avLst/>
                <a:gdLst/>
                <a:ahLst/>
                <a:cxnLst/>
                <a:rect l="0" t="0" r="0" b="0"/>
                <a:pathLst>
                  <a:path w="57150" h="200025">
                    <a:moveTo>
                      <a:pt x="28575" y="200025"/>
                    </a:moveTo>
                    <a:lnTo>
                      <a:pt x="28575" y="57150"/>
                    </a:lnTo>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95" name="Rounded Rectangle 17">
                <a:extLst>
                  <a:ext uri="{FF2B5EF4-FFF2-40B4-BE49-F238E27FC236}">
                    <a16:creationId xmlns:a16="http://schemas.microsoft.com/office/drawing/2014/main" id="{4A3DE3BF-3463-9510-5872-C0D753A41A53}"/>
                  </a:ext>
                </a:extLst>
              </p:cNvPr>
              <p:cNvSpPr/>
              <p:nvPr/>
            </p:nvSpPr>
            <p:spPr>
              <a:xfrm>
                <a:off x="3717131" y="2817257"/>
                <a:ext cx="590550" cy="590550"/>
              </a:xfrm>
              <a:custGeom>
                <a:avLst/>
                <a:gdLst/>
                <a:ahLst/>
                <a:cxnLst/>
                <a:rect l="0" t="0" r="0" b="0"/>
                <a:pathLst>
                  <a:path w="590550" h="590550">
                    <a:moveTo>
                      <a:pt x="0" y="295275"/>
                    </a:moveTo>
                    <a:cubicBezTo>
                      <a:pt x="0" y="132197"/>
                      <a:pt x="132197" y="0"/>
                      <a:pt x="295275" y="0"/>
                    </a:cubicBezTo>
                    <a:cubicBezTo>
                      <a:pt x="458352" y="0"/>
                      <a:pt x="590550" y="132197"/>
                      <a:pt x="590550" y="295275"/>
                    </a:cubicBezTo>
                    <a:cubicBezTo>
                      <a:pt x="590550" y="458352"/>
                      <a:pt x="458352" y="590550"/>
                      <a:pt x="295275" y="590550"/>
                    </a:cubicBezTo>
                    <a:cubicBezTo>
                      <a:pt x="132197" y="590550"/>
                      <a:pt x="0" y="458352"/>
                      <a:pt x="0" y="295275"/>
                    </a:cubicBezTo>
                  </a:path>
                </a:pathLst>
              </a:custGeom>
              <a:gradFill rotWithShape="1">
                <a:gsLst>
                  <a:gs pos="0">
                    <a:srgbClr val="FFEF63"/>
                  </a:gs>
                  <a:gs pos="100000">
                    <a:srgbClr val="FFE60A"/>
                  </a:gs>
                </a:gsLst>
                <a:lin ang="5400000" scaled="1"/>
              </a:gradFill>
              <a:ln>
                <a:noFill/>
              </a:ln>
            </p:spPr>
            <p:txBody>
              <a:bodyPr rtlCol="0" anchor="ctr"/>
              <a:lstStyle/>
              <a:p>
                <a:pPr algn="ctr"/>
                <a:endParaRPr/>
              </a:p>
            </p:txBody>
          </p:sp>
          <p:sp>
            <p:nvSpPr>
              <p:cNvPr id="96" name="Rounded Rectangle 18">
                <a:extLst>
                  <a:ext uri="{FF2B5EF4-FFF2-40B4-BE49-F238E27FC236}">
                    <a16:creationId xmlns:a16="http://schemas.microsoft.com/office/drawing/2014/main" id="{A3254212-0F3E-F830-797B-9793631149DB}"/>
                  </a:ext>
                </a:extLst>
              </p:cNvPr>
              <p:cNvSpPr/>
              <p:nvPr/>
            </p:nvSpPr>
            <p:spPr>
              <a:xfrm>
                <a:off x="3717131" y="2817257"/>
                <a:ext cx="590550" cy="590550"/>
              </a:xfrm>
              <a:custGeom>
                <a:avLst/>
                <a:gdLst/>
                <a:ahLst/>
                <a:cxnLst/>
                <a:rect l="0" t="0" r="0" b="0"/>
                <a:pathLst>
                  <a:path w="590550" h="590550">
                    <a:moveTo>
                      <a:pt x="0" y="295275"/>
                    </a:moveTo>
                    <a:cubicBezTo>
                      <a:pt x="0" y="132199"/>
                      <a:pt x="132199" y="0"/>
                      <a:pt x="295275" y="0"/>
                    </a:cubicBezTo>
                    <a:cubicBezTo>
                      <a:pt x="458350" y="0"/>
                      <a:pt x="590550" y="132199"/>
                      <a:pt x="590550" y="295275"/>
                    </a:cubicBezTo>
                    <a:cubicBezTo>
                      <a:pt x="590550" y="458350"/>
                      <a:pt x="458350" y="590550"/>
                      <a:pt x="295275" y="590550"/>
                    </a:cubicBezTo>
                    <a:cubicBezTo>
                      <a:pt x="132199" y="590550"/>
                      <a:pt x="0" y="458350"/>
                      <a:pt x="0" y="295275"/>
                    </a:cubicBezTo>
                    <a:close/>
                  </a:path>
                </a:pathLst>
              </a:custGeom>
              <a:noFill/>
              <a:ln w="14287">
                <a:solidFill>
                  <a:srgbClr val="484848"/>
                </a:solidFill>
              </a:ln>
            </p:spPr>
            <p:txBody>
              <a:bodyPr rtlCol="0" anchor="ctr"/>
              <a:lstStyle/>
              <a:p>
                <a:pPr algn="ctr"/>
                <a:endParaRPr/>
              </a:p>
            </p:txBody>
          </p:sp>
          <p:sp>
            <p:nvSpPr>
              <p:cNvPr id="97" name="Rounded Rectangle 19">
                <a:extLst>
                  <a:ext uri="{FF2B5EF4-FFF2-40B4-BE49-F238E27FC236}">
                    <a16:creationId xmlns:a16="http://schemas.microsoft.com/office/drawing/2014/main" id="{0665795A-7349-A8F6-FE55-5729EBFE1E33}"/>
                  </a:ext>
                </a:extLst>
              </p:cNvPr>
              <p:cNvSpPr/>
              <p:nvPr/>
            </p:nvSpPr>
            <p:spPr>
              <a:xfrm>
                <a:off x="3983831" y="3407807"/>
                <a:ext cx="57150" cy="200025"/>
              </a:xfrm>
              <a:custGeom>
                <a:avLst/>
                <a:gdLst/>
                <a:ahLst/>
                <a:cxnLst/>
                <a:rect l="0" t="0" r="0" b="0"/>
                <a:pathLst>
                  <a:path w="57150" h="200025">
                    <a:moveTo>
                      <a:pt x="28575" y="0"/>
                    </a:moveTo>
                    <a:lnTo>
                      <a:pt x="28575" y="142875"/>
                    </a:lnTo>
                    <a:moveTo>
                      <a:pt x="57150" y="171450"/>
                    </a:moveTo>
                    <a:cubicBezTo>
                      <a:pt x="57150" y="187231"/>
                      <a:pt x="44356" y="200025"/>
                      <a:pt x="28575" y="200025"/>
                    </a:cubicBezTo>
                    <a:cubicBezTo>
                      <a:pt x="12793" y="200025"/>
                      <a:pt x="0" y="187231"/>
                      <a:pt x="0" y="171450"/>
                    </a:cubicBezTo>
                    <a:cubicBezTo>
                      <a:pt x="0" y="155668"/>
                      <a:pt x="12793" y="142875"/>
                      <a:pt x="28575" y="142875"/>
                    </a:cubicBezTo>
                    <a:cubicBezTo>
                      <a:pt x="44356" y="142875"/>
                      <a:pt x="57150" y="155668"/>
                      <a:pt x="57150" y="171450"/>
                    </a:cubicBezTo>
                    <a:close/>
                  </a:path>
                </a:pathLst>
              </a:custGeom>
              <a:noFill/>
              <a:ln w="14287">
                <a:solidFill>
                  <a:srgbClr val="484848"/>
                </a:solidFill>
              </a:ln>
            </p:spPr>
            <p:txBody>
              <a:bodyPr rtlCol="0" anchor="ctr"/>
              <a:lstStyle/>
              <a:p>
                <a:pPr algn="ctr"/>
                <a:endParaRPr/>
              </a:p>
            </p:txBody>
          </p:sp>
          <p:sp>
            <p:nvSpPr>
              <p:cNvPr id="98" name="Rounded Rectangle 20">
                <a:extLst>
                  <a:ext uri="{FF2B5EF4-FFF2-40B4-BE49-F238E27FC236}">
                    <a16:creationId xmlns:a16="http://schemas.microsoft.com/office/drawing/2014/main" id="{B2BAF82E-3830-F5C2-2FBE-D9ACC7B86758}"/>
                  </a:ext>
                </a:extLst>
              </p:cNvPr>
              <p:cNvSpPr/>
              <p:nvPr/>
            </p:nvSpPr>
            <p:spPr>
              <a:xfrm>
                <a:off x="4288631" y="3750707"/>
                <a:ext cx="590550" cy="590550"/>
              </a:xfrm>
              <a:custGeom>
                <a:avLst/>
                <a:gdLst/>
                <a:ahLst/>
                <a:cxnLst/>
                <a:rect l="0" t="0" r="0" b="0"/>
                <a:pathLst>
                  <a:path w="590550" h="590550">
                    <a:moveTo>
                      <a:pt x="590550" y="295275"/>
                    </a:moveTo>
                    <a:cubicBezTo>
                      <a:pt x="590550" y="458352"/>
                      <a:pt x="458352" y="590550"/>
                      <a:pt x="295275" y="590550"/>
                    </a:cubicBezTo>
                    <a:cubicBezTo>
                      <a:pt x="132197" y="590550"/>
                      <a:pt x="0" y="458352"/>
                      <a:pt x="0" y="295275"/>
                    </a:cubicBezTo>
                    <a:cubicBezTo>
                      <a:pt x="0" y="132197"/>
                      <a:pt x="132197" y="0"/>
                      <a:pt x="295275" y="0"/>
                    </a:cubicBezTo>
                    <a:cubicBezTo>
                      <a:pt x="458352" y="0"/>
                      <a:pt x="590550" y="132197"/>
                      <a:pt x="590550" y="295275"/>
                    </a:cubicBezTo>
                  </a:path>
                </a:pathLst>
              </a:custGeom>
              <a:gradFill rotWithShape="1">
                <a:gsLst>
                  <a:gs pos="0">
                    <a:srgbClr val="FFBF84"/>
                  </a:gs>
                  <a:gs pos="100000">
                    <a:srgbClr val="F99539"/>
                  </a:gs>
                </a:gsLst>
                <a:lin ang="5400000" scaled="1"/>
              </a:gradFill>
              <a:ln>
                <a:noFill/>
              </a:ln>
            </p:spPr>
            <p:txBody>
              <a:bodyPr rtlCol="0" anchor="ctr"/>
              <a:lstStyle/>
              <a:p>
                <a:pPr algn="ctr"/>
                <a:endParaRPr/>
              </a:p>
            </p:txBody>
          </p:sp>
          <p:sp>
            <p:nvSpPr>
              <p:cNvPr id="99" name="Rounded Rectangle 21">
                <a:extLst>
                  <a:ext uri="{FF2B5EF4-FFF2-40B4-BE49-F238E27FC236}">
                    <a16:creationId xmlns:a16="http://schemas.microsoft.com/office/drawing/2014/main" id="{DF02AEE8-29A2-0007-9B6A-40546EF56C34}"/>
                  </a:ext>
                </a:extLst>
              </p:cNvPr>
              <p:cNvSpPr/>
              <p:nvPr/>
            </p:nvSpPr>
            <p:spPr>
              <a:xfrm>
                <a:off x="4288631" y="3750707"/>
                <a:ext cx="590550" cy="590550"/>
              </a:xfrm>
              <a:custGeom>
                <a:avLst/>
                <a:gdLst/>
                <a:ahLst/>
                <a:cxnLst/>
                <a:rect l="0" t="0" r="0" b="0"/>
                <a:pathLst>
                  <a:path w="590550" h="590550">
                    <a:moveTo>
                      <a:pt x="590550" y="295275"/>
                    </a:moveTo>
                    <a:cubicBezTo>
                      <a:pt x="590550" y="458350"/>
                      <a:pt x="458350" y="590550"/>
                      <a:pt x="295275" y="590550"/>
                    </a:cubicBezTo>
                    <a:cubicBezTo>
                      <a:pt x="132199" y="590550"/>
                      <a:pt x="0" y="458350"/>
                      <a:pt x="0" y="295275"/>
                    </a:cubicBezTo>
                    <a:cubicBezTo>
                      <a:pt x="0" y="132199"/>
                      <a:pt x="132199" y="0"/>
                      <a:pt x="295275" y="0"/>
                    </a:cubicBezTo>
                    <a:cubicBezTo>
                      <a:pt x="458350" y="0"/>
                      <a:pt x="590550" y="132199"/>
                      <a:pt x="590550" y="295275"/>
                    </a:cubicBezTo>
                    <a:close/>
                  </a:path>
                </a:pathLst>
              </a:custGeom>
              <a:noFill/>
              <a:ln w="14287">
                <a:solidFill>
                  <a:srgbClr val="484848"/>
                </a:solidFill>
              </a:ln>
            </p:spPr>
            <p:txBody>
              <a:bodyPr rtlCol="0" anchor="ctr"/>
              <a:lstStyle/>
              <a:p>
                <a:pPr algn="ctr"/>
                <a:endParaRPr/>
              </a:p>
            </p:txBody>
          </p:sp>
          <p:sp>
            <p:nvSpPr>
              <p:cNvPr id="100" name="Rounded Rectangle 22">
                <a:extLst>
                  <a:ext uri="{FF2B5EF4-FFF2-40B4-BE49-F238E27FC236}">
                    <a16:creationId xmlns:a16="http://schemas.microsoft.com/office/drawing/2014/main" id="{FF7BC1D4-1E1D-790F-6FDD-3D6631486532}"/>
                  </a:ext>
                </a:extLst>
              </p:cNvPr>
              <p:cNvSpPr/>
              <p:nvPr/>
            </p:nvSpPr>
            <p:spPr>
              <a:xfrm>
                <a:off x="4564856" y="3550682"/>
                <a:ext cx="57150" cy="200025"/>
              </a:xfrm>
              <a:custGeom>
                <a:avLst/>
                <a:gdLst/>
                <a:ahLst/>
                <a:cxnLst/>
                <a:rect l="0" t="0" r="0" b="0"/>
                <a:pathLst>
                  <a:path w="57150" h="200025">
                    <a:moveTo>
                      <a:pt x="28575" y="200025"/>
                    </a:moveTo>
                    <a:lnTo>
                      <a:pt x="28575" y="57150"/>
                    </a:lnTo>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01" name="Rounded Rectangle 23">
                <a:extLst>
                  <a:ext uri="{FF2B5EF4-FFF2-40B4-BE49-F238E27FC236}">
                    <a16:creationId xmlns:a16="http://schemas.microsoft.com/office/drawing/2014/main" id="{B50E3C51-E9DE-7157-A7F9-E29A196382A6}"/>
                  </a:ext>
                </a:extLst>
              </p:cNvPr>
              <p:cNvSpPr/>
              <p:nvPr/>
            </p:nvSpPr>
            <p:spPr>
              <a:xfrm>
                <a:off x="4860131" y="2817257"/>
                <a:ext cx="590550" cy="590550"/>
              </a:xfrm>
              <a:custGeom>
                <a:avLst/>
                <a:gdLst/>
                <a:ahLst/>
                <a:cxnLst/>
                <a:rect l="0" t="0" r="0" b="0"/>
                <a:pathLst>
                  <a:path w="590550" h="590550">
                    <a:moveTo>
                      <a:pt x="0" y="295275"/>
                    </a:moveTo>
                    <a:cubicBezTo>
                      <a:pt x="0" y="132197"/>
                      <a:pt x="132197" y="0"/>
                      <a:pt x="295275" y="0"/>
                    </a:cubicBezTo>
                    <a:cubicBezTo>
                      <a:pt x="458352" y="0"/>
                      <a:pt x="590550" y="132197"/>
                      <a:pt x="590550" y="295275"/>
                    </a:cubicBezTo>
                    <a:cubicBezTo>
                      <a:pt x="590550" y="458352"/>
                      <a:pt x="458352" y="590550"/>
                      <a:pt x="295275" y="590550"/>
                    </a:cubicBezTo>
                    <a:cubicBezTo>
                      <a:pt x="132197" y="590550"/>
                      <a:pt x="0" y="458352"/>
                      <a:pt x="0" y="295275"/>
                    </a:cubicBezTo>
                  </a:path>
                </a:pathLst>
              </a:custGeom>
              <a:gradFill rotWithShape="1">
                <a:gsLst>
                  <a:gs pos="0">
                    <a:srgbClr val="FFA6A3"/>
                  </a:gs>
                  <a:gs pos="100000">
                    <a:srgbClr val="FD6A65"/>
                  </a:gs>
                </a:gsLst>
                <a:lin ang="5400000" scaled="1"/>
              </a:gradFill>
              <a:ln>
                <a:noFill/>
              </a:ln>
            </p:spPr>
            <p:txBody>
              <a:bodyPr rtlCol="0" anchor="ctr"/>
              <a:lstStyle/>
              <a:p>
                <a:pPr algn="ctr"/>
                <a:endParaRPr/>
              </a:p>
            </p:txBody>
          </p:sp>
          <p:sp>
            <p:nvSpPr>
              <p:cNvPr id="102" name="Rounded Rectangle 24">
                <a:extLst>
                  <a:ext uri="{FF2B5EF4-FFF2-40B4-BE49-F238E27FC236}">
                    <a16:creationId xmlns:a16="http://schemas.microsoft.com/office/drawing/2014/main" id="{6449157E-961D-2029-5449-AE60CC07504A}"/>
                  </a:ext>
                </a:extLst>
              </p:cNvPr>
              <p:cNvSpPr/>
              <p:nvPr/>
            </p:nvSpPr>
            <p:spPr>
              <a:xfrm>
                <a:off x="4860131" y="2817257"/>
                <a:ext cx="590550" cy="590550"/>
              </a:xfrm>
              <a:custGeom>
                <a:avLst/>
                <a:gdLst/>
                <a:ahLst/>
                <a:cxnLst/>
                <a:rect l="0" t="0" r="0" b="0"/>
                <a:pathLst>
                  <a:path w="590550" h="590550">
                    <a:moveTo>
                      <a:pt x="0" y="295275"/>
                    </a:moveTo>
                    <a:cubicBezTo>
                      <a:pt x="0" y="132199"/>
                      <a:pt x="132199" y="0"/>
                      <a:pt x="295275" y="0"/>
                    </a:cubicBezTo>
                    <a:cubicBezTo>
                      <a:pt x="458350" y="0"/>
                      <a:pt x="590550" y="132199"/>
                      <a:pt x="590550" y="295275"/>
                    </a:cubicBezTo>
                    <a:cubicBezTo>
                      <a:pt x="590550" y="458350"/>
                      <a:pt x="458350" y="590550"/>
                      <a:pt x="295275" y="590550"/>
                    </a:cubicBezTo>
                    <a:cubicBezTo>
                      <a:pt x="132199" y="590550"/>
                      <a:pt x="0" y="458350"/>
                      <a:pt x="0" y="295275"/>
                    </a:cubicBezTo>
                    <a:close/>
                  </a:path>
                </a:pathLst>
              </a:custGeom>
              <a:noFill/>
              <a:ln w="14287">
                <a:solidFill>
                  <a:srgbClr val="484848"/>
                </a:solidFill>
              </a:ln>
            </p:spPr>
            <p:txBody>
              <a:bodyPr rtlCol="0" anchor="ctr"/>
              <a:lstStyle/>
              <a:p>
                <a:pPr algn="ctr"/>
                <a:endParaRPr/>
              </a:p>
            </p:txBody>
          </p:sp>
          <p:sp>
            <p:nvSpPr>
              <p:cNvPr id="103" name="Rounded Rectangle 25">
                <a:extLst>
                  <a:ext uri="{FF2B5EF4-FFF2-40B4-BE49-F238E27FC236}">
                    <a16:creationId xmlns:a16="http://schemas.microsoft.com/office/drawing/2014/main" id="{CCC9AB36-A79D-F6AF-5047-560658E270DE}"/>
                  </a:ext>
                </a:extLst>
              </p:cNvPr>
              <p:cNvSpPr/>
              <p:nvPr/>
            </p:nvSpPr>
            <p:spPr>
              <a:xfrm>
                <a:off x="5126831" y="3407807"/>
                <a:ext cx="57150" cy="200025"/>
              </a:xfrm>
              <a:custGeom>
                <a:avLst/>
                <a:gdLst/>
                <a:ahLst/>
                <a:cxnLst/>
                <a:rect l="0" t="0" r="0" b="0"/>
                <a:pathLst>
                  <a:path w="57150" h="200025">
                    <a:moveTo>
                      <a:pt x="28575" y="0"/>
                    </a:moveTo>
                    <a:lnTo>
                      <a:pt x="28575" y="142875"/>
                    </a:lnTo>
                    <a:moveTo>
                      <a:pt x="57150" y="171450"/>
                    </a:moveTo>
                    <a:cubicBezTo>
                      <a:pt x="57150" y="187231"/>
                      <a:pt x="44356" y="200025"/>
                      <a:pt x="28575" y="200025"/>
                    </a:cubicBezTo>
                    <a:cubicBezTo>
                      <a:pt x="12793" y="200025"/>
                      <a:pt x="0" y="187231"/>
                      <a:pt x="0" y="171450"/>
                    </a:cubicBezTo>
                    <a:cubicBezTo>
                      <a:pt x="0" y="155668"/>
                      <a:pt x="12793" y="142875"/>
                      <a:pt x="28575" y="142875"/>
                    </a:cubicBezTo>
                    <a:cubicBezTo>
                      <a:pt x="44356" y="142875"/>
                      <a:pt x="57150" y="155668"/>
                      <a:pt x="57150" y="171450"/>
                    </a:cubicBezTo>
                    <a:close/>
                  </a:path>
                </a:pathLst>
              </a:custGeom>
              <a:noFill/>
              <a:ln w="14287">
                <a:solidFill>
                  <a:srgbClr val="484848"/>
                </a:solidFill>
              </a:ln>
            </p:spPr>
            <p:txBody>
              <a:bodyPr rtlCol="0" anchor="ctr"/>
              <a:lstStyle/>
              <a:p>
                <a:pPr algn="ctr"/>
                <a:endParaRPr/>
              </a:p>
            </p:txBody>
          </p:sp>
          <p:sp>
            <p:nvSpPr>
              <p:cNvPr id="104" name="Rounded Rectangle 26">
                <a:extLst>
                  <a:ext uri="{FF2B5EF4-FFF2-40B4-BE49-F238E27FC236}">
                    <a16:creationId xmlns:a16="http://schemas.microsoft.com/office/drawing/2014/main" id="{2807022D-4104-2E05-ABF5-FEB840B8E0DD}"/>
                  </a:ext>
                </a:extLst>
              </p:cNvPr>
              <p:cNvSpPr/>
              <p:nvPr/>
            </p:nvSpPr>
            <p:spPr>
              <a:xfrm>
                <a:off x="5431631" y="3750707"/>
                <a:ext cx="590550" cy="590550"/>
              </a:xfrm>
              <a:custGeom>
                <a:avLst/>
                <a:gdLst/>
                <a:ahLst/>
                <a:cxnLst/>
                <a:rect l="0" t="0" r="0" b="0"/>
                <a:pathLst>
                  <a:path w="590550" h="590550">
                    <a:moveTo>
                      <a:pt x="590550" y="295275"/>
                    </a:moveTo>
                    <a:cubicBezTo>
                      <a:pt x="590550" y="458352"/>
                      <a:pt x="458352" y="590550"/>
                      <a:pt x="295275" y="590550"/>
                    </a:cubicBezTo>
                    <a:cubicBezTo>
                      <a:pt x="132197" y="590550"/>
                      <a:pt x="0" y="458352"/>
                      <a:pt x="0" y="295275"/>
                    </a:cubicBezTo>
                    <a:cubicBezTo>
                      <a:pt x="0" y="132197"/>
                      <a:pt x="132197" y="0"/>
                      <a:pt x="295275" y="0"/>
                    </a:cubicBezTo>
                    <a:cubicBezTo>
                      <a:pt x="458352" y="0"/>
                      <a:pt x="590550" y="132197"/>
                      <a:pt x="590550" y="295275"/>
                    </a:cubicBezTo>
                  </a:path>
                </a:pathLst>
              </a:custGeom>
              <a:gradFill rotWithShape="1">
                <a:gsLst>
                  <a:gs pos="0">
                    <a:srgbClr val="FFA1DA"/>
                  </a:gs>
                  <a:gs pos="100000">
                    <a:srgbClr val="F669BE"/>
                  </a:gs>
                </a:gsLst>
                <a:lin ang="5400000" scaled="1"/>
              </a:gradFill>
              <a:ln>
                <a:noFill/>
              </a:ln>
            </p:spPr>
            <p:txBody>
              <a:bodyPr rtlCol="0" anchor="ctr"/>
              <a:lstStyle/>
              <a:p>
                <a:pPr algn="ctr"/>
                <a:endParaRPr/>
              </a:p>
            </p:txBody>
          </p:sp>
          <p:sp>
            <p:nvSpPr>
              <p:cNvPr id="105" name="Rounded Rectangle 27">
                <a:extLst>
                  <a:ext uri="{FF2B5EF4-FFF2-40B4-BE49-F238E27FC236}">
                    <a16:creationId xmlns:a16="http://schemas.microsoft.com/office/drawing/2014/main" id="{AB100295-D2A8-36AD-13BC-B0F4FBAD6308}"/>
                  </a:ext>
                </a:extLst>
              </p:cNvPr>
              <p:cNvSpPr/>
              <p:nvPr/>
            </p:nvSpPr>
            <p:spPr>
              <a:xfrm>
                <a:off x="5431631" y="3750707"/>
                <a:ext cx="590550" cy="590550"/>
              </a:xfrm>
              <a:custGeom>
                <a:avLst/>
                <a:gdLst/>
                <a:ahLst/>
                <a:cxnLst/>
                <a:rect l="0" t="0" r="0" b="0"/>
                <a:pathLst>
                  <a:path w="590550" h="590550">
                    <a:moveTo>
                      <a:pt x="590550" y="295275"/>
                    </a:moveTo>
                    <a:cubicBezTo>
                      <a:pt x="590550" y="458350"/>
                      <a:pt x="458350" y="590550"/>
                      <a:pt x="295275" y="590550"/>
                    </a:cubicBezTo>
                    <a:cubicBezTo>
                      <a:pt x="132199" y="590550"/>
                      <a:pt x="0" y="458350"/>
                      <a:pt x="0" y="295275"/>
                    </a:cubicBezTo>
                    <a:cubicBezTo>
                      <a:pt x="0" y="132199"/>
                      <a:pt x="132199" y="0"/>
                      <a:pt x="295275" y="0"/>
                    </a:cubicBezTo>
                    <a:cubicBezTo>
                      <a:pt x="458350" y="0"/>
                      <a:pt x="590550" y="132199"/>
                      <a:pt x="590550" y="295275"/>
                    </a:cubicBezTo>
                    <a:close/>
                  </a:path>
                </a:pathLst>
              </a:custGeom>
              <a:noFill/>
              <a:ln w="14287">
                <a:solidFill>
                  <a:srgbClr val="484848"/>
                </a:solidFill>
              </a:ln>
            </p:spPr>
            <p:txBody>
              <a:bodyPr rtlCol="0" anchor="ctr"/>
              <a:lstStyle/>
              <a:p>
                <a:pPr algn="ctr"/>
                <a:endParaRPr/>
              </a:p>
            </p:txBody>
          </p:sp>
          <p:sp>
            <p:nvSpPr>
              <p:cNvPr id="106" name="Rounded Rectangle 28">
                <a:extLst>
                  <a:ext uri="{FF2B5EF4-FFF2-40B4-BE49-F238E27FC236}">
                    <a16:creationId xmlns:a16="http://schemas.microsoft.com/office/drawing/2014/main" id="{DCA23D7B-6CF8-5CAE-E70C-C530E39A3249}"/>
                  </a:ext>
                </a:extLst>
              </p:cNvPr>
              <p:cNvSpPr/>
              <p:nvPr/>
            </p:nvSpPr>
            <p:spPr>
              <a:xfrm>
                <a:off x="5698331" y="3550682"/>
                <a:ext cx="57150" cy="200025"/>
              </a:xfrm>
              <a:custGeom>
                <a:avLst/>
                <a:gdLst/>
                <a:ahLst/>
                <a:cxnLst/>
                <a:rect l="0" t="0" r="0" b="0"/>
                <a:pathLst>
                  <a:path w="57150" h="200025">
                    <a:moveTo>
                      <a:pt x="28575" y="200025"/>
                    </a:moveTo>
                    <a:lnTo>
                      <a:pt x="28575" y="57150"/>
                    </a:lnTo>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07" name="Rounded Rectangle 29">
                <a:extLst>
                  <a:ext uri="{FF2B5EF4-FFF2-40B4-BE49-F238E27FC236}">
                    <a16:creationId xmlns:a16="http://schemas.microsoft.com/office/drawing/2014/main" id="{75A4F644-AC8B-EBBE-DFFB-14818C753457}"/>
                  </a:ext>
                </a:extLst>
              </p:cNvPr>
              <p:cNvSpPr/>
              <p:nvPr/>
            </p:nvSpPr>
            <p:spPr>
              <a:xfrm>
                <a:off x="6003131" y="2817257"/>
                <a:ext cx="590550" cy="590550"/>
              </a:xfrm>
              <a:custGeom>
                <a:avLst/>
                <a:gdLst/>
                <a:ahLst/>
                <a:cxnLst/>
                <a:rect l="0" t="0" r="0" b="0"/>
                <a:pathLst>
                  <a:path w="590550" h="590550">
                    <a:moveTo>
                      <a:pt x="0" y="295275"/>
                    </a:moveTo>
                    <a:cubicBezTo>
                      <a:pt x="0" y="132197"/>
                      <a:pt x="132197" y="0"/>
                      <a:pt x="295275" y="0"/>
                    </a:cubicBezTo>
                    <a:cubicBezTo>
                      <a:pt x="458352" y="0"/>
                      <a:pt x="590550" y="132197"/>
                      <a:pt x="590550" y="295275"/>
                    </a:cubicBezTo>
                    <a:cubicBezTo>
                      <a:pt x="590550" y="458352"/>
                      <a:pt x="458352" y="590550"/>
                      <a:pt x="295275" y="590550"/>
                    </a:cubicBezTo>
                    <a:cubicBezTo>
                      <a:pt x="132197" y="590550"/>
                      <a:pt x="0" y="458352"/>
                      <a:pt x="0" y="295275"/>
                    </a:cubicBezTo>
                  </a:path>
                </a:pathLst>
              </a:custGeom>
              <a:gradFill rotWithShape="1">
                <a:gsLst>
                  <a:gs pos="0">
                    <a:srgbClr val="E4A9FF"/>
                  </a:gs>
                  <a:gs pos="100000">
                    <a:srgbClr val="CD6AFB"/>
                  </a:gs>
                </a:gsLst>
                <a:lin ang="5400000" scaled="1"/>
              </a:gradFill>
              <a:ln>
                <a:noFill/>
              </a:ln>
            </p:spPr>
            <p:txBody>
              <a:bodyPr rtlCol="0" anchor="ctr"/>
              <a:lstStyle/>
              <a:p>
                <a:pPr algn="ctr"/>
                <a:endParaRPr/>
              </a:p>
            </p:txBody>
          </p:sp>
          <p:sp>
            <p:nvSpPr>
              <p:cNvPr id="108" name="Rounded Rectangle 30">
                <a:extLst>
                  <a:ext uri="{FF2B5EF4-FFF2-40B4-BE49-F238E27FC236}">
                    <a16:creationId xmlns:a16="http://schemas.microsoft.com/office/drawing/2014/main" id="{B2C89910-73A7-4067-C6BF-DAA4DD60F8B9}"/>
                  </a:ext>
                </a:extLst>
              </p:cNvPr>
              <p:cNvSpPr/>
              <p:nvPr/>
            </p:nvSpPr>
            <p:spPr>
              <a:xfrm>
                <a:off x="6003131" y="2817257"/>
                <a:ext cx="590550" cy="590550"/>
              </a:xfrm>
              <a:custGeom>
                <a:avLst/>
                <a:gdLst/>
                <a:ahLst/>
                <a:cxnLst/>
                <a:rect l="0" t="0" r="0" b="0"/>
                <a:pathLst>
                  <a:path w="590550" h="590550">
                    <a:moveTo>
                      <a:pt x="0" y="295275"/>
                    </a:moveTo>
                    <a:cubicBezTo>
                      <a:pt x="0" y="132199"/>
                      <a:pt x="132199" y="0"/>
                      <a:pt x="295275" y="0"/>
                    </a:cubicBezTo>
                    <a:cubicBezTo>
                      <a:pt x="458350" y="0"/>
                      <a:pt x="590550" y="132199"/>
                      <a:pt x="590550" y="295275"/>
                    </a:cubicBezTo>
                    <a:cubicBezTo>
                      <a:pt x="590550" y="458350"/>
                      <a:pt x="458350" y="590550"/>
                      <a:pt x="295275" y="590550"/>
                    </a:cubicBezTo>
                    <a:cubicBezTo>
                      <a:pt x="132199" y="590550"/>
                      <a:pt x="0" y="458350"/>
                      <a:pt x="0" y="295275"/>
                    </a:cubicBezTo>
                    <a:close/>
                  </a:path>
                </a:pathLst>
              </a:custGeom>
              <a:noFill/>
              <a:ln w="14287">
                <a:solidFill>
                  <a:srgbClr val="484848"/>
                </a:solidFill>
              </a:ln>
            </p:spPr>
            <p:txBody>
              <a:bodyPr rtlCol="0" anchor="ctr"/>
              <a:lstStyle/>
              <a:p>
                <a:pPr algn="ctr"/>
                <a:endParaRPr/>
              </a:p>
            </p:txBody>
          </p:sp>
          <p:sp>
            <p:nvSpPr>
              <p:cNvPr id="109" name="Rounded Rectangle 31">
                <a:extLst>
                  <a:ext uri="{FF2B5EF4-FFF2-40B4-BE49-F238E27FC236}">
                    <a16:creationId xmlns:a16="http://schemas.microsoft.com/office/drawing/2014/main" id="{8F1BAD20-13EA-2485-DDA2-4022DA7F48AC}"/>
                  </a:ext>
                </a:extLst>
              </p:cNvPr>
              <p:cNvSpPr/>
              <p:nvPr/>
            </p:nvSpPr>
            <p:spPr>
              <a:xfrm>
                <a:off x="6269831" y="3407807"/>
                <a:ext cx="57150" cy="200025"/>
              </a:xfrm>
              <a:custGeom>
                <a:avLst/>
                <a:gdLst/>
                <a:ahLst/>
                <a:cxnLst/>
                <a:rect l="0" t="0" r="0" b="0"/>
                <a:pathLst>
                  <a:path w="57150" h="200025">
                    <a:moveTo>
                      <a:pt x="28575" y="0"/>
                    </a:moveTo>
                    <a:lnTo>
                      <a:pt x="28575" y="142875"/>
                    </a:lnTo>
                    <a:moveTo>
                      <a:pt x="57150" y="171450"/>
                    </a:moveTo>
                    <a:cubicBezTo>
                      <a:pt x="57150" y="187231"/>
                      <a:pt x="44356" y="200025"/>
                      <a:pt x="28575" y="200025"/>
                    </a:cubicBezTo>
                    <a:cubicBezTo>
                      <a:pt x="12793" y="200025"/>
                      <a:pt x="0" y="187231"/>
                      <a:pt x="0" y="171450"/>
                    </a:cubicBezTo>
                    <a:cubicBezTo>
                      <a:pt x="0" y="155668"/>
                      <a:pt x="12793" y="142875"/>
                      <a:pt x="28575" y="142875"/>
                    </a:cubicBezTo>
                    <a:cubicBezTo>
                      <a:pt x="44356" y="142875"/>
                      <a:pt x="57150" y="155668"/>
                      <a:pt x="57150" y="171450"/>
                    </a:cubicBezTo>
                    <a:close/>
                  </a:path>
                </a:pathLst>
              </a:custGeom>
              <a:noFill/>
              <a:ln w="14287">
                <a:solidFill>
                  <a:srgbClr val="484848"/>
                </a:solidFill>
              </a:ln>
            </p:spPr>
            <p:txBody>
              <a:bodyPr rtlCol="0" anchor="ctr"/>
              <a:lstStyle/>
              <a:p>
                <a:pPr algn="ctr"/>
                <a:endParaRPr/>
              </a:p>
            </p:txBody>
          </p:sp>
          <p:sp>
            <p:nvSpPr>
              <p:cNvPr id="110" name="Rounded Rectangle 32">
                <a:extLst>
                  <a:ext uri="{FF2B5EF4-FFF2-40B4-BE49-F238E27FC236}">
                    <a16:creationId xmlns:a16="http://schemas.microsoft.com/office/drawing/2014/main" id="{DA419BB9-167B-EAF7-B845-4E89B76CEED8}"/>
                  </a:ext>
                </a:extLst>
              </p:cNvPr>
              <p:cNvSpPr/>
              <p:nvPr/>
            </p:nvSpPr>
            <p:spPr>
              <a:xfrm>
                <a:off x="6574631" y="3750707"/>
                <a:ext cx="590550" cy="590550"/>
              </a:xfrm>
              <a:custGeom>
                <a:avLst/>
                <a:gdLst/>
                <a:ahLst/>
                <a:cxnLst/>
                <a:rect l="0" t="0" r="0" b="0"/>
                <a:pathLst>
                  <a:path w="590550" h="590550">
                    <a:moveTo>
                      <a:pt x="590550" y="295275"/>
                    </a:moveTo>
                    <a:cubicBezTo>
                      <a:pt x="590550" y="458352"/>
                      <a:pt x="458352" y="590550"/>
                      <a:pt x="295275" y="590550"/>
                    </a:cubicBezTo>
                    <a:cubicBezTo>
                      <a:pt x="132197" y="590550"/>
                      <a:pt x="0" y="458352"/>
                      <a:pt x="0" y="295275"/>
                    </a:cubicBezTo>
                    <a:cubicBezTo>
                      <a:pt x="0" y="132197"/>
                      <a:pt x="132197" y="0"/>
                      <a:pt x="295275" y="0"/>
                    </a:cubicBezTo>
                    <a:cubicBezTo>
                      <a:pt x="458352" y="0"/>
                      <a:pt x="590550" y="132197"/>
                      <a:pt x="590550" y="295275"/>
                    </a:cubicBezTo>
                  </a:path>
                </a:pathLst>
              </a:custGeom>
              <a:gradFill rotWithShape="1">
                <a:gsLst>
                  <a:gs pos="0">
                    <a:srgbClr val="BCABFF"/>
                  </a:gs>
                  <a:gs pos="100000">
                    <a:srgbClr val="886AFF"/>
                  </a:gs>
                </a:gsLst>
                <a:lin ang="5400000" scaled="1"/>
              </a:gradFill>
              <a:ln>
                <a:noFill/>
              </a:ln>
            </p:spPr>
            <p:txBody>
              <a:bodyPr rtlCol="0" anchor="ctr"/>
              <a:lstStyle/>
              <a:p>
                <a:pPr algn="ctr"/>
                <a:endParaRPr/>
              </a:p>
            </p:txBody>
          </p:sp>
          <p:sp>
            <p:nvSpPr>
              <p:cNvPr id="111" name="Rounded Rectangle 33">
                <a:extLst>
                  <a:ext uri="{FF2B5EF4-FFF2-40B4-BE49-F238E27FC236}">
                    <a16:creationId xmlns:a16="http://schemas.microsoft.com/office/drawing/2014/main" id="{95F86000-AE61-A863-6E8B-DF6FC078C51C}"/>
                  </a:ext>
                </a:extLst>
              </p:cNvPr>
              <p:cNvSpPr/>
              <p:nvPr/>
            </p:nvSpPr>
            <p:spPr>
              <a:xfrm>
                <a:off x="6574631" y="3750707"/>
                <a:ext cx="590550" cy="590550"/>
              </a:xfrm>
              <a:custGeom>
                <a:avLst/>
                <a:gdLst/>
                <a:ahLst/>
                <a:cxnLst/>
                <a:rect l="0" t="0" r="0" b="0"/>
                <a:pathLst>
                  <a:path w="590550" h="590550">
                    <a:moveTo>
                      <a:pt x="590550" y="295275"/>
                    </a:moveTo>
                    <a:cubicBezTo>
                      <a:pt x="590550" y="458350"/>
                      <a:pt x="458350" y="590550"/>
                      <a:pt x="295275" y="590550"/>
                    </a:cubicBezTo>
                    <a:cubicBezTo>
                      <a:pt x="132199" y="590550"/>
                      <a:pt x="0" y="458350"/>
                      <a:pt x="0" y="295275"/>
                    </a:cubicBezTo>
                    <a:cubicBezTo>
                      <a:pt x="0" y="132199"/>
                      <a:pt x="132199" y="0"/>
                      <a:pt x="295275" y="0"/>
                    </a:cubicBezTo>
                    <a:cubicBezTo>
                      <a:pt x="458350" y="0"/>
                      <a:pt x="590550" y="132199"/>
                      <a:pt x="590550" y="295275"/>
                    </a:cubicBezTo>
                    <a:close/>
                  </a:path>
                </a:pathLst>
              </a:custGeom>
              <a:noFill/>
              <a:ln w="14287">
                <a:solidFill>
                  <a:srgbClr val="484848"/>
                </a:solidFill>
              </a:ln>
            </p:spPr>
            <p:txBody>
              <a:bodyPr rtlCol="0" anchor="ctr"/>
              <a:lstStyle/>
              <a:p>
                <a:pPr algn="ctr"/>
                <a:endParaRPr/>
              </a:p>
            </p:txBody>
          </p:sp>
          <p:sp>
            <p:nvSpPr>
              <p:cNvPr id="112" name="Rounded Rectangle 34">
                <a:extLst>
                  <a:ext uri="{FF2B5EF4-FFF2-40B4-BE49-F238E27FC236}">
                    <a16:creationId xmlns:a16="http://schemas.microsoft.com/office/drawing/2014/main" id="{D5C9E887-BC21-2C50-F924-058F8367673D}"/>
                  </a:ext>
                </a:extLst>
              </p:cNvPr>
              <p:cNvSpPr/>
              <p:nvPr/>
            </p:nvSpPr>
            <p:spPr>
              <a:xfrm>
                <a:off x="6850856" y="3550682"/>
                <a:ext cx="57150" cy="200025"/>
              </a:xfrm>
              <a:custGeom>
                <a:avLst/>
                <a:gdLst/>
                <a:ahLst/>
                <a:cxnLst/>
                <a:rect l="0" t="0" r="0" b="0"/>
                <a:pathLst>
                  <a:path w="57150" h="200025">
                    <a:moveTo>
                      <a:pt x="28575" y="200025"/>
                    </a:moveTo>
                    <a:lnTo>
                      <a:pt x="28575" y="57150"/>
                    </a:lnTo>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13" name="Rounded Rectangle 35">
                <a:extLst>
                  <a:ext uri="{FF2B5EF4-FFF2-40B4-BE49-F238E27FC236}">
                    <a16:creationId xmlns:a16="http://schemas.microsoft.com/office/drawing/2014/main" id="{6192FFAB-D0FE-05CC-A681-D42022FADE3C}"/>
                  </a:ext>
                </a:extLst>
              </p:cNvPr>
              <p:cNvSpPr/>
              <p:nvPr/>
            </p:nvSpPr>
            <p:spPr>
              <a:xfrm>
                <a:off x="7146131" y="2817257"/>
                <a:ext cx="590550" cy="590550"/>
              </a:xfrm>
              <a:custGeom>
                <a:avLst/>
                <a:gdLst/>
                <a:ahLst/>
                <a:cxnLst/>
                <a:rect l="0" t="0" r="0" b="0"/>
                <a:pathLst>
                  <a:path w="590550" h="590550">
                    <a:moveTo>
                      <a:pt x="0" y="295275"/>
                    </a:moveTo>
                    <a:cubicBezTo>
                      <a:pt x="0" y="132197"/>
                      <a:pt x="132197" y="0"/>
                      <a:pt x="295275" y="0"/>
                    </a:cubicBezTo>
                    <a:cubicBezTo>
                      <a:pt x="458352" y="0"/>
                      <a:pt x="590550" y="132197"/>
                      <a:pt x="590550" y="295275"/>
                    </a:cubicBezTo>
                    <a:cubicBezTo>
                      <a:pt x="590550" y="458352"/>
                      <a:pt x="458352" y="590550"/>
                      <a:pt x="295275" y="590550"/>
                    </a:cubicBezTo>
                    <a:cubicBezTo>
                      <a:pt x="132197" y="590550"/>
                      <a:pt x="0" y="458352"/>
                      <a:pt x="0" y="295275"/>
                    </a:cubicBezTo>
                  </a:path>
                </a:pathLst>
              </a:custGeom>
              <a:gradFill rotWithShape="1">
                <a:gsLst>
                  <a:gs pos="0">
                    <a:srgbClr val="C8C8C8"/>
                  </a:gs>
                  <a:gs pos="100000">
                    <a:srgbClr val="A3A3A3"/>
                  </a:gs>
                </a:gsLst>
                <a:lin ang="5400000" scaled="1"/>
              </a:gradFill>
              <a:ln>
                <a:noFill/>
              </a:ln>
            </p:spPr>
            <p:txBody>
              <a:bodyPr rtlCol="0" anchor="ctr"/>
              <a:lstStyle/>
              <a:p>
                <a:pPr algn="ctr"/>
                <a:endParaRPr/>
              </a:p>
            </p:txBody>
          </p:sp>
          <p:sp>
            <p:nvSpPr>
              <p:cNvPr id="114" name="Rounded Rectangle 36">
                <a:extLst>
                  <a:ext uri="{FF2B5EF4-FFF2-40B4-BE49-F238E27FC236}">
                    <a16:creationId xmlns:a16="http://schemas.microsoft.com/office/drawing/2014/main" id="{A9A7BA24-207A-B100-5AD3-47BE871CA9EC}"/>
                  </a:ext>
                </a:extLst>
              </p:cNvPr>
              <p:cNvSpPr/>
              <p:nvPr/>
            </p:nvSpPr>
            <p:spPr>
              <a:xfrm>
                <a:off x="7146131" y="2817257"/>
                <a:ext cx="590550" cy="590550"/>
              </a:xfrm>
              <a:custGeom>
                <a:avLst/>
                <a:gdLst/>
                <a:ahLst/>
                <a:cxnLst/>
                <a:rect l="0" t="0" r="0" b="0"/>
                <a:pathLst>
                  <a:path w="590550" h="590550">
                    <a:moveTo>
                      <a:pt x="0" y="295275"/>
                    </a:moveTo>
                    <a:cubicBezTo>
                      <a:pt x="0" y="132199"/>
                      <a:pt x="132199" y="0"/>
                      <a:pt x="295275" y="0"/>
                    </a:cubicBezTo>
                    <a:cubicBezTo>
                      <a:pt x="458350" y="0"/>
                      <a:pt x="590550" y="132199"/>
                      <a:pt x="590550" y="295275"/>
                    </a:cubicBezTo>
                    <a:cubicBezTo>
                      <a:pt x="590550" y="458350"/>
                      <a:pt x="458350" y="590550"/>
                      <a:pt x="295275" y="590550"/>
                    </a:cubicBezTo>
                    <a:cubicBezTo>
                      <a:pt x="132199" y="590550"/>
                      <a:pt x="0" y="458350"/>
                      <a:pt x="0" y="295275"/>
                    </a:cubicBezTo>
                    <a:close/>
                  </a:path>
                </a:pathLst>
              </a:custGeom>
              <a:noFill/>
              <a:ln w="14287">
                <a:solidFill>
                  <a:srgbClr val="484848"/>
                </a:solidFill>
              </a:ln>
            </p:spPr>
            <p:txBody>
              <a:bodyPr rtlCol="0" anchor="ctr"/>
              <a:lstStyle/>
              <a:p>
                <a:pPr algn="ctr"/>
                <a:endParaRPr/>
              </a:p>
            </p:txBody>
          </p:sp>
          <p:sp>
            <p:nvSpPr>
              <p:cNvPr id="115" name="Rounded Rectangle 37">
                <a:extLst>
                  <a:ext uri="{FF2B5EF4-FFF2-40B4-BE49-F238E27FC236}">
                    <a16:creationId xmlns:a16="http://schemas.microsoft.com/office/drawing/2014/main" id="{176D3363-3627-9FE3-6F13-89961F8351F4}"/>
                  </a:ext>
                </a:extLst>
              </p:cNvPr>
              <p:cNvSpPr/>
              <p:nvPr/>
            </p:nvSpPr>
            <p:spPr>
              <a:xfrm>
                <a:off x="7412831" y="3407807"/>
                <a:ext cx="57150" cy="200025"/>
              </a:xfrm>
              <a:custGeom>
                <a:avLst/>
                <a:gdLst/>
                <a:ahLst/>
                <a:cxnLst/>
                <a:rect l="0" t="0" r="0" b="0"/>
                <a:pathLst>
                  <a:path w="57150" h="200025">
                    <a:moveTo>
                      <a:pt x="28575" y="0"/>
                    </a:moveTo>
                    <a:lnTo>
                      <a:pt x="28575" y="142875"/>
                    </a:lnTo>
                    <a:moveTo>
                      <a:pt x="57150" y="171450"/>
                    </a:moveTo>
                    <a:cubicBezTo>
                      <a:pt x="57150" y="187231"/>
                      <a:pt x="44356" y="200025"/>
                      <a:pt x="28575" y="200025"/>
                    </a:cubicBezTo>
                    <a:cubicBezTo>
                      <a:pt x="12793" y="200025"/>
                      <a:pt x="0" y="187231"/>
                      <a:pt x="0" y="171450"/>
                    </a:cubicBezTo>
                    <a:cubicBezTo>
                      <a:pt x="0" y="155668"/>
                      <a:pt x="12793" y="142875"/>
                      <a:pt x="28575" y="142875"/>
                    </a:cubicBezTo>
                    <a:cubicBezTo>
                      <a:pt x="44356" y="142875"/>
                      <a:pt x="57150" y="155668"/>
                      <a:pt x="57150" y="171450"/>
                    </a:cubicBezTo>
                    <a:close/>
                  </a:path>
                </a:pathLst>
              </a:custGeom>
              <a:noFill/>
              <a:ln w="14287">
                <a:solidFill>
                  <a:srgbClr val="484848"/>
                </a:solidFill>
              </a:ln>
            </p:spPr>
            <p:txBody>
              <a:bodyPr rtlCol="0" anchor="ctr"/>
              <a:lstStyle/>
              <a:p>
                <a:pPr algn="ctr"/>
                <a:endParaRPr/>
              </a:p>
            </p:txBody>
          </p:sp>
          <p:sp>
            <p:nvSpPr>
              <p:cNvPr id="118" name="Rounded Rectangle 38">
                <a:extLst>
                  <a:ext uri="{FF2B5EF4-FFF2-40B4-BE49-F238E27FC236}">
                    <a16:creationId xmlns:a16="http://schemas.microsoft.com/office/drawing/2014/main" id="{2DA7E2BC-26BB-2A0B-83A8-9F9B0DC7AC4B}"/>
                  </a:ext>
                </a:extLst>
              </p:cNvPr>
              <p:cNvSpPr/>
              <p:nvPr/>
            </p:nvSpPr>
            <p:spPr>
              <a:xfrm>
                <a:off x="7280314" y="2961322"/>
                <a:ext cx="322183" cy="321468"/>
              </a:xfrm>
              <a:custGeom>
                <a:avLst/>
                <a:gdLst/>
                <a:ahLst/>
                <a:cxnLst/>
                <a:rect l="0" t="0" r="0" b="0"/>
                <a:pathLst>
                  <a:path w="322183" h="321468">
                    <a:moveTo>
                      <a:pt x="200025" y="212883"/>
                    </a:moveTo>
                    <a:cubicBezTo>
                      <a:pt x="210026" y="227171"/>
                      <a:pt x="215741" y="244316"/>
                      <a:pt x="215741" y="264318"/>
                    </a:cubicBezTo>
                    <a:lnTo>
                      <a:pt x="215741" y="278606"/>
                    </a:lnTo>
                    <a:moveTo>
                      <a:pt x="142875" y="205739"/>
                    </a:moveTo>
                    <a:lnTo>
                      <a:pt x="142875" y="278606"/>
                    </a:lnTo>
                    <a:moveTo>
                      <a:pt x="100012" y="278606"/>
                    </a:moveTo>
                    <a:lnTo>
                      <a:pt x="100012" y="164306"/>
                    </a:lnTo>
                    <a:cubicBezTo>
                      <a:pt x="100012" y="155733"/>
                      <a:pt x="105727" y="150018"/>
                      <a:pt x="114300" y="150018"/>
                    </a:cubicBezTo>
                    <a:moveTo>
                      <a:pt x="242887" y="307181"/>
                    </a:moveTo>
                    <a:cubicBezTo>
                      <a:pt x="242887" y="315753"/>
                      <a:pt x="237172" y="321468"/>
                      <a:pt x="228600" y="321468"/>
                    </a:cubicBezTo>
                    <a:lnTo>
                      <a:pt x="14287" y="321468"/>
                    </a:lnTo>
                    <a:cubicBezTo>
                      <a:pt x="5715" y="321468"/>
                      <a:pt x="0" y="315753"/>
                      <a:pt x="0" y="307181"/>
                    </a:cubicBezTo>
                    <a:lnTo>
                      <a:pt x="0" y="292893"/>
                    </a:lnTo>
                    <a:cubicBezTo>
                      <a:pt x="0" y="284321"/>
                      <a:pt x="5715" y="278606"/>
                      <a:pt x="14287" y="278606"/>
                    </a:cubicBezTo>
                    <a:lnTo>
                      <a:pt x="228600" y="278606"/>
                    </a:lnTo>
                    <a:cubicBezTo>
                      <a:pt x="237172" y="278606"/>
                      <a:pt x="242887" y="284321"/>
                      <a:pt x="242887" y="292893"/>
                    </a:cubicBezTo>
                    <a:close/>
                    <a:moveTo>
                      <a:pt x="100012" y="174307"/>
                    </a:moveTo>
                    <a:cubicBezTo>
                      <a:pt x="58578" y="184308"/>
                      <a:pt x="28575" y="221456"/>
                      <a:pt x="28575" y="264318"/>
                    </a:cubicBezTo>
                    <a:lnTo>
                      <a:pt x="28575" y="278606"/>
                    </a:lnTo>
                    <a:moveTo>
                      <a:pt x="236458" y="131444"/>
                    </a:moveTo>
                    <a:cubicBezTo>
                      <a:pt x="233302" y="131444"/>
                      <a:pt x="230743" y="128886"/>
                      <a:pt x="230743" y="125729"/>
                    </a:cubicBezTo>
                    <a:cubicBezTo>
                      <a:pt x="230743" y="122573"/>
                      <a:pt x="233302" y="120014"/>
                      <a:pt x="236458" y="120014"/>
                    </a:cubicBezTo>
                    <a:moveTo>
                      <a:pt x="236458" y="120014"/>
                    </a:moveTo>
                    <a:cubicBezTo>
                      <a:pt x="239614" y="120014"/>
                      <a:pt x="242173" y="122573"/>
                      <a:pt x="242173" y="125729"/>
                    </a:cubicBezTo>
                    <a:cubicBezTo>
                      <a:pt x="242173" y="128886"/>
                      <a:pt x="239614" y="131444"/>
                      <a:pt x="236458" y="131444"/>
                    </a:cubicBezTo>
                    <a:moveTo>
                      <a:pt x="236458" y="61436"/>
                    </a:moveTo>
                    <a:lnTo>
                      <a:pt x="236458" y="82867"/>
                    </a:lnTo>
                    <a:moveTo>
                      <a:pt x="247888" y="7143"/>
                    </a:moveTo>
                    <a:cubicBezTo>
                      <a:pt x="245030" y="2857"/>
                      <a:pt x="240744" y="0"/>
                      <a:pt x="236458" y="0"/>
                    </a:cubicBezTo>
                    <a:cubicBezTo>
                      <a:pt x="230743" y="0"/>
                      <a:pt x="226457" y="2857"/>
                      <a:pt x="225028" y="7143"/>
                    </a:cubicBezTo>
                    <a:lnTo>
                      <a:pt x="152162" y="144303"/>
                    </a:lnTo>
                    <a:cubicBezTo>
                      <a:pt x="149304" y="148589"/>
                      <a:pt x="150733" y="152876"/>
                      <a:pt x="152162" y="157162"/>
                    </a:cubicBezTo>
                    <a:cubicBezTo>
                      <a:pt x="155019" y="161448"/>
                      <a:pt x="159305" y="162877"/>
                      <a:pt x="163592" y="162877"/>
                    </a:cubicBezTo>
                    <a:lnTo>
                      <a:pt x="307895" y="162877"/>
                    </a:lnTo>
                    <a:cubicBezTo>
                      <a:pt x="312182" y="162877"/>
                      <a:pt x="316468" y="160019"/>
                      <a:pt x="319325" y="157162"/>
                    </a:cubicBezTo>
                    <a:cubicBezTo>
                      <a:pt x="322183" y="152876"/>
                      <a:pt x="322183" y="148589"/>
                      <a:pt x="319325" y="144303"/>
                    </a:cubicBezTo>
                    <a:close/>
                  </a:path>
                </a:pathLst>
              </a:custGeom>
              <a:noFill/>
              <a:ln w="14287">
                <a:solidFill>
                  <a:srgbClr val="484848"/>
                </a:solidFill>
              </a:ln>
            </p:spPr>
            <p:txBody>
              <a:bodyPr rtlCol="0" anchor="ctr"/>
              <a:lstStyle/>
              <a:p>
                <a:pPr algn="ctr"/>
                <a:endParaRPr/>
              </a:p>
            </p:txBody>
          </p:sp>
          <p:sp>
            <p:nvSpPr>
              <p:cNvPr id="119" name="Rounded Rectangle 39">
                <a:extLst>
                  <a:ext uri="{FF2B5EF4-FFF2-40B4-BE49-F238E27FC236}">
                    <a16:creationId xmlns:a16="http://schemas.microsoft.com/office/drawing/2014/main" id="{491792DE-7023-0CCF-47E7-4207583019CB}"/>
                  </a:ext>
                </a:extLst>
              </p:cNvPr>
              <p:cNvSpPr/>
              <p:nvPr/>
            </p:nvSpPr>
            <p:spPr>
              <a:xfrm>
                <a:off x="6134328" y="2957750"/>
                <a:ext cx="328155" cy="328612"/>
              </a:xfrm>
              <a:custGeom>
                <a:avLst/>
                <a:gdLst/>
                <a:ahLst/>
                <a:cxnLst/>
                <a:rect l="0" t="0" r="0" b="0"/>
                <a:pathLst>
                  <a:path w="328155" h="328612">
                    <a:moveTo>
                      <a:pt x="122986" y="240958"/>
                    </a:moveTo>
                    <a:lnTo>
                      <a:pt x="29217" y="240958"/>
                    </a:lnTo>
                    <a:cubicBezTo>
                      <a:pt x="13086" y="240958"/>
                      <a:pt x="7" y="227886"/>
                      <a:pt x="0" y="211755"/>
                    </a:cubicBezTo>
                    <a:lnTo>
                      <a:pt x="0" y="29203"/>
                    </a:lnTo>
                    <a:cubicBezTo>
                      <a:pt x="7" y="13072"/>
                      <a:pt x="13086" y="0"/>
                      <a:pt x="29217" y="0"/>
                    </a:cubicBezTo>
                    <a:lnTo>
                      <a:pt x="248273" y="0"/>
                    </a:lnTo>
                    <a:cubicBezTo>
                      <a:pt x="264402" y="0"/>
                      <a:pt x="277477" y="13074"/>
                      <a:pt x="277477" y="29203"/>
                    </a:cubicBezTo>
                    <a:lnTo>
                      <a:pt x="277477" y="124129"/>
                    </a:lnTo>
                    <a:moveTo>
                      <a:pt x="0" y="57035"/>
                    </a:moveTo>
                    <a:lnTo>
                      <a:pt x="277477" y="57035"/>
                    </a:lnTo>
                    <a:moveTo>
                      <a:pt x="0" y="178236"/>
                    </a:moveTo>
                    <a:lnTo>
                      <a:pt x="134716" y="178236"/>
                    </a:lnTo>
                    <a:moveTo>
                      <a:pt x="0" y="117729"/>
                    </a:moveTo>
                    <a:lnTo>
                      <a:pt x="277477" y="117729"/>
                    </a:lnTo>
                    <a:moveTo>
                      <a:pt x="113342" y="57035"/>
                    </a:moveTo>
                    <a:lnTo>
                      <a:pt x="113342" y="240958"/>
                    </a:lnTo>
                    <a:moveTo>
                      <a:pt x="194595" y="57035"/>
                    </a:moveTo>
                    <a:lnTo>
                      <a:pt x="194595" y="124129"/>
                    </a:lnTo>
                    <a:moveTo>
                      <a:pt x="240530" y="328612"/>
                    </a:moveTo>
                    <a:cubicBezTo>
                      <a:pt x="288924" y="328612"/>
                      <a:pt x="328155" y="289381"/>
                      <a:pt x="328155" y="240987"/>
                    </a:cubicBezTo>
                    <a:cubicBezTo>
                      <a:pt x="328155" y="192593"/>
                      <a:pt x="288924" y="153362"/>
                      <a:pt x="240530" y="153362"/>
                    </a:cubicBezTo>
                    <a:cubicBezTo>
                      <a:pt x="192135" y="153362"/>
                      <a:pt x="152904" y="192593"/>
                      <a:pt x="152904" y="240987"/>
                    </a:cubicBezTo>
                    <a:cubicBezTo>
                      <a:pt x="152904" y="289381"/>
                      <a:pt x="192135" y="328612"/>
                      <a:pt x="240530" y="328612"/>
                    </a:cubicBezTo>
                    <a:close/>
                    <a:moveTo>
                      <a:pt x="278006" y="215584"/>
                    </a:moveTo>
                    <a:lnTo>
                      <a:pt x="237286" y="272148"/>
                    </a:lnTo>
                    <a:cubicBezTo>
                      <a:pt x="235498" y="274662"/>
                      <a:pt x="232690" y="276258"/>
                      <a:pt x="229614" y="276506"/>
                    </a:cubicBezTo>
                    <a:cubicBezTo>
                      <a:pt x="226546" y="276721"/>
                      <a:pt x="223543" y="275552"/>
                      <a:pt x="221427" y="273319"/>
                    </a:cubicBezTo>
                    <a:lnTo>
                      <a:pt x="200396" y="251460"/>
                    </a:lnTo>
                  </a:path>
                </a:pathLst>
              </a:custGeom>
              <a:noFill/>
              <a:ln w="14287">
                <a:solidFill>
                  <a:srgbClr val="484848"/>
                </a:solidFill>
              </a:ln>
            </p:spPr>
            <p:txBody>
              <a:bodyPr rtlCol="0" anchor="ctr"/>
              <a:lstStyle/>
              <a:p>
                <a:pPr algn="ctr"/>
                <a:endParaRPr/>
              </a:p>
            </p:txBody>
          </p:sp>
          <p:sp>
            <p:nvSpPr>
              <p:cNvPr id="120" name="Rounded Rectangle 40">
                <a:extLst>
                  <a:ext uri="{FF2B5EF4-FFF2-40B4-BE49-F238E27FC236}">
                    <a16:creationId xmlns:a16="http://schemas.microsoft.com/office/drawing/2014/main" id="{A33F9E64-A171-D5E7-241C-449727250206}"/>
                  </a:ext>
                </a:extLst>
              </p:cNvPr>
              <p:cNvSpPr/>
              <p:nvPr/>
            </p:nvSpPr>
            <p:spPr>
              <a:xfrm>
                <a:off x="4998243" y="2964894"/>
                <a:ext cx="314325" cy="314325"/>
              </a:xfrm>
              <a:custGeom>
                <a:avLst/>
                <a:gdLst/>
                <a:ahLst/>
                <a:cxnLst/>
                <a:rect l="0" t="0" r="0" b="0"/>
                <a:pathLst>
                  <a:path w="314325" h="314325">
                    <a:moveTo>
                      <a:pt x="0" y="271462"/>
                    </a:moveTo>
                    <a:cubicBezTo>
                      <a:pt x="0" y="295134"/>
                      <a:pt x="19190" y="314325"/>
                      <a:pt x="42862" y="314325"/>
                    </a:cubicBezTo>
                    <a:cubicBezTo>
                      <a:pt x="66534" y="314325"/>
                      <a:pt x="85725" y="295134"/>
                      <a:pt x="85725" y="271462"/>
                    </a:cubicBezTo>
                    <a:cubicBezTo>
                      <a:pt x="85725" y="247790"/>
                      <a:pt x="66534" y="228600"/>
                      <a:pt x="42862" y="228600"/>
                    </a:cubicBezTo>
                    <a:cubicBezTo>
                      <a:pt x="19190" y="228600"/>
                      <a:pt x="0" y="247790"/>
                      <a:pt x="0" y="271462"/>
                    </a:cubicBezTo>
                    <a:moveTo>
                      <a:pt x="114300" y="228600"/>
                    </a:moveTo>
                    <a:lnTo>
                      <a:pt x="200025" y="228600"/>
                    </a:lnTo>
                    <a:lnTo>
                      <a:pt x="200025" y="314325"/>
                    </a:lnTo>
                    <a:lnTo>
                      <a:pt x="114300" y="314325"/>
                    </a:lnTo>
                    <a:close/>
                    <a:moveTo>
                      <a:pt x="271462" y="228600"/>
                    </a:moveTo>
                    <a:lnTo>
                      <a:pt x="228600" y="314325"/>
                    </a:lnTo>
                    <a:lnTo>
                      <a:pt x="314325" y="314325"/>
                    </a:lnTo>
                    <a:lnTo>
                      <a:pt x="271462" y="228600"/>
                    </a:lnTo>
                    <a:close/>
                    <a:moveTo>
                      <a:pt x="178593" y="157162"/>
                    </a:moveTo>
                    <a:lnTo>
                      <a:pt x="135731" y="157162"/>
                    </a:lnTo>
                    <a:moveTo>
                      <a:pt x="200025" y="78581"/>
                    </a:moveTo>
                    <a:cubicBezTo>
                      <a:pt x="199353" y="55192"/>
                      <a:pt x="180550" y="36390"/>
                      <a:pt x="157162" y="35718"/>
                    </a:cubicBezTo>
                    <a:cubicBezTo>
                      <a:pt x="133774" y="36390"/>
                      <a:pt x="114971" y="55192"/>
                      <a:pt x="114299" y="78581"/>
                    </a:cubicBezTo>
                    <a:cubicBezTo>
                      <a:pt x="114621" y="93440"/>
                      <a:pt x="122771" y="107023"/>
                      <a:pt x="135731" y="114300"/>
                    </a:cubicBezTo>
                    <a:lnTo>
                      <a:pt x="135731" y="128587"/>
                    </a:lnTo>
                    <a:lnTo>
                      <a:pt x="178593" y="128587"/>
                    </a:lnTo>
                    <a:lnTo>
                      <a:pt x="178593" y="114300"/>
                    </a:lnTo>
                    <a:cubicBezTo>
                      <a:pt x="191553" y="107023"/>
                      <a:pt x="199703" y="93440"/>
                      <a:pt x="200025" y="78581"/>
                    </a:cubicBezTo>
                    <a:close/>
                    <a:moveTo>
                      <a:pt x="42862" y="228600"/>
                    </a:moveTo>
                    <a:lnTo>
                      <a:pt x="42862" y="192881"/>
                    </a:lnTo>
                    <a:cubicBezTo>
                      <a:pt x="42862" y="188935"/>
                      <a:pt x="46060" y="185737"/>
                      <a:pt x="50006" y="185737"/>
                    </a:cubicBezTo>
                    <a:lnTo>
                      <a:pt x="264318" y="185737"/>
                    </a:lnTo>
                    <a:cubicBezTo>
                      <a:pt x="268264" y="185737"/>
                      <a:pt x="271462" y="188935"/>
                      <a:pt x="271462" y="192881"/>
                    </a:cubicBezTo>
                    <a:lnTo>
                      <a:pt x="271462" y="228600"/>
                    </a:lnTo>
                    <a:moveTo>
                      <a:pt x="157162" y="157162"/>
                    </a:moveTo>
                    <a:lnTo>
                      <a:pt x="157162" y="228600"/>
                    </a:lnTo>
                    <a:moveTo>
                      <a:pt x="157162" y="0"/>
                    </a:moveTo>
                    <a:lnTo>
                      <a:pt x="157162" y="14287"/>
                    </a:lnTo>
                    <a:moveTo>
                      <a:pt x="212740" y="23002"/>
                    </a:moveTo>
                    <a:lnTo>
                      <a:pt x="202596" y="33146"/>
                    </a:lnTo>
                    <a:moveTo>
                      <a:pt x="235743" y="71437"/>
                    </a:moveTo>
                    <a:lnTo>
                      <a:pt x="221456" y="71437"/>
                    </a:lnTo>
                    <a:moveTo>
                      <a:pt x="101584" y="23002"/>
                    </a:moveTo>
                    <a:lnTo>
                      <a:pt x="111728" y="33146"/>
                    </a:lnTo>
                    <a:moveTo>
                      <a:pt x="78581" y="71437"/>
                    </a:moveTo>
                    <a:lnTo>
                      <a:pt x="92868" y="71437"/>
                    </a:lnTo>
                  </a:path>
                </a:pathLst>
              </a:custGeom>
              <a:noFill/>
              <a:ln w="14287">
                <a:solidFill>
                  <a:srgbClr val="484848"/>
                </a:solidFill>
              </a:ln>
            </p:spPr>
            <p:txBody>
              <a:bodyPr rtlCol="0" anchor="ctr"/>
              <a:lstStyle/>
              <a:p>
                <a:pPr algn="ctr"/>
                <a:endParaRPr/>
              </a:p>
            </p:txBody>
          </p:sp>
          <p:sp>
            <p:nvSpPr>
              <p:cNvPr id="121" name="Rounded Rectangle 41">
                <a:extLst>
                  <a:ext uri="{FF2B5EF4-FFF2-40B4-BE49-F238E27FC236}">
                    <a16:creationId xmlns:a16="http://schemas.microsoft.com/office/drawing/2014/main" id="{0E39A363-E74C-9B2F-3FFE-BAE7E5D2ACE4}"/>
                  </a:ext>
                </a:extLst>
              </p:cNvPr>
              <p:cNvSpPr/>
              <p:nvPr/>
            </p:nvSpPr>
            <p:spPr>
              <a:xfrm>
                <a:off x="3869531" y="2972038"/>
                <a:ext cx="285807" cy="300037"/>
              </a:xfrm>
              <a:custGeom>
                <a:avLst/>
                <a:gdLst/>
                <a:ahLst/>
                <a:cxnLst/>
                <a:rect l="0" t="0" r="0" b="0"/>
                <a:pathLst>
                  <a:path w="285807" h="300037">
                    <a:moveTo>
                      <a:pt x="28632" y="0"/>
                    </a:moveTo>
                    <a:lnTo>
                      <a:pt x="257232" y="0"/>
                    </a:lnTo>
                    <a:cubicBezTo>
                      <a:pt x="257232" y="0"/>
                      <a:pt x="285807" y="0"/>
                      <a:pt x="285807" y="28575"/>
                    </a:cubicBezTo>
                    <a:lnTo>
                      <a:pt x="285807" y="271462"/>
                    </a:lnTo>
                    <a:cubicBezTo>
                      <a:pt x="285807" y="271462"/>
                      <a:pt x="285807" y="300037"/>
                      <a:pt x="257232" y="300037"/>
                    </a:cubicBezTo>
                    <a:lnTo>
                      <a:pt x="28632" y="300037"/>
                    </a:lnTo>
                    <a:cubicBezTo>
                      <a:pt x="28632" y="300037"/>
                      <a:pt x="57" y="300037"/>
                      <a:pt x="57" y="271462"/>
                    </a:cubicBezTo>
                    <a:lnTo>
                      <a:pt x="57" y="28575"/>
                    </a:lnTo>
                    <a:cubicBezTo>
                      <a:pt x="57" y="28575"/>
                      <a:pt x="57" y="0"/>
                      <a:pt x="28632" y="0"/>
                    </a:cubicBezTo>
                    <a:moveTo>
                      <a:pt x="0" y="185737"/>
                    </a:moveTo>
                    <a:lnTo>
                      <a:pt x="52220" y="128301"/>
                    </a:lnTo>
                    <a:cubicBezTo>
                      <a:pt x="64002" y="116435"/>
                      <a:pt x="81827" y="112948"/>
                      <a:pt x="97212" y="119500"/>
                    </a:cubicBezTo>
                    <a:lnTo>
                      <a:pt x="117100" y="129030"/>
                    </a:lnTo>
                    <a:cubicBezTo>
                      <a:pt x="133005" y="135619"/>
                      <a:pt x="151185" y="133540"/>
                      <a:pt x="165192" y="123529"/>
                    </a:cubicBezTo>
                    <a:lnTo>
                      <a:pt x="191995" y="102098"/>
                    </a:lnTo>
                    <a:cubicBezTo>
                      <a:pt x="207077" y="90855"/>
                      <a:pt x="223943" y="82229"/>
                      <a:pt x="241887" y="76580"/>
                    </a:cubicBezTo>
                    <a:lnTo>
                      <a:pt x="285750" y="64293"/>
                    </a:lnTo>
                    <a:moveTo>
                      <a:pt x="71494" y="117414"/>
                    </a:moveTo>
                    <a:lnTo>
                      <a:pt x="71494" y="300037"/>
                    </a:lnTo>
                    <a:moveTo>
                      <a:pt x="142932" y="132387"/>
                    </a:moveTo>
                    <a:lnTo>
                      <a:pt x="142932" y="300037"/>
                    </a:lnTo>
                    <a:moveTo>
                      <a:pt x="214369" y="88053"/>
                    </a:moveTo>
                    <a:lnTo>
                      <a:pt x="214369" y="300037"/>
                    </a:lnTo>
                    <a:moveTo>
                      <a:pt x="57" y="185737"/>
                    </a:moveTo>
                    <a:lnTo>
                      <a:pt x="285807" y="185737"/>
                    </a:lnTo>
                    <a:moveTo>
                      <a:pt x="156762" y="128587"/>
                    </a:moveTo>
                    <a:lnTo>
                      <a:pt x="285807" y="128587"/>
                    </a:lnTo>
                    <a:moveTo>
                      <a:pt x="57" y="242887"/>
                    </a:moveTo>
                    <a:lnTo>
                      <a:pt x="285807" y="242887"/>
                    </a:lnTo>
                  </a:path>
                </a:pathLst>
              </a:custGeom>
              <a:noFill/>
              <a:ln w="14287">
                <a:solidFill>
                  <a:srgbClr val="484848"/>
                </a:solidFill>
              </a:ln>
            </p:spPr>
            <p:txBody>
              <a:bodyPr rtlCol="0" anchor="ctr"/>
              <a:lstStyle/>
              <a:p>
                <a:pPr algn="ctr"/>
                <a:endParaRPr/>
              </a:p>
            </p:txBody>
          </p:sp>
          <p:sp>
            <p:nvSpPr>
              <p:cNvPr id="122" name="Rounded Rectangle 42">
                <a:extLst>
                  <a:ext uri="{FF2B5EF4-FFF2-40B4-BE49-F238E27FC236}">
                    <a16:creationId xmlns:a16="http://schemas.microsoft.com/office/drawing/2014/main" id="{9188DEB4-2E92-E8AE-5D4D-EC18B16944A1}"/>
                  </a:ext>
                </a:extLst>
              </p:cNvPr>
              <p:cNvSpPr/>
              <p:nvPr/>
            </p:nvSpPr>
            <p:spPr>
              <a:xfrm>
                <a:off x="2705098" y="2950910"/>
                <a:ext cx="328631" cy="335452"/>
              </a:xfrm>
              <a:custGeom>
                <a:avLst/>
                <a:gdLst/>
                <a:ahLst/>
                <a:cxnLst/>
                <a:rect l="0" t="0" r="0" b="0"/>
                <a:pathLst>
                  <a:path w="328631" h="335452">
                    <a:moveTo>
                      <a:pt x="266477" y="206479"/>
                    </a:moveTo>
                    <a:cubicBezTo>
                      <a:pt x="266477" y="206479"/>
                      <a:pt x="328613" y="198492"/>
                      <a:pt x="328613" y="135427"/>
                    </a:cubicBezTo>
                    <a:cubicBezTo>
                      <a:pt x="328631" y="116035"/>
                      <a:pt x="320751" y="97472"/>
                      <a:pt x="306787" y="84015"/>
                    </a:cubicBezTo>
                    <a:cubicBezTo>
                      <a:pt x="292824" y="70559"/>
                      <a:pt x="273982" y="63369"/>
                      <a:pt x="254604" y="64104"/>
                    </a:cubicBezTo>
                    <a:cubicBezTo>
                      <a:pt x="235131" y="22822"/>
                      <a:pt x="190144" y="0"/>
                      <a:pt x="145331" y="8667"/>
                    </a:cubicBezTo>
                    <a:cubicBezTo>
                      <a:pt x="100517" y="17335"/>
                      <a:pt x="67285" y="55286"/>
                      <a:pt x="64609" y="100851"/>
                    </a:cubicBezTo>
                    <a:cubicBezTo>
                      <a:pt x="48809" y="97527"/>
                      <a:pt x="32353" y="101506"/>
                      <a:pt x="19816" y="111680"/>
                    </a:cubicBezTo>
                    <a:cubicBezTo>
                      <a:pt x="7279" y="121855"/>
                      <a:pt x="0" y="137140"/>
                      <a:pt x="1" y="153286"/>
                    </a:cubicBezTo>
                    <a:cubicBezTo>
                      <a:pt x="1" y="207707"/>
                      <a:pt x="54793" y="206779"/>
                      <a:pt x="54793" y="206779"/>
                    </a:cubicBezTo>
                    <a:moveTo>
                      <a:pt x="300038" y="299733"/>
                    </a:moveTo>
                    <a:cubicBezTo>
                      <a:pt x="300038" y="319460"/>
                      <a:pt x="284047" y="335452"/>
                      <a:pt x="264320" y="335452"/>
                    </a:cubicBezTo>
                    <a:lnTo>
                      <a:pt x="64295" y="335452"/>
                    </a:lnTo>
                    <a:cubicBezTo>
                      <a:pt x="44568" y="335452"/>
                      <a:pt x="28576" y="319460"/>
                      <a:pt x="28576" y="299733"/>
                    </a:cubicBezTo>
                    <a:lnTo>
                      <a:pt x="28576" y="264014"/>
                    </a:lnTo>
                    <a:lnTo>
                      <a:pt x="300038" y="264014"/>
                    </a:lnTo>
                    <a:close/>
                    <a:moveTo>
                      <a:pt x="28576" y="264014"/>
                    </a:moveTo>
                    <a:lnTo>
                      <a:pt x="61909" y="191263"/>
                    </a:lnTo>
                    <a:cubicBezTo>
                      <a:pt x="65893" y="183667"/>
                      <a:pt x="73588" y="178736"/>
                      <a:pt x="82154" y="178289"/>
                    </a:cubicBezTo>
                    <a:lnTo>
                      <a:pt x="235745" y="178289"/>
                    </a:lnTo>
                    <a:cubicBezTo>
                      <a:pt x="244431" y="178798"/>
                      <a:pt x="252370" y="183366"/>
                      <a:pt x="257176" y="190620"/>
                    </a:cubicBezTo>
                    <a:lnTo>
                      <a:pt x="300038" y="264014"/>
                    </a:lnTo>
                    <a:close/>
                    <a:moveTo>
                      <a:pt x="207170" y="306877"/>
                    </a:moveTo>
                    <a:lnTo>
                      <a:pt x="250032" y="306877"/>
                    </a:lnTo>
                  </a:path>
                </a:pathLst>
              </a:custGeom>
              <a:noFill/>
              <a:ln w="14287">
                <a:solidFill>
                  <a:srgbClr val="484848"/>
                </a:solidFill>
              </a:ln>
            </p:spPr>
            <p:txBody>
              <a:bodyPr rtlCol="0" anchor="ctr"/>
              <a:lstStyle/>
              <a:p>
                <a:pPr algn="ctr"/>
                <a:endParaRPr/>
              </a:p>
            </p:txBody>
          </p:sp>
          <p:sp>
            <p:nvSpPr>
              <p:cNvPr id="123" name="Rounded Rectangle 43">
                <a:extLst>
                  <a:ext uri="{FF2B5EF4-FFF2-40B4-BE49-F238E27FC236}">
                    <a16:creationId xmlns:a16="http://schemas.microsoft.com/office/drawing/2014/main" id="{B9368E6E-CED7-F94F-9257-258EAA57FBEA}"/>
                  </a:ext>
                </a:extLst>
              </p:cNvPr>
              <p:cNvSpPr/>
              <p:nvPr/>
            </p:nvSpPr>
            <p:spPr>
              <a:xfrm>
                <a:off x="1562099" y="2958465"/>
                <a:ext cx="328612" cy="327183"/>
              </a:xfrm>
              <a:custGeom>
                <a:avLst/>
                <a:gdLst/>
                <a:ahLst/>
                <a:cxnLst/>
                <a:rect l="0" t="0" r="0" b="0"/>
                <a:pathLst>
                  <a:path w="328612" h="327183">
                    <a:moveTo>
                      <a:pt x="125958" y="245002"/>
                    </a:moveTo>
                    <a:cubicBezTo>
                      <a:pt x="125954" y="266183"/>
                      <a:pt x="143124" y="283357"/>
                      <a:pt x="164306" y="283357"/>
                    </a:cubicBezTo>
                    <a:cubicBezTo>
                      <a:pt x="185488" y="283357"/>
                      <a:pt x="202658" y="266183"/>
                      <a:pt x="202653" y="245002"/>
                    </a:cubicBezTo>
                    <a:cubicBezTo>
                      <a:pt x="202658" y="223820"/>
                      <a:pt x="185488" y="206646"/>
                      <a:pt x="164306" y="206646"/>
                    </a:cubicBezTo>
                    <a:cubicBezTo>
                      <a:pt x="143124" y="206646"/>
                      <a:pt x="125954" y="223820"/>
                      <a:pt x="125958" y="245002"/>
                    </a:cubicBezTo>
                    <a:moveTo>
                      <a:pt x="219098" y="327183"/>
                    </a:moveTo>
                    <a:cubicBezTo>
                      <a:pt x="208302" y="306953"/>
                      <a:pt x="187236" y="294318"/>
                      <a:pt x="164306" y="294318"/>
                    </a:cubicBezTo>
                    <a:cubicBezTo>
                      <a:pt x="141375" y="294318"/>
                      <a:pt x="120310" y="306953"/>
                      <a:pt x="109513" y="327183"/>
                    </a:cubicBezTo>
                    <a:moveTo>
                      <a:pt x="237258" y="245002"/>
                    </a:moveTo>
                    <a:cubicBezTo>
                      <a:pt x="237253" y="266183"/>
                      <a:pt x="254423" y="283357"/>
                      <a:pt x="275605" y="283357"/>
                    </a:cubicBezTo>
                    <a:cubicBezTo>
                      <a:pt x="296787" y="283357"/>
                      <a:pt x="313957" y="266183"/>
                      <a:pt x="313953" y="245002"/>
                    </a:cubicBezTo>
                    <a:cubicBezTo>
                      <a:pt x="313957" y="223820"/>
                      <a:pt x="296787" y="206646"/>
                      <a:pt x="275605" y="206646"/>
                    </a:cubicBezTo>
                    <a:cubicBezTo>
                      <a:pt x="254423" y="206646"/>
                      <a:pt x="237253" y="223820"/>
                      <a:pt x="237258" y="245002"/>
                    </a:cubicBezTo>
                    <a:moveTo>
                      <a:pt x="328612" y="321740"/>
                    </a:moveTo>
                    <a:cubicBezTo>
                      <a:pt x="315769" y="303608"/>
                      <a:pt x="294552" y="293296"/>
                      <a:pt x="272361" y="294399"/>
                    </a:cubicBezTo>
                    <a:cubicBezTo>
                      <a:pt x="250169" y="295502"/>
                      <a:pt x="230080" y="307868"/>
                      <a:pt x="219098" y="327183"/>
                    </a:cubicBezTo>
                    <a:moveTo>
                      <a:pt x="14658" y="245002"/>
                    </a:moveTo>
                    <a:cubicBezTo>
                      <a:pt x="14654" y="266183"/>
                      <a:pt x="31824" y="283357"/>
                      <a:pt x="53006" y="283357"/>
                    </a:cubicBezTo>
                    <a:cubicBezTo>
                      <a:pt x="74188" y="283357"/>
                      <a:pt x="91358" y="266183"/>
                      <a:pt x="91354" y="245002"/>
                    </a:cubicBezTo>
                    <a:cubicBezTo>
                      <a:pt x="91358" y="223820"/>
                      <a:pt x="74188" y="206646"/>
                      <a:pt x="53006" y="206646"/>
                    </a:cubicBezTo>
                    <a:cubicBezTo>
                      <a:pt x="31824" y="206646"/>
                      <a:pt x="14654" y="223820"/>
                      <a:pt x="14658" y="245002"/>
                    </a:cubicBezTo>
                    <a:moveTo>
                      <a:pt x="0" y="321740"/>
                    </a:moveTo>
                    <a:cubicBezTo>
                      <a:pt x="12842" y="303608"/>
                      <a:pt x="34059" y="293296"/>
                      <a:pt x="56251" y="294399"/>
                    </a:cubicBezTo>
                    <a:cubicBezTo>
                      <a:pt x="78442" y="295502"/>
                      <a:pt x="98532" y="307868"/>
                      <a:pt x="109513" y="327183"/>
                    </a:cubicBezTo>
                    <a:moveTo>
                      <a:pt x="319639" y="97340"/>
                    </a:moveTo>
                    <a:lnTo>
                      <a:pt x="245344" y="171635"/>
                    </a:lnTo>
                    <a:lnTo>
                      <a:pt x="208811" y="178936"/>
                    </a:lnTo>
                    <a:lnTo>
                      <a:pt x="216112" y="142417"/>
                    </a:lnTo>
                    <a:lnTo>
                      <a:pt x="290407" y="68122"/>
                    </a:lnTo>
                    <a:cubicBezTo>
                      <a:pt x="298453" y="60079"/>
                      <a:pt x="311494" y="60079"/>
                      <a:pt x="319539" y="68122"/>
                    </a:cubicBezTo>
                    <a:lnTo>
                      <a:pt x="319625" y="68208"/>
                    </a:lnTo>
                    <a:cubicBezTo>
                      <a:pt x="323497" y="72066"/>
                      <a:pt x="325674" y="77306"/>
                      <a:pt x="325676" y="82771"/>
                    </a:cubicBezTo>
                    <a:cubicBezTo>
                      <a:pt x="325679" y="88237"/>
                      <a:pt x="323507" y="93479"/>
                      <a:pt x="319639" y="97340"/>
                    </a:cubicBezTo>
                    <a:close/>
                    <a:moveTo>
                      <a:pt x="260132" y="32118"/>
                    </a:moveTo>
                    <a:lnTo>
                      <a:pt x="223413" y="0"/>
                    </a:lnTo>
                    <a:lnTo>
                      <a:pt x="48091" y="0"/>
                    </a:lnTo>
                    <a:lnTo>
                      <a:pt x="48091" y="164363"/>
                    </a:lnTo>
                    <a:moveTo>
                      <a:pt x="91925" y="76695"/>
                    </a:moveTo>
                    <a:lnTo>
                      <a:pt x="106527" y="91311"/>
                    </a:lnTo>
                    <a:lnTo>
                      <a:pt x="135745" y="62093"/>
                    </a:lnTo>
                    <a:moveTo>
                      <a:pt x="91925" y="149747"/>
                    </a:moveTo>
                    <a:lnTo>
                      <a:pt x="106527" y="164363"/>
                    </a:lnTo>
                    <a:lnTo>
                      <a:pt x="135745" y="135131"/>
                    </a:lnTo>
                    <a:moveTo>
                      <a:pt x="172278" y="83996"/>
                    </a:moveTo>
                    <a:lnTo>
                      <a:pt x="194195" y="83996"/>
                    </a:lnTo>
                    <a:moveTo>
                      <a:pt x="223413" y="135131"/>
                    </a:moveTo>
                    <a:lnTo>
                      <a:pt x="252631" y="164363"/>
                    </a:lnTo>
                    <a:moveTo>
                      <a:pt x="91354" y="245030"/>
                    </a:moveTo>
                    <a:cubicBezTo>
                      <a:pt x="66198" y="247472"/>
                      <a:pt x="41263" y="238567"/>
                      <a:pt x="23345" y="220741"/>
                    </a:cubicBezTo>
                    <a:moveTo>
                      <a:pt x="202653" y="245030"/>
                    </a:moveTo>
                    <a:cubicBezTo>
                      <a:pt x="177497" y="247470"/>
                      <a:pt x="152564" y="238565"/>
                      <a:pt x="134645" y="220741"/>
                    </a:cubicBezTo>
                    <a:moveTo>
                      <a:pt x="245945" y="220741"/>
                    </a:moveTo>
                    <a:cubicBezTo>
                      <a:pt x="263868" y="238567"/>
                      <a:pt x="288807" y="247472"/>
                      <a:pt x="313967" y="245030"/>
                    </a:cubicBezTo>
                  </a:path>
                </a:pathLst>
              </a:custGeom>
              <a:noFill/>
              <a:ln w="14287">
                <a:solidFill>
                  <a:srgbClr val="484848"/>
                </a:solidFill>
              </a:ln>
            </p:spPr>
            <p:txBody>
              <a:bodyPr rtlCol="0" anchor="ctr"/>
              <a:lstStyle/>
              <a:p>
                <a:pPr algn="ctr"/>
                <a:endParaRPr/>
              </a:p>
            </p:txBody>
          </p:sp>
          <p:sp>
            <p:nvSpPr>
              <p:cNvPr id="124" name="TextBox 123">
                <a:extLst>
                  <a:ext uri="{FF2B5EF4-FFF2-40B4-BE49-F238E27FC236}">
                    <a16:creationId xmlns:a16="http://schemas.microsoft.com/office/drawing/2014/main" id="{3052E9FE-0173-7F3D-5BF3-8BEA62A246CE}"/>
                  </a:ext>
                </a:extLst>
              </p:cNvPr>
              <p:cNvSpPr txBox="1"/>
              <p:nvPr/>
            </p:nvSpPr>
            <p:spPr>
              <a:xfrm>
                <a:off x="7026020" y="2097643"/>
                <a:ext cx="830837" cy="457200"/>
              </a:xfrm>
              <a:prstGeom prst="rect">
                <a:avLst/>
              </a:prstGeom>
              <a:noFill/>
              <a:ln>
                <a:noFill/>
              </a:ln>
            </p:spPr>
            <p:txBody>
              <a:bodyPr wrap="none" lIns="0" tIns="0" rIns="0" bIns="0" anchor="t">
                <a:spAutoFit/>
              </a:bodyPr>
              <a:lstStyle/>
              <a:p>
                <a:pPr algn="ctr"/>
                <a:r>
                  <a:rPr sz="700" b="0">
                    <a:solidFill>
                      <a:srgbClr val="484848"/>
                    </a:solidFill>
                    <a:latin typeface="Roboto"/>
                  </a:rPr>
                  <a:t>Apply the trained
model to
proactively assure
service quality</a:t>
                </a:r>
              </a:p>
            </p:txBody>
          </p:sp>
          <p:sp>
            <p:nvSpPr>
              <p:cNvPr id="125" name="TextBox 124">
                <a:extLst>
                  <a:ext uri="{FF2B5EF4-FFF2-40B4-BE49-F238E27FC236}">
                    <a16:creationId xmlns:a16="http://schemas.microsoft.com/office/drawing/2014/main" id="{D1985086-C8C5-6DA1-29A6-F62D60C9969F}"/>
                  </a:ext>
                </a:extLst>
              </p:cNvPr>
              <p:cNvSpPr txBox="1"/>
              <p:nvPr/>
            </p:nvSpPr>
            <p:spPr>
              <a:xfrm>
                <a:off x="5848540" y="2211943"/>
                <a:ext cx="899817" cy="342900"/>
              </a:xfrm>
              <a:prstGeom prst="rect">
                <a:avLst/>
              </a:prstGeom>
              <a:noFill/>
              <a:ln>
                <a:noFill/>
              </a:ln>
            </p:spPr>
            <p:txBody>
              <a:bodyPr wrap="none" lIns="0" tIns="0" rIns="0" bIns="0" anchor="t">
                <a:spAutoFit/>
              </a:bodyPr>
              <a:lstStyle/>
              <a:p>
                <a:pPr algn="ctr"/>
                <a:r>
                  <a:rPr sz="700" b="0">
                    <a:solidFill>
                      <a:srgbClr val="484848"/>
                    </a:solidFill>
                    <a:latin typeface="Roboto"/>
                  </a:rPr>
                  <a:t>Evaluate the trained
model using various
metrics</a:t>
                </a:r>
              </a:p>
            </p:txBody>
          </p:sp>
          <p:sp>
            <p:nvSpPr>
              <p:cNvPr id="126" name="TextBox 125">
                <a:extLst>
                  <a:ext uri="{FF2B5EF4-FFF2-40B4-BE49-F238E27FC236}">
                    <a16:creationId xmlns:a16="http://schemas.microsoft.com/office/drawing/2014/main" id="{26FB396A-92E0-95A8-52FE-91BC53D1BC74}"/>
                  </a:ext>
                </a:extLst>
              </p:cNvPr>
              <p:cNvSpPr txBox="1"/>
              <p:nvPr/>
            </p:nvSpPr>
            <p:spPr>
              <a:xfrm>
                <a:off x="4723447" y="2097643"/>
                <a:ext cx="863869" cy="457200"/>
              </a:xfrm>
              <a:prstGeom prst="rect">
                <a:avLst/>
              </a:prstGeom>
              <a:noFill/>
              <a:ln>
                <a:noFill/>
              </a:ln>
            </p:spPr>
            <p:txBody>
              <a:bodyPr wrap="none" lIns="0" tIns="0" rIns="0" bIns="0" anchor="t">
                <a:spAutoFit/>
              </a:bodyPr>
              <a:lstStyle/>
              <a:p>
                <a:pPr algn="ctr"/>
                <a:r>
                  <a:rPr sz="700" b="0">
                    <a:solidFill>
                      <a:srgbClr val="484848"/>
                    </a:solidFill>
                    <a:latin typeface="Roboto"/>
                  </a:rPr>
                  <a:t>Choose and design
the appropriate
machine learning
model</a:t>
                </a:r>
              </a:p>
            </p:txBody>
          </p:sp>
          <p:sp>
            <p:nvSpPr>
              <p:cNvPr id="127" name="TextBox 126">
                <a:extLst>
                  <a:ext uri="{FF2B5EF4-FFF2-40B4-BE49-F238E27FC236}">
                    <a16:creationId xmlns:a16="http://schemas.microsoft.com/office/drawing/2014/main" id="{7ADC76E0-2A0C-D18D-982C-9FB2ACC44722}"/>
                  </a:ext>
                </a:extLst>
              </p:cNvPr>
              <p:cNvSpPr txBox="1"/>
              <p:nvPr/>
            </p:nvSpPr>
            <p:spPr>
              <a:xfrm>
                <a:off x="3608260" y="2097643"/>
                <a:ext cx="808215" cy="457200"/>
              </a:xfrm>
              <a:prstGeom prst="rect">
                <a:avLst/>
              </a:prstGeom>
              <a:noFill/>
              <a:ln>
                <a:noFill/>
              </a:ln>
            </p:spPr>
            <p:txBody>
              <a:bodyPr wrap="none" lIns="0" tIns="0" rIns="0" bIns="0" anchor="t">
                <a:spAutoFit/>
              </a:bodyPr>
              <a:lstStyle/>
              <a:p>
                <a:pPr algn="ctr"/>
                <a:r>
                  <a:rPr sz="700" b="0" dirty="0">
                    <a:solidFill>
                      <a:srgbClr val="484848"/>
                    </a:solidFill>
                    <a:latin typeface="Roboto"/>
                  </a:rPr>
                  <a:t>Explore data to
identify trends,
relationships, and
insights</a:t>
                </a:r>
              </a:p>
            </p:txBody>
          </p:sp>
          <p:sp>
            <p:nvSpPr>
              <p:cNvPr id="128" name="TextBox 127">
                <a:extLst>
                  <a:ext uri="{FF2B5EF4-FFF2-40B4-BE49-F238E27FC236}">
                    <a16:creationId xmlns:a16="http://schemas.microsoft.com/office/drawing/2014/main" id="{C351D5FF-B7FC-9972-3C2B-A7DCF215AEC4}"/>
                  </a:ext>
                </a:extLst>
              </p:cNvPr>
              <p:cNvSpPr txBox="1"/>
              <p:nvPr/>
            </p:nvSpPr>
            <p:spPr>
              <a:xfrm>
                <a:off x="2471737" y="2097643"/>
                <a:ext cx="795261" cy="457200"/>
              </a:xfrm>
              <a:prstGeom prst="rect">
                <a:avLst/>
              </a:prstGeom>
              <a:noFill/>
              <a:ln>
                <a:noFill/>
              </a:ln>
            </p:spPr>
            <p:txBody>
              <a:bodyPr wrap="none" lIns="0" tIns="0" rIns="0" bIns="0" anchor="t">
                <a:spAutoFit/>
              </a:bodyPr>
              <a:lstStyle/>
              <a:p>
                <a:pPr algn="ctr"/>
                <a:r>
                  <a:rPr sz="700" b="0">
                    <a:solidFill>
                      <a:srgbClr val="484848"/>
                    </a:solidFill>
                    <a:latin typeface="Roboto"/>
                  </a:rPr>
                  <a:t>Collect and
organize the data
needed for the
project</a:t>
                </a:r>
              </a:p>
            </p:txBody>
          </p:sp>
          <p:sp>
            <p:nvSpPr>
              <p:cNvPr id="129" name="TextBox 128">
                <a:extLst>
                  <a:ext uri="{FF2B5EF4-FFF2-40B4-BE49-F238E27FC236}">
                    <a16:creationId xmlns:a16="http://schemas.microsoft.com/office/drawing/2014/main" id="{11827D73-4F6E-962E-E28E-91A86413651C}"/>
                  </a:ext>
                </a:extLst>
              </p:cNvPr>
              <p:cNvSpPr txBox="1"/>
              <p:nvPr/>
            </p:nvSpPr>
            <p:spPr>
              <a:xfrm>
                <a:off x="1330927" y="2097643"/>
                <a:ext cx="790870" cy="457200"/>
              </a:xfrm>
              <a:prstGeom prst="rect">
                <a:avLst/>
              </a:prstGeom>
              <a:noFill/>
              <a:ln>
                <a:noFill/>
              </a:ln>
            </p:spPr>
            <p:txBody>
              <a:bodyPr wrap="none" lIns="0" tIns="0" rIns="0" bIns="0" anchor="t">
                <a:spAutoFit/>
              </a:bodyPr>
              <a:lstStyle/>
              <a:p>
                <a:pPr algn="ctr"/>
                <a:r>
                  <a:rPr sz="700" b="0">
                    <a:solidFill>
                      <a:srgbClr val="484848"/>
                    </a:solidFill>
                    <a:latin typeface="Roboto"/>
                  </a:rPr>
                  <a:t>Clearly define the
problem that
machine learning
will address</a:t>
                </a:r>
              </a:p>
            </p:txBody>
          </p:sp>
          <p:sp>
            <p:nvSpPr>
              <p:cNvPr id="130" name="TextBox 129">
                <a:extLst>
                  <a:ext uri="{FF2B5EF4-FFF2-40B4-BE49-F238E27FC236}">
                    <a16:creationId xmlns:a16="http://schemas.microsoft.com/office/drawing/2014/main" id="{331F4168-B342-D2DC-BF0E-12091EE7A056}"/>
                  </a:ext>
                </a:extLst>
              </p:cNvPr>
              <p:cNvSpPr txBox="1"/>
              <p:nvPr/>
            </p:nvSpPr>
            <p:spPr>
              <a:xfrm>
                <a:off x="7207883" y="1777127"/>
                <a:ext cx="467072" cy="260339"/>
              </a:xfrm>
              <a:prstGeom prst="rect">
                <a:avLst/>
              </a:prstGeom>
              <a:noFill/>
              <a:ln>
                <a:noFill/>
              </a:ln>
            </p:spPr>
            <p:txBody>
              <a:bodyPr wrap="none" lIns="0" tIns="0" rIns="0" bIns="0" anchor="t">
                <a:spAutoFit/>
              </a:bodyPr>
              <a:lstStyle/>
              <a:p>
                <a:pPr algn="ctr"/>
                <a:r>
                  <a:rPr sz="700" b="1" dirty="0">
                    <a:solidFill>
                      <a:schemeClr val="bg2"/>
                    </a:solidFill>
                    <a:latin typeface="Roboto"/>
                  </a:rPr>
                  <a:t>Deploy and
Monitor</a:t>
                </a:r>
              </a:p>
            </p:txBody>
          </p:sp>
          <p:sp>
            <p:nvSpPr>
              <p:cNvPr id="131" name="TextBox 130">
                <a:extLst>
                  <a:ext uri="{FF2B5EF4-FFF2-40B4-BE49-F238E27FC236}">
                    <a16:creationId xmlns:a16="http://schemas.microsoft.com/office/drawing/2014/main" id="{44D7FD8A-B65B-D225-0765-D743C9319497}"/>
                  </a:ext>
                </a:extLst>
              </p:cNvPr>
              <p:cNvSpPr txBox="1"/>
              <p:nvPr/>
            </p:nvSpPr>
            <p:spPr>
              <a:xfrm>
                <a:off x="6001523" y="1891427"/>
                <a:ext cx="593848" cy="260339"/>
              </a:xfrm>
              <a:prstGeom prst="rect">
                <a:avLst/>
              </a:prstGeom>
              <a:noFill/>
              <a:ln>
                <a:noFill/>
              </a:ln>
            </p:spPr>
            <p:txBody>
              <a:bodyPr wrap="none" lIns="0" tIns="0" rIns="0" bIns="0" anchor="t">
                <a:spAutoFit/>
              </a:bodyPr>
              <a:lstStyle/>
              <a:p>
                <a:pPr algn="ctr"/>
                <a:r>
                  <a:rPr sz="700" b="1" dirty="0">
                    <a:solidFill>
                      <a:srgbClr val="BA5DE5"/>
                    </a:solidFill>
                    <a:latin typeface="Roboto"/>
                  </a:rPr>
                  <a:t>Assess Model
Performance</a:t>
                </a:r>
              </a:p>
            </p:txBody>
          </p:sp>
          <p:sp>
            <p:nvSpPr>
              <p:cNvPr id="132" name="TextBox 131">
                <a:extLst>
                  <a:ext uri="{FF2B5EF4-FFF2-40B4-BE49-F238E27FC236}">
                    <a16:creationId xmlns:a16="http://schemas.microsoft.com/office/drawing/2014/main" id="{844E41C2-525B-81AE-7111-5CA569D3DFA5}"/>
                  </a:ext>
                </a:extLst>
              </p:cNvPr>
              <p:cNvSpPr txBox="1"/>
              <p:nvPr/>
            </p:nvSpPr>
            <p:spPr>
              <a:xfrm>
                <a:off x="4867669" y="1777127"/>
                <a:ext cx="575499" cy="260339"/>
              </a:xfrm>
              <a:prstGeom prst="rect">
                <a:avLst/>
              </a:prstGeom>
              <a:noFill/>
              <a:ln>
                <a:noFill/>
              </a:ln>
            </p:spPr>
            <p:txBody>
              <a:bodyPr wrap="none" lIns="0" tIns="0" rIns="0" bIns="0" anchor="t">
                <a:spAutoFit/>
              </a:bodyPr>
              <a:lstStyle/>
              <a:p>
                <a:pPr algn="ctr"/>
                <a:r>
                  <a:rPr sz="700" b="1" dirty="0">
                    <a:solidFill>
                      <a:srgbClr val="E55753"/>
                    </a:solidFill>
                    <a:latin typeface="Roboto"/>
                  </a:rPr>
                  <a:t>Select and
Design Model</a:t>
                </a:r>
              </a:p>
            </p:txBody>
          </p:sp>
          <p:sp>
            <p:nvSpPr>
              <p:cNvPr id="133" name="TextBox 132">
                <a:extLst>
                  <a:ext uri="{FF2B5EF4-FFF2-40B4-BE49-F238E27FC236}">
                    <a16:creationId xmlns:a16="http://schemas.microsoft.com/office/drawing/2014/main" id="{7B6293D7-68AB-C443-C256-441575602912}"/>
                  </a:ext>
                </a:extLst>
              </p:cNvPr>
              <p:cNvSpPr txBox="1"/>
              <p:nvPr/>
            </p:nvSpPr>
            <p:spPr>
              <a:xfrm>
                <a:off x="3738043" y="1777127"/>
                <a:ext cx="548809" cy="260339"/>
              </a:xfrm>
              <a:prstGeom prst="rect">
                <a:avLst/>
              </a:prstGeom>
              <a:noFill/>
              <a:ln>
                <a:noFill/>
              </a:ln>
            </p:spPr>
            <p:txBody>
              <a:bodyPr wrap="none" lIns="0" tIns="0" rIns="0" bIns="0" anchor="t">
                <a:spAutoFit/>
              </a:bodyPr>
              <a:lstStyle/>
              <a:p>
                <a:pPr algn="ctr"/>
                <a:r>
                  <a:rPr sz="700" b="1" dirty="0">
                    <a:solidFill>
                      <a:srgbClr val="E0CB15"/>
                    </a:solidFill>
                    <a:latin typeface="Roboto"/>
                  </a:rPr>
                  <a:t>Analyze Data
Patterns</a:t>
                </a:r>
              </a:p>
            </p:txBody>
          </p:sp>
          <p:sp>
            <p:nvSpPr>
              <p:cNvPr id="134" name="TextBox 133">
                <a:extLst>
                  <a:ext uri="{FF2B5EF4-FFF2-40B4-BE49-F238E27FC236}">
                    <a16:creationId xmlns:a16="http://schemas.microsoft.com/office/drawing/2014/main" id="{16BD1781-7C00-A758-6EAA-E8D332F57A82}"/>
                  </a:ext>
                </a:extLst>
              </p:cNvPr>
              <p:cNvSpPr txBox="1"/>
              <p:nvPr/>
            </p:nvSpPr>
            <p:spPr>
              <a:xfrm>
                <a:off x="2534072" y="1777127"/>
                <a:ext cx="670581" cy="260339"/>
              </a:xfrm>
              <a:prstGeom prst="rect">
                <a:avLst/>
              </a:prstGeom>
              <a:noFill/>
              <a:ln>
                <a:noFill/>
              </a:ln>
            </p:spPr>
            <p:txBody>
              <a:bodyPr wrap="none" lIns="0" tIns="0" rIns="0" bIns="0" anchor="t">
                <a:spAutoFit/>
              </a:bodyPr>
              <a:lstStyle/>
              <a:p>
                <a:pPr algn="ctr"/>
                <a:r>
                  <a:rPr sz="700" b="1" dirty="0">
                    <a:solidFill>
                      <a:srgbClr val="3CC583"/>
                    </a:solidFill>
                    <a:latin typeface="Roboto"/>
                  </a:rPr>
                  <a:t>Gather Relevant
Data</a:t>
                </a:r>
              </a:p>
            </p:txBody>
          </p:sp>
          <p:sp>
            <p:nvSpPr>
              <p:cNvPr id="135" name="TextBox 134">
                <a:extLst>
                  <a:ext uri="{FF2B5EF4-FFF2-40B4-BE49-F238E27FC236}">
                    <a16:creationId xmlns:a16="http://schemas.microsoft.com/office/drawing/2014/main" id="{E4C23866-CC70-628D-07EE-B18E37CC5A2A}"/>
                  </a:ext>
                </a:extLst>
              </p:cNvPr>
              <p:cNvSpPr txBox="1"/>
              <p:nvPr/>
            </p:nvSpPr>
            <p:spPr>
              <a:xfrm>
                <a:off x="1376902" y="1777127"/>
                <a:ext cx="698939" cy="260339"/>
              </a:xfrm>
              <a:prstGeom prst="rect">
                <a:avLst/>
              </a:prstGeom>
              <a:noFill/>
              <a:ln>
                <a:noFill/>
              </a:ln>
            </p:spPr>
            <p:txBody>
              <a:bodyPr wrap="none" lIns="0" tIns="0" rIns="0" bIns="0" anchor="t">
                <a:spAutoFit/>
              </a:bodyPr>
              <a:lstStyle/>
              <a:p>
                <a:pPr algn="ctr"/>
                <a:r>
                  <a:rPr sz="700" b="1" dirty="0">
                    <a:solidFill>
                      <a:srgbClr val="4E88E7"/>
                    </a:solidFill>
                    <a:latin typeface="Roboto"/>
                  </a:rPr>
                  <a:t>Identify the Core
Issue</a:t>
                </a:r>
              </a:p>
            </p:txBody>
          </p:sp>
          <p:sp>
            <p:nvSpPr>
              <p:cNvPr id="136" name="TextBox 135">
                <a:extLst>
                  <a:ext uri="{FF2B5EF4-FFF2-40B4-BE49-F238E27FC236}">
                    <a16:creationId xmlns:a16="http://schemas.microsoft.com/office/drawing/2014/main" id="{4FF2590A-27C3-E85E-D653-B5CA9C62A4B5}"/>
                  </a:ext>
                </a:extLst>
              </p:cNvPr>
              <p:cNvSpPr txBox="1"/>
              <p:nvPr/>
            </p:nvSpPr>
            <p:spPr>
              <a:xfrm>
                <a:off x="2420599" y="1331357"/>
                <a:ext cx="4383803" cy="278934"/>
              </a:xfrm>
              <a:prstGeom prst="rect">
                <a:avLst/>
              </a:prstGeom>
              <a:noFill/>
              <a:ln>
                <a:noFill/>
              </a:ln>
            </p:spPr>
            <p:txBody>
              <a:bodyPr wrap="none" lIns="0" tIns="0" rIns="0" bIns="0" anchor="t">
                <a:spAutoFit/>
              </a:bodyPr>
              <a:lstStyle/>
              <a:p>
                <a:pPr algn="ctr"/>
                <a:r>
                  <a:rPr lang="en-IN" sz="1500" b="1" dirty="0">
                    <a:solidFill>
                      <a:srgbClr val="484848"/>
                    </a:solidFill>
                    <a:latin typeface="Roboto"/>
                  </a:rPr>
                  <a:t>KPI Forecasting for </a:t>
                </a:r>
                <a:r>
                  <a:rPr sz="1500" b="1" dirty="0">
                    <a:solidFill>
                      <a:srgbClr val="484848"/>
                    </a:solidFill>
                    <a:latin typeface="Roboto"/>
                  </a:rPr>
                  <a:t>Proactive Service Assurance</a:t>
                </a:r>
              </a:p>
            </p:txBody>
          </p:sp>
          <p:sp>
            <p:nvSpPr>
              <p:cNvPr id="137" name="Rounded Rectangle 57">
                <a:extLst>
                  <a:ext uri="{FF2B5EF4-FFF2-40B4-BE49-F238E27FC236}">
                    <a16:creationId xmlns:a16="http://schemas.microsoft.com/office/drawing/2014/main" id="{AD4A210C-002C-3786-071B-A2A8179EBB9F}"/>
                  </a:ext>
                </a:extLst>
              </p:cNvPr>
              <p:cNvSpPr/>
              <p:nvPr/>
            </p:nvSpPr>
            <p:spPr>
              <a:xfrm>
                <a:off x="2147887" y="3872150"/>
                <a:ext cx="300037" cy="328612"/>
              </a:xfrm>
              <a:custGeom>
                <a:avLst/>
                <a:gdLst/>
                <a:ahLst/>
                <a:cxnLst/>
                <a:rect l="0" t="0" r="0" b="0"/>
                <a:pathLst>
                  <a:path w="300037" h="328612">
                    <a:moveTo>
                      <a:pt x="151176" y="328612"/>
                    </a:moveTo>
                    <a:lnTo>
                      <a:pt x="28575" y="328612"/>
                    </a:lnTo>
                    <a:cubicBezTo>
                      <a:pt x="12793" y="328612"/>
                      <a:pt x="0" y="315819"/>
                      <a:pt x="0" y="300037"/>
                    </a:cubicBezTo>
                    <a:lnTo>
                      <a:pt x="0" y="28575"/>
                    </a:lnTo>
                    <a:moveTo>
                      <a:pt x="271462" y="0"/>
                    </a:moveTo>
                    <a:lnTo>
                      <a:pt x="28575" y="0"/>
                    </a:lnTo>
                    <a:cubicBezTo>
                      <a:pt x="12793" y="0"/>
                      <a:pt x="0" y="12793"/>
                      <a:pt x="0" y="28575"/>
                    </a:cubicBezTo>
                    <a:cubicBezTo>
                      <a:pt x="0" y="44356"/>
                      <a:pt x="12793" y="57150"/>
                      <a:pt x="28575" y="57150"/>
                    </a:cubicBezTo>
                    <a:lnTo>
                      <a:pt x="257175" y="57150"/>
                    </a:lnTo>
                    <a:cubicBezTo>
                      <a:pt x="265065" y="57150"/>
                      <a:pt x="271462" y="63546"/>
                      <a:pt x="271462" y="71437"/>
                    </a:cubicBezTo>
                    <a:lnTo>
                      <a:pt x="271462" y="164677"/>
                    </a:lnTo>
                    <a:moveTo>
                      <a:pt x="257175" y="28575"/>
                    </a:moveTo>
                    <a:lnTo>
                      <a:pt x="28575" y="28575"/>
                    </a:lnTo>
                    <a:moveTo>
                      <a:pt x="142875" y="236158"/>
                    </a:moveTo>
                    <a:cubicBezTo>
                      <a:pt x="142875" y="271895"/>
                      <a:pt x="171845" y="300866"/>
                      <a:pt x="207583" y="300866"/>
                    </a:cubicBezTo>
                    <a:cubicBezTo>
                      <a:pt x="243320" y="300866"/>
                      <a:pt x="272291" y="271895"/>
                      <a:pt x="272291" y="236158"/>
                    </a:cubicBezTo>
                    <a:cubicBezTo>
                      <a:pt x="272291" y="200420"/>
                      <a:pt x="243320" y="171450"/>
                      <a:pt x="207583" y="171450"/>
                    </a:cubicBezTo>
                    <a:cubicBezTo>
                      <a:pt x="171845" y="171450"/>
                      <a:pt x="142875" y="200420"/>
                      <a:pt x="142875" y="236158"/>
                    </a:cubicBezTo>
                    <a:close/>
                    <a:moveTo>
                      <a:pt x="300037" y="328612"/>
                    </a:moveTo>
                    <a:lnTo>
                      <a:pt x="253631" y="282206"/>
                    </a:lnTo>
                  </a:path>
                </a:pathLst>
              </a:custGeom>
              <a:noFill/>
              <a:ln w="14287">
                <a:solidFill>
                  <a:srgbClr val="484848"/>
                </a:solidFill>
              </a:ln>
            </p:spPr>
            <p:txBody>
              <a:bodyPr rtlCol="0" anchor="ctr"/>
              <a:lstStyle/>
              <a:p>
                <a:pPr algn="ctr"/>
                <a:endParaRPr/>
              </a:p>
            </p:txBody>
          </p:sp>
          <p:sp>
            <p:nvSpPr>
              <p:cNvPr id="138" name="Rounded Rectangle 58">
                <a:extLst>
                  <a:ext uri="{FF2B5EF4-FFF2-40B4-BE49-F238E27FC236}">
                    <a16:creationId xmlns:a16="http://schemas.microsoft.com/office/drawing/2014/main" id="{62D44C6F-6324-B182-9689-75CDE56F936E}"/>
                  </a:ext>
                </a:extLst>
              </p:cNvPr>
              <p:cNvSpPr/>
              <p:nvPr/>
            </p:nvSpPr>
            <p:spPr>
              <a:xfrm>
                <a:off x="3295603" y="3887219"/>
                <a:ext cx="290610" cy="298474"/>
              </a:xfrm>
              <a:custGeom>
                <a:avLst/>
                <a:gdLst/>
                <a:ahLst/>
                <a:cxnLst/>
                <a:rect l="0" t="0" r="0" b="0"/>
                <a:pathLst>
                  <a:path w="290610" h="298474">
                    <a:moveTo>
                      <a:pt x="158041" y="230980"/>
                    </a:moveTo>
                    <a:cubicBezTo>
                      <a:pt x="191078" y="224339"/>
                      <a:pt x="217677" y="197416"/>
                      <a:pt x="224329" y="163524"/>
                    </a:cubicBezTo>
                    <a:cubicBezTo>
                      <a:pt x="230980" y="197416"/>
                      <a:pt x="257573" y="224339"/>
                      <a:pt x="290610" y="230980"/>
                    </a:cubicBezTo>
                    <a:moveTo>
                      <a:pt x="290610" y="231019"/>
                    </a:moveTo>
                    <a:cubicBezTo>
                      <a:pt x="257573" y="237661"/>
                      <a:pt x="230974" y="264583"/>
                      <a:pt x="224322" y="298474"/>
                    </a:cubicBezTo>
                    <a:cubicBezTo>
                      <a:pt x="217671" y="264583"/>
                      <a:pt x="191078" y="237661"/>
                      <a:pt x="158041" y="231019"/>
                    </a:cubicBezTo>
                    <a:moveTo>
                      <a:pt x="103430" y="103430"/>
                    </a:moveTo>
                    <a:cubicBezTo>
                      <a:pt x="160554" y="103430"/>
                      <a:pt x="206861" y="80277"/>
                      <a:pt x="206861" y="51715"/>
                    </a:cubicBezTo>
                    <a:cubicBezTo>
                      <a:pt x="206861" y="23153"/>
                      <a:pt x="160554" y="0"/>
                      <a:pt x="103430" y="0"/>
                    </a:cubicBezTo>
                    <a:cubicBezTo>
                      <a:pt x="46307" y="0"/>
                      <a:pt x="0" y="23153"/>
                      <a:pt x="0" y="51715"/>
                    </a:cubicBezTo>
                    <a:cubicBezTo>
                      <a:pt x="0" y="80277"/>
                      <a:pt x="46307" y="103430"/>
                      <a:pt x="103430" y="103430"/>
                    </a:cubicBezTo>
                    <a:close/>
                    <a:moveTo>
                      <a:pt x="0" y="51736"/>
                    </a:moveTo>
                    <a:lnTo>
                      <a:pt x="0" y="139651"/>
                    </a:lnTo>
                    <a:cubicBezTo>
                      <a:pt x="0" y="168095"/>
                      <a:pt x="46543" y="191368"/>
                      <a:pt x="103430" y="191368"/>
                    </a:cubicBezTo>
                    <a:cubicBezTo>
                      <a:pt x="121211" y="191368"/>
                      <a:pt x="137981" y="189093"/>
                      <a:pt x="152636" y="185100"/>
                    </a:cubicBezTo>
                    <a:moveTo>
                      <a:pt x="206861" y="128823"/>
                    </a:moveTo>
                    <a:lnTo>
                      <a:pt x="206861" y="51736"/>
                    </a:lnTo>
                    <a:moveTo>
                      <a:pt x="0" y="139581"/>
                    </a:moveTo>
                    <a:lnTo>
                      <a:pt x="0" y="227498"/>
                    </a:lnTo>
                    <a:cubicBezTo>
                      <a:pt x="0" y="255942"/>
                      <a:pt x="46543" y="279215"/>
                      <a:pt x="103430" y="279215"/>
                    </a:cubicBezTo>
                    <a:cubicBezTo>
                      <a:pt x="121714" y="279215"/>
                      <a:pt x="138930" y="276810"/>
                      <a:pt x="153875" y="272602"/>
                    </a:cubicBezTo>
                  </a:path>
                </a:pathLst>
              </a:custGeom>
              <a:noFill/>
              <a:ln w="14287">
                <a:solidFill>
                  <a:srgbClr val="484848"/>
                </a:solidFill>
              </a:ln>
            </p:spPr>
            <p:txBody>
              <a:bodyPr rtlCol="0" anchor="ctr"/>
              <a:lstStyle/>
              <a:p>
                <a:pPr algn="ctr"/>
                <a:endParaRPr/>
              </a:p>
            </p:txBody>
          </p:sp>
          <p:sp>
            <p:nvSpPr>
              <p:cNvPr id="139" name="Rounded Rectangle 59">
                <a:extLst>
                  <a:ext uri="{FF2B5EF4-FFF2-40B4-BE49-F238E27FC236}">
                    <a16:creationId xmlns:a16="http://schemas.microsoft.com/office/drawing/2014/main" id="{C10467C0-0AEB-FC09-433F-2C3457371AA3}"/>
                  </a:ext>
                </a:extLst>
              </p:cNvPr>
              <p:cNvSpPr/>
              <p:nvPr/>
            </p:nvSpPr>
            <p:spPr>
              <a:xfrm>
                <a:off x="4412456" y="3865007"/>
                <a:ext cx="335386" cy="332184"/>
              </a:xfrm>
              <a:custGeom>
                <a:avLst/>
                <a:gdLst/>
                <a:ahLst/>
                <a:cxnLst/>
                <a:rect l="0" t="0" r="0" b="0"/>
                <a:pathLst>
                  <a:path w="335386" h="332184">
                    <a:moveTo>
                      <a:pt x="10715" y="332184"/>
                    </a:moveTo>
                    <a:cubicBezTo>
                      <a:pt x="32052" y="332184"/>
                      <a:pt x="53388" y="332184"/>
                      <a:pt x="74724" y="310753"/>
                    </a:cubicBezTo>
                    <a:cubicBezTo>
                      <a:pt x="96061" y="332184"/>
                      <a:pt x="117397" y="332184"/>
                      <a:pt x="123087" y="332184"/>
                    </a:cubicBezTo>
                    <a:cubicBezTo>
                      <a:pt x="128777" y="332184"/>
                      <a:pt x="150113" y="332184"/>
                      <a:pt x="171450" y="310753"/>
                    </a:cubicBezTo>
                    <a:cubicBezTo>
                      <a:pt x="192786" y="332184"/>
                      <a:pt x="214122" y="332184"/>
                      <a:pt x="219813" y="332184"/>
                    </a:cubicBezTo>
                    <a:cubicBezTo>
                      <a:pt x="225502" y="332184"/>
                      <a:pt x="246837" y="332184"/>
                      <a:pt x="268174" y="310753"/>
                    </a:cubicBezTo>
                    <a:cubicBezTo>
                      <a:pt x="289511" y="332184"/>
                      <a:pt x="310847" y="332184"/>
                      <a:pt x="332184" y="332184"/>
                    </a:cubicBezTo>
                    <a:moveTo>
                      <a:pt x="287893" y="62805"/>
                    </a:moveTo>
                    <a:cubicBezTo>
                      <a:pt x="314122" y="62805"/>
                      <a:pt x="335386" y="51144"/>
                      <a:pt x="335386" y="36760"/>
                    </a:cubicBezTo>
                    <a:cubicBezTo>
                      <a:pt x="335386" y="22376"/>
                      <a:pt x="314122" y="10715"/>
                      <a:pt x="287893" y="10715"/>
                    </a:cubicBezTo>
                    <a:cubicBezTo>
                      <a:pt x="261662" y="10715"/>
                      <a:pt x="240400" y="22376"/>
                      <a:pt x="240400" y="36760"/>
                    </a:cubicBezTo>
                    <a:cubicBezTo>
                      <a:pt x="240400" y="51144"/>
                      <a:pt x="261662" y="62805"/>
                      <a:pt x="287893" y="62805"/>
                    </a:cubicBezTo>
                    <a:close/>
                    <a:moveTo>
                      <a:pt x="240400" y="36759"/>
                    </a:moveTo>
                    <a:lnTo>
                      <a:pt x="240400" y="107233"/>
                    </a:lnTo>
                    <a:cubicBezTo>
                      <a:pt x="240400" y="121022"/>
                      <a:pt x="261848" y="133278"/>
                      <a:pt x="287893" y="133278"/>
                    </a:cubicBezTo>
                    <a:cubicBezTo>
                      <a:pt x="313937" y="133278"/>
                      <a:pt x="335386" y="121022"/>
                      <a:pt x="335386" y="107233"/>
                    </a:cubicBezTo>
                    <a:lnTo>
                      <a:pt x="335386" y="36759"/>
                    </a:lnTo>
                    <a:moveTo>
                      <a:pt x="32807" y="277176"/>
                    </a:moveTo>
                    <a:cubicBezTo>
                      <a:pt x="32807" y="272442"/>
                      <a:pt x="31229" y="267709"/>
                      <a:pt x="26495" y="262974"/>
                    </a:cubicBezTo>
                    <a:lnTo>
                      <a:pt x="17027" y="253505"/>
                    </a:lnTo>
                    <a:cubicBezTo>
                      <a:pt x="10715" y="248772"/>
                      <a:pt x="9137" y="239304"/>
                      <a:pt x="12293" y="232991"/>
                    </a:cubicBezTo>
                    <a:cubicBezTo>
                      <a:pt x="15449" y="225102"/>
                      <a:pt x="21761" y="221946"/>
                      <a:pt x="29651" y="221946"/>
                    </a:cubicBezTo>
                    <a:lnTo>
                      <a:pt x="42275" y="221946"/>
                    </a:lnTo>
                    <a:cubicBezTo>
                      <a:pt x="47010" y="221946"/>
                      <a:pt x="53321" y="220368"/>
                      <a:pt x="56478" y="217212"/>
                    </a:cubicBezTo>
                    <a:cubicBezTo>
                      <a:pt x="59634" y="214056"/>
                      <a:pt x="61212" y="209400"/>
                      <a:pt x="61212" y="203009"/>
                    </a:cubicBezTo>
                    <a:lnTo>
                      <a:pt x="61212" y="190386"/>
                    </a:lnTo>
                    <a:cubicBezTo>
                      <a:pt x="61212" y="182495"/>
                      <a:pt x="65946" y="174606"/>
                      <a:pt x="72258" y="173027"/>
                    </a:cubicBezTo>
                    <a:cubicBezTo>
                      <a:pt x="80148" y="169872"/>
                      <a:pt x="88038" y="171450"/>
                      <a:pt x="92772" y="177762"/>
                    </a:cubicBezTo>
                    <a:lnTo>
                      <a:pt x="102240" y="187230"/>
                    </a:lnTo>
                    <a:cubicBezTo>
                      <a:pt x="105396" y="190386"/>
                      <a:pt x="110130" y="193542"/>
                      <a:pt x="116442" y="193542"/>
                    </a:cubicBezTo>
                    <a:cubicBezTo>
                      <a:pt x="122754" y="193542"/>
                      <a:pt x="125910" y="191963"/>
                      <a:pt x="130644" y="187230"/>
                    </a:cubicBezTo>
                    <a:lnTo>
                      <a:pt x="140112" y="177762"/>
                    </a:lnTo>
                    <a:cubicBezTo>
                      <a:pt x="144846" y="171450"/>
                      <a:pt x="154315" y="169872"/>
                      <a:pt x="160627" y="173027"/>
                    </a:cubicBezTo>
                    <a:cubicBezTo>
                      <a:pt x="168516" y="176183"/>
                      <a:pt x="171672" y="182495"/>
                      <a:pt x="171672" y="190386"/>
                    </a:cubicBezTo>
                    <a:lnTo>
                      <a:pt x="171672" y="203009"/>
                    </a:lnTo>
                    <a:cubicBezTo>
                      <a:pt x="171672" y="207744"/>
                      <a:pt x="173251" y="214056"/>
                      <a:pt x="176406" y="217212"/>
                    </a:cubicBezTo>
                    <a:cubicBezTo>
                      <a:pt x="179562" y="220368"/>
                      <a:pt x="185874" y="223525"/>
                      <a:pt x="190609" y="221946"/>
                    </a:cubicBezTo>
                    <a:lnTo>
                      <a:pt x="203232" y="221946"/>
                    </a:lnTo>
                    <a:cubicBezTo>
                      <a:pt x="211123" y="221946"/>
                      <a:pt x="219013" y="226679"/>
                      <a:pt x="220591" y="232991"/>
                    </a:cubicBezTo>
                    <a:cubicBezTo>
                      <a:pt x="223747" y="240882"/>
                      <a:pt x="222169" y="248772"/>
                      <a:pt x="215856" y="253505"/>
                    </a:cubicBezTo>
                    <a:lnTo>
                      <a:pt x="206388" y="262974"/>
                    </a:lnTo>
                    <a:cubicBezTo>
                      <a:pt x="203232" y="266130"/>
                      <a:pt x="200076" y="270865"/>
                      <a:pt x="200076" y="277176"/>
                    </a:cubicBezTo>
                    <a:moveTo>
                      <a:pt x="152736" y="277176"/>
                    </a:moveTo>
                    <a:cubicBezTo>
                      <a:pt x="152736" y="256660"/>
                      <a:pt x="136956" y="240881"/>
                      <a:pt x="118020" y="240881"/>
                    </a:cubicBezTo>
                    <a:cubicBezTo>
                      <a:pt x="97506" y="240881"/>
                      <a:pt x="81725" y="258239"/>
                      <a:pt x="81725" y="277176"/>
                    </a:cubicBezTo>
                    <a:moveTo>
                      <a:pt x="287893" y="167162"/>
                    </a:moveTo>
                    <a:lnTo>
                      <a:pt x="287893" y="271461"/>
                    </a:lnTo>
                    <a:moveTo>
                      <a:pt x="0" y="0"/>
                    </a:moveTo>
                    <a:moveTo>
                      <a:pt x="259318" y="195738"/>
                    </a:moveTo>
                    <a:lnTo>
                      <a:pt x="287893" y="167163"/>
                    </a:lnTo>
                    <a:lnTo>
                      <a:pt x="316468" y="195738"/>
                    </a:lnTo>
                    <a:moveTo>
                      <a:pt x="335386" y="71720"/>
                    </a:moveTo>
                    <a:cubicBezTo>
                      <a:pt x="335386" y="86409"/>
                      <a:pt x="314123" y="98317"/>
                      <a:pt x="287893" y="98317"/>
                    </a:cubicBezTo>
                    <a:cubicBezTo>
                      <a:pt x="261662" y="98317"/>
                      <a:pt x="240400" y="86409"/>
                      <a:pt x="240400" y="71720"/>
                    </a:cubicBezTo>
                  </a:path>
                </a:pathLst>
              </a:custGeom>
              <a:noFill/>
              <a:ln w="14287">
                <a:solidFill>
                  <a:srgbClr val="484848"/>
                </a:solidFill>
              </a:ln>
            </p:spPr>
            <p:txBody>
              <a:bodyPr rtlCol="0" anchor="ctr"/>
              <a:lstStyle/>
              <a:p>
                <a:pPr algn="ctr"/>
                <a:endParaRPr/>
              </a:p>
            </p:txBody>
          </p:sp>
          <p:sp>
            <p:nvSpPr>
              <p:cNvPr id="140" name="Rounded Rectangle 60">
                <a:extLst>
                  <a:ext uri="{FF2B5EF4-FFF2-40B4-BE49-F238E27FC236}">
                    <a16:creationId xmlns:a16="http://schemas.microsoft.com/office/drawing/2014/main" id="{B3F3972A-F332-3E3A-E97B-3FD47C2FC51F}"/>
                  </a:ext>
                </a:extLst>
              </p:cNvPr>
              <p:cNvSpPr/>
              <p:nvPr/>
            </p:nvSpPr>
            <p:spPr>
              <a:xfrm>
                <a:off x="5562671" y="3872150"/>
                <a:ext cx="328469" cy="328612"/>
              </a:xfrm>
              <a:custGeom>
                <a:avLst/>
                <a:gdLst/>
                <a:ahLst/>
                <a:cxnLst/>
                <a:rect l="0" t="0" r="0" b="0"/>
                <a:pathLst>
                  <a:path w="328469" h="328612">
                    <a:moveTo>
                      <a:pt x="164306" y="262889"/>
                    </a:moveTo>
                    <a:cubicBezTo>
                      <a:pt x="165552" y="286370"/>
                      <a:pt x="173119" y="309078"/>
                      <a:pt x="186208" y="328612"/>
                    </a:cubicBezTo>
                    <a:lnTo>
                      <a:pt x="98583" y="328612"/>
                    </a:lnTo>
                    <a:cubicBezTo>
                      <a:pt x="111672" y="309078"/>
                      <a:pt x="119240" y="286370"/>
                      <a:pt x="120486" y="262890"/>
                    </a:cubicBezTo>
                    <a:moveTo>
                      <a:pt x="65722" y="328612"/>
                    </a:moveTo>
                    <a:lnTo>
                      <a:pt x="219070" y="328612"/>
                    </a:lnTo>
                    <a:moveTo>
                      <a:pt x="284792" y="197167"/>
                    </a:moveTo>
                    <a:lnTo>
                      <a:pt x="284792" y="240915"/>
                    </a:lnTo>
                    <a:cubicBezTo>
                      <a:pt x="284811" y="246737"/>
                      <a:pt x="282512" y="252326"/>
                      <a:pt x="278402" y="256449"/>
                    </a:cubicBezTo>
                    <a:cubicBezTo>
                      <a:pt x="274293" y="260572"/>
                      <a:pt x="268711" y="262890"/>
                      <a:pt x="262890" y="262889"/>
                    </a:cubicBezTo>
                    <a:lnTo>
                      <a:pt x="21902" y="262889"/>
                    </a:lnTo>
                    <a:cubicBezTo>
                      <a:pt x="9809" y="262882"/>
                      <a:pt x="7" y="253080"/>
                      <a:pt x="0" y="240987"/>
                    </a:cubicBezTo>
                    <a:lnTo>
                      <a:pt x="0" y="65722"/>
                    </a:lnTo>
                    <a:cubicBezTo>
                      <a:pt x="0" y="53625"/>
                      <a:pt x="9806" y="43819"/>
                      <a:pt x="21902" y="43819"/>
                    </a:cubicBezTo>
                    <a:lnTo>
                      <a:pt x="95154" y="43819"/>
                    </a:lnTo>
                    <a:moveTo>
                      <a:pt x="153204" y="0"/>
                    </a:moveTo>
                    <a:lnTo>
                      <a:pt x="313867" y="0"/>
                    </a:lnTo>
                    <a:cubicBezTo>
                      <a:pt x="313867" y="0"/>
                      <a:pt x="328469" y="0"/>
                      <a:pt x="328469" y="14601"/>
                    </a:cubicBezTo>
                    <a:lnTo>
                      <a:pt x="328469" y="146046"/>
                    </a:lnTo>
                    <a:cubicBezTo>
                      <a:pt x="328469" y="146046"/>
                      <a:pt x="328469" y="160648"/>
                      <a:pt x="313867" y="160648"/>
                    </a:cubicBezTo>
                    <a:lnTo>
                      <a:pt x="153204" y="160648"/>
                    </a:lnTo>
                    <a:cubicBezTo>
                      <a:pt x="153204" y="160648"/>
                      <a:pt x="138603" y="160648"/>
                      <a:pt x="138603" y="146046"/>
                    </a:cubicBezTo>
                    <a:lnTo>
                      <a:pt x="138603" y="14601"/>
                    </a:lnTo>
                    <a:cubicBezTo>
                      <a:pt x="138603" y="14601"/>
                      <a:pt x="138603" y="0"/>
                      <a:pt x="153204" y="0"/>
                    </a:cubicBezTo>
                    <a:moveTo>
                      <a:pt x="138603" y="40133"/>
                    </a:moveTo>
                    <a:lnTo>
                      <a:pt x="328469" y="40133"/>
                    </a:lnTo>
                    <a:moveTo>
                      <a:pt x="138603" y="119229"/>
                    </a:moveTo>
                    <a:lnTo>
                      <a:pt x="328469" y="119229"/>
                    </a:lnTo>
                    <a:moveTo>
                      <a:pt x="138603" y="81581"/>
                    </a:moveTo>
                    <a:lnTo>
                      <a:pt x="328469" y="81581"/>
                    </a:lnTo>
                    <a:moveTo>
                      <a:pt x="233529" y="40147"/>
                    </a:moveTo>
                    <a:lnTo>
                      <a:pt x="233529" y="160662"/>
                    </a:lnTo>
                    <a:moveTo>
                      <a:pt x="279249" y="40147"/>
                    </a:moveTo>
                    <a:lnTo>
                      <a:pt x="279249" y="160662"/>
                    </a:lnTo>
                  </a:path>
                </a:pathLst>
              </a:custGeom>
              <a:noFill/>
              <a:ln w="14287">
                <a:solidFill>
                  <a:srgbClr val="484848"/>
                </a:solidFill>
              </a:ln>
            </p:spPr>
            <p:txBody>
              <a:bodyPr rtlCol="0" anchor="ctr"/>
              <a:lstStyle/>
              <a:p>
                <a:pPr algn="ctr"/>
                <a:endParaRPr/>
              </a:p>
            </p:txBody>
          </p:sp>
          <p:sp>
            <p:nvSpPr>
              <p:cNvPr id="141" name="TextBox 140">
                <a:extLst>
                  <a:ext uri="{FF2B5EF4-FFF2-40B4-BE49-F238E27FC236}">
                    <a16:creationId xmlns:a16="http://schemas.microsoft.com/office/drawing/2014/main" id="{6765B605-49B7-C2C9-83A8-26F13B8C683E}"/>
                  </a:ext>
                </a:extLst>
              </p:cNvPr>
              <p:cNvSpPr txBox="1"/>
              <p:nvPr/>
            </p:nvSpPr>
            <p:spPr>
              <a:xfrm>
                <a:off x="4139755" y="5069443"/>
                <a:ext cx="888282" cy="457200"/>
              </a:xfrm>
              <a:prstGeom prst="rect">
                <a:avLst/>
              </a:prstGeom>
              <a:noFill/>
              <a:ln>
                <a:noFill/>
              </a:ln>
            </p:spPr>
            <p:txBody>
              <a:bodyPr wrap="none" lIns="0" tIns="0" rIns="0" bIns="0" anchor="t">
                <a:spAutoFit/>
              </a:bodyPr>
              <a:lstStyle/>
              <a:p>
                <a:pPr algn="ctr"/>
                <a:r>
                  <a:rPr sz="700" b="0">
                    <a:solidFill>
                      <a:srgbClr val="484848"/>
                    </a:solidFill>
                    <a:latin typeface="Roboto"/>
                  </a:rPr>
                  <a:t>Transform raw data
into features that
improve model
performance</a:t>
                </a:r>
              </a:p>
            </p:txBody>
          </p:sp>
          <p:sp>
            <p:nvSpPr>
              <p:cNvPr id="142" name="TextBox 141">
                <a:extLst>
                  <a:ext uri="{FF2B5EF4-FFF2-40B4-BE49-F238E27FC236}">
                    <a16:creationId xmlns:a16="http://schemas.microsoft.com/office/drawing/2014/main" id="{66126462-84EF-4B7C-0B4B-4C928942F2AD}"/>
                  </a:ext>
                </a:extLst>
              </p:cNvPr>
              <p:cNvSpPr txBox="1"/>
              <p:nvPr/>
            </p:nvSpPr>
            <p:spPr>
              <a:xfrm>
                <a:off x="2054384" y="4615577"/>
                <a:ext cx="487089" cy="390508"/>
              </a:xfrm>
              <a:prstGeom prst="rect">
                <a:avLst/>
              </a:prstGeom>
              <a:noFill/>
              <a:ln>
                <a:noFill/>
              </a:ln>
            </p:spPr>
            <p:txBody>
              <a:bodyPr wrap="none" lIns="0" tIns="0" rIns="0" bIns="0" anchor="t">
                <a:spAutoFit/>
              </a:bodyPr>
              <a:lstStyle/>
              <a:p>
                <a:pPr algn="ctr"/>
                <a:r>
                  <a:rPr sz="700" b="1" dirty="0">
                    <a:solidFill>
                      <a:srgbClr val="1EABDA"/>
                    </a:solidFill>
                    <a:latin typeface="Roboto"/>
                  </a:rPr>
                  <a:t>Understand
Existing
Research</a:t>
                </a:r>
              </a:p>
            </p:txBody>
          </p:sp>
          <p:sp>
            <p:nvSpPr>
              <p:cNvPr id="143" name="TextBox 142">
                <a:extLst>
                  <a:ext uri="{FF2B5EF4-FFF2-40B4-BE49-F238E27FC236}">
                    <a16:creationId xmlns:a16="http://schemas.microsoft.com/office/drawing/2014/main" id="{192F3E56-D474-7693-3E37-2E87B3883C12}"/>
                  </a:ext>
                </a:extLst>
              </p:cNvPr>
              <p:cNvSpPr txBox="1"/>
              <p:nvPr/>
            </p:nvSpPr>
            <p:spPr>
              <a:xfrm>
                <a:off x="3166524" y="4615577"/>
                <a:ext cx="548809" cy="260339"/>
              </a:xfrm>
              <a:prstGeom prst="rect">
                <a:avLst/>
              </a:prstGeom>
              <a:noFill/>
              <a:ln>
                <a:noFill/>
              </a:ln>
            </p:spPr>
            <p:txBody>
              <a:bodyPr wrap="none" lIns="0" tIns="0" rIns="0" bIns="0" anchor="t">
                <a:spAutoFit/>
              </a:bodyPr>
              <a:lstStyle/>
              <a:p>
                <a:pPr algn="ctr"/>
                <a:r>
                  <a:rPr sz="700" b="1" dirty="0">
                    <a:solidFill>
                      <a:srgbClr val="92BD39"/>
                    </a:solidFill>
                    <a:latin typeface="Roboto"/>
                  </a:rPr>
                  <a:t>Clean and
Prepare Data</a:t>
                </a:r>
              </a:p>
            </p:txBody>
          </p:sp>
          <p:sp>
            <p:nvSpPr>
              <p:cNvPr id="144" name="TextBox 143">
                <a:extLst>
                  <a:ext uri="{FF2B5EF4-FFF2-40B4-BE49-F238E27FC236}">
                    <a16:creationId xmlns:a16="http://schemas.microsoft.com/office/drawing/2014/main" id="{D8BA0B72-85D0-130A-063A-9C1111A772E7}"/>
                  </a:ext>
                </a:extLst>
              </p:cNvPr>
              <p:cNvSpPr txBox="1"/>
              <p:nvPr/>
            </p:nvSpPr>
            <p:spPr>
              <a:xfrm>
                <a:off x="5394914" y="4615577"/>
                <a:ext cx="663909" cy="130170"/>
              </a:xfrm>
              <a:prstGeom prst="rect">
                <a:avLst/>
              </a:prstGeom>
              <a:noFill/>
              <a:ln>
                <a:noFill/>
              </a:ln>
            </p:spPr>
            <p:txBody>
              <a:bodyPr wrap="none" lIns="0" tIns="0" rIns="0" bIns="0" anchor="t">
                <a:spAutoFit/>
              </a:bodyPr>
              <a:lstStyle/>
              <a:p>
                <a:pPr algn="ctr"/>
                <a:r>
                  <a:rPr sz="700" b="1">
                    <a:solidFill>
                      <a:srgbClr val="DE58A9"/>
                    </a:solidFill>
                    <a:latin typeface="Roboto"/>
                  </a:rPr>
                  <a:t>Train the Model</a:t>
                </a:r>
              </a:p>
            </p:txBody>
          </p:sp>
          <p:sp>
            <p:nvSpPr>
              <p:cNvPr id="145" name="TextBox 144">
                <a:extLst>
                  <a:ext uri="{FF2B5EF4-FFF2-40B4-BE49-F238E27FC236}">
                    <a16:creationId xmlns:a16="http://schemas.microsoft.com/office/drawing/2014/main" id="{772198E1-C184-0F9E-468B-6EB2D92B2FDC}"/>
                  </a:ext>
                </a:extLst>
              </p:cNvPr>
              <p:cNvSpPr txBox="1"/>
              <p:nvPr/>
            </p:nvSpPr>
            <p:spPr>
              <a:xfrm>
                <a:off x="4347038" y="4615577"/>
                <a:ext cx="473744" cy="390508"/>
              </a:xfrm>
              <a:prstGeom prst="rect">
                <a:avLst/>
              </a:prstGeom>
              <a:noFill/>
              <a:ln>
                <a:noFill/>
              </a:ln>
            </p:spPr>
            <p:txBody>
              <a:bodyPr wrap="none" lIns="0" tIns="0" rIns="0" bIns="0" anchor="t">
                <a:spAutoFit/>
              </a:bodyPr>
              <a:lstStyle/>
              <a:p>
                <a:pPr algn="ctr"/>
                <a:r>
                  <a:rPr sz="700" b="1" dirty="0">
                    <a:solidFill>
                      <a:srgbClr val="DE8431"/>
                    </a:solidFill>
                    <a:latin typeface="Roboto"/>
                  </a:rPr>
                  <a:t>Create
Meaningful
Features</a:t>
                </a:r>
              </a:p>
            </p:txBody>
          </p:sp>
          <p:sp>
            <p:nvSpPr>
              <p:cNvPr id="146" name="TextBox 145">
                <a:extLst>
                  <a:ext uri="{FF2B5EF4-FFF2-40B4-BE49-F238E27FC236}">
                    <a16:creationId xmlns:a16="http://schemas.microsoft.com/office/drawing/2014/main" id="{0510C4E4-41E5-968B-4AF4-8B753DF5DB08}"/>
                  </a:ext>
                </a:extLst>
              </p:cNvPr>
              <p:cNvSpPr txBox="1"/>
              <p:nvPr/>
            </p:nvSpPr>
            <p:spPr>
              <a:xfrm>
                <a:off x="6546257" y="4615577"/>
                <a:ext cx="647228" cy="260339"/>
              </a:xfrm>
              <a:prstGeom prst="rect">
                <a:avLst/>
              </a:prstGeom>
              <a:noFill/>
              <a:ln>
                <a:noFill/>
              </a:ln>
            </p:spPr>
            <p:txBody>
              <a:bodyPr wrap="none" lIns="0" tIns="0" rIns="0" bIns="0" anchor="t">
                <a:spAutoFit/>
              </a:bodyPr>
              <a:lstStyle/>
              <a:p>
                <a:pPr algn="ctr"/>
                <a:r>
                  <a:rPr sz="700" b="1" dirty="0">
                    <a:solidFill>
                      <a:srgbClr val="7F64EA"/>
                    </a:solidFill>
                    <a:latin typeface="Roboto"/>
                  </a:rPr>
                  <a:t>Understand
Model Findings</a:t>
                </a:r>
              </a:p>
            </p:txBody>
          </p:sp>
          <p:sp>
            <p:nvSpPr>
              <p:cNvPr id="147" name="TextBox 146">
                <a:extLst>
                  <a:ext uri="{FF2B5EF4-FFF2-40B4-BE49-F238E27FC236}">
                    <a16:creationId xmlns:a16="http://schemas.microsoft.com/office/drawing/2014/main" id="{3D3CC874-263C-0E28-EABB-C1F92B89AC32}"/>
                  </a:ext>
                </a:extLst>
              </p:cNvPr>
              <p:cNvSpPr txBox="1"/>
              <p:nvPr/>
            </p:nvSpPr>
            <p:spPr>
              <a:xfrm>
                <a:off x="5319998" y="4802743"/>
                <a:ext cx="813796" cy="342900"/>
              </a:xfrm>
              <a:prstGeom prst="rect">
                <a:avLst/>
              </a:prstGeom>
              <a:noFill/>
              <a:ln>
                <a:noFill/>
              </a:ln>
            </p:spPr>
            <p:txBody>
              <a:bodyPr wrap="none" lIns="0" tIns="0" rIns="0" bIns="0" anchor="t">
                <a:spAutoFit/>
              </a:bodyPr>
              <a:lstStyle/>
              <a:p>
                <a:pPr algn="ctr"/>
                <a:r>
                  <a:rPr sz="700" b="0">
                    <a:solidFill>
                      <a:srgbClr val="484848"/>
                    </a:solidFill>
                    <a:latin typeface="Roboto"/>
                  </a:rPr>
                  <a:t>Train the selected
model using the
prepared dataset</a:t>
                </a:r>
              </a:p>
            </p:txBody>
          </p:sp>
          <p:sp>
            <p:nvSpPr>
              <p:cNvPr id="148" name="TextBox 147">
                <a:extLst>
                  <a:ext uri="{FF2B5EF4-FFF2-40B4-BE49-F238E27FC236}">
                    <a16:creationId xmlns:a16="http://schemas.microsoft.com/office/drawing/2014/main" id="{27FE4DF7-5418-453A-D6CF-9F766D5DF304}"/>
                  </a:ext>
                </a:extLst>
              </p:cNvPr>
              <p:cNvSpPr txBox="1"/>
              <p:nvPr/>
            </p:nvSpPr>
            <p:spPr>
              <a:xfrm>
                <a:off x="2996374" y="4936093"/>
                <a:ext cx="889101" cy="457200"/>
              </a:xfrm>
              <a:prstGeom prst="rect">
                <a:avLst/>
              </a:prstGeom>
              <a:noFill/>
              <a:ln>
                <a:noFill/>
              </a:ln>
            </p:spPr>
            <p:txBody>
              <a:bodyPr wrap="none" lIns="0" tIns="0" rIns="0" bIns="0" anchor="t">
                <a:spAutoFit/>
              </a:bodyPr>
              <a:lstStyle/>
              <a:p>
                <a:pPr algn="ctr"/>
                <a:r>
                  <a:rPr sz="700" b="0">
                    <a:solidFill>
                      <a:srgbClr val="484848"/>
                    </a:solidFill>
                    <a:latin typeface="Roboto"/>
                  </a:rPr>
                  <a:t>Handle missing
values, outliers, and
format data for
analysis</a:t>
                </a:r>
              </a:p>
            </p:txBody>
          </p:sp>
          <p:sp>
            <p:nvSpPr>
              <p:cNvPr id="149" name="TextBox 148">
                <a:extLst>
                  <a:ext uri="{FF2B5EF4-FFF2-40B4-BE49-F238E27FC236}">
                    <a16:creationId xmlns:a16="http://schemas.microsoft.com/office/drawing/2014/main" id="{5790BC09-FFB0-DD4A-A02F-67DBCD153DC9}"/>
                  </a:ext>
                </a:extLst>
              </p:cNvPr>
              <p:cNvSpPr txBox="1"/>
              <p:nvPr/>
            </p:nvSpPr>
            <p:spPr>
              <a:xfrm>
                <a:off x="6465474" y="4936093"/>
                <a:ext cx="808805" cy="457200"/>
              </a:xfrm>
              <a:prstGeom prst="rect">
                <a:avLst/>
              </a:prstGeom>
              <a:noFill/>
              <a:ln>
                <a:noFill/>
              </a:ln>
            </p:spPr>
            <p:txBody>
              <a:bodyPr wrap="none" lIns="0" tIns="0" rIns="0" bIns="0" anchor="t">
                <a:spAutoFit/>
              </a:bodyPr>
              <a:lstStyle/>
              <a:p>
                <a:pPr algn="ctr"/>
                <a:r>
                  <a:rPr sz="700" b="0">
                    <a:solidFill>
                      <a:srgbClr val="484848"/>
                    </a:solidFill>
                    <a:latin typeface="Roboto"/>
                  </a:rPr>
                  <a:t>Interpret the
evaluation results
and draw
conclusions</a:t>
                </a:r>
              </a:p>
            </p:txBody>
          </p:sp>
          <p:sp>
            <p:nvSpPr>
              <p:cNvPr id="150" name="TextBox 149">
                <a:extLst>
                  <a:ext uri="{FF2B5EF4-FFF2-40B4-BE49-F238E27FC236}">
                    <a16:creationId xmlns:a16="http://schemas.microsoft.com/office/drawing/2014/main" id="{64DE0031-F333-EF06-8DCB-15A4BADE4B62}"/>
                  </a:ext>
                </a:extLst>
              </p:cNvPr>
              <p:cNvSpPr txBox="1"/>
              <p:nvPr/>
            </p:nvSpPr>
            <p:spPr>
              <a:xfrm>
                <a:off x="1902999" y="5069443"/>
                <a:ext cx="789908" cy="457200"/>
              </a:xfrm>
              <a:prstGeom prst="rect">
                <a:avLst/>
              </a:prstGeom>
              <a:noFill/>
              <a:ln>
                <a:noFill/>
              </a:ln>
            </p:spPr>
            <p:txBody>
              <a:bodyPr wrap="none" lIns="0" tIns="0" rIns="0" bIns="0" anchor="t">
                <a:spAutoFit/>
              </a:bodyPr>
              <a:lstStyle/>
              <a:p>
                <a:pPr algn="ctr"/>
                <a:r>
                  <a:rPr sz="700" b="0" dirty="0">
                    <a:solidFill>
                      <a:srgbClr val="484848"/>
                    </a:solidFill>
                    <a:latin typeface="Roboto"/>
                  </a:rPr>
                  <a:t>Review relevant
academic papers
and industry
reports</a:t>
                </a:r>
              </a:p>
            </p:txBody>
          </p:sp>
          <p:sp>
            <p:nvSpPr>
              <p:cNvPr id="151" name="Rounded Rectangle 71">
                <a:extLst>
                  <a:ext uri="{FF2B5EF4-FFF2-40B4-BE49-F238E27FC236}">
                    <a16:creationId xmlns:a16="http://schemas.microsoft.com/office/drawing/2014/main" id="{AC6C1920-B90D-9430-96B3-7C7298EA1DD7}"/>
                  </a:ext>
                </a:extLst>
              </p:cNvPr>
              <p:cNvSpPr/>
              <p:nvPr/>
            </p:nvSpPr>
            <p:spPr>
              <a:xfrm>
                <a:off x="6712743" y="3879637"/>
                <a:ext cx="314325" cy="313653"/>
              </a:xfrm>
              <a:custGeom>
                <a:avLst/>
                <a:gdLst/>
                <a:ahLst/>
                <a:cxnLst/>
                <a:rect l="0" t="0" r="0" b="0"/>
                <a:pathLst>
                  <a:path w="314325" h="313653">
                    <a:moveTo>
                      <a:pt x="118014" y="235858"/>
                    </a:moveTo>
                    <a:lnTo>
                      <a:pt x="28575" y="235858"/>
                    </a:lnTo>
                    <a:cubicBezTo>
                      <a:pt x="12793" y="235858"/>
                      <a:pt x="0" y="223064"/>
                      <a:pt x="0" y="207283"/>
                    </a:cubicBezTo>
                    <a:lnTo>
                      <a:pt x="0" y="28575"/>
                    </a:lnTo>
                    <a:cubicBezTo>
                      <a:pt x="0" y="12793"/>
                      <a:pt x="12793" y="0"/>
                      <a:pt x="28575" y="0"/>
                    </a:cubicBezTo>
                    <a:lnTo>
                      <a:pt x="243016" y="0"/>
                    </a:lnTo>
                    <a:cubicBezTo>
                      <a:pt x="258797" y="0"/>
                      <a:pt x="271591" y="12793"/>
                      <a:pt x="271591" y="28575"/>
                    </a:cubicBezTo>
                    <a:lnTo>
                      <a:pt x="271591" y="125858"/>
                    </a:lnTo>
                    <a:moveTo>
                      <a:pt x="0" y="55806"/>
                    </a:moveTo>
                    <a:lnTo>
                      <a:pt x="271605" y="55806"/>
                    </a:lnTo>
                    <a:moveTo>
                      <a:pt x="0" y="174450"/>
                    </a:moveTo>
                    <a:lnTo>
                      <a:pt x="119557" y="174450"/>
                    </a:lnTo>
                    <a:moveTo>
                      <a:pt x="0" y="115228"/>
                    </a:moveTo>
                    <a:lnTo>
                      <a:pt x="157319" y="115228"/>
                    </a:lnTo>
                    <a:moveTo>
                      <a:pt x="110942" y="55806"/>
                    </a:moveTo>
                    <a:lnTo>
                      <a:pt x="110942" y="235858"/>
                    </a:lnTo>
                    <a:moveTo>
                      <a:pt x="190466" y="55806"/>
                    </a:moveTo>
                    <a:lnTo>
                      <a:pt x="190466" y="115228"/>
                    </a:lnTo>
                    <a:moveTo>
                      <a:pt x="215426" y="282778"/>
                    </a:moveTo>
                    <a:cubicBezTo>
                      <a:pt x="254447" y="281965"/>
                      <a:pt x="285431" y="249690"/>
                      <a:pt x="284649" y="210669"/>
                    </a:cubicBezTo>
                    <a:cubicBezTo>
                      <a:pt x="285431" y="171647"/>
                      <a:pt x="254447" y="139372"/>
                      <a:pt x="215426" y="138560"/>
                    </a:cubicBezTo>
                    <a:cubicBezTo>
                      <a:pt x="176405" y="139372"/>
                      <a:pt x="145422" y="171647"/>
                      <a:pt x="146203" y="210669"/>
                    </a:cubicBezTo>
                    <a:cubicBezTo>
                      <a:pt x="145422" y="249690"/>
                      <a:pt x="176405" y="281965"/>
                      <a:pt x="215426" y="282778"/>
                    </a:cubicBezTo>
                    <a:close/>
                    <a:moveTo>
                      <a:pt x="314325" y="313653"/>
                    </a:moveTo>
                    <a:lnTo>
                      <a:pt x="264318" y="261632"/>
                    </a:lnTo>
                  </a:path>
                </a:pathLst>
              </a:custGeom>
              <a:noFill/>
              <a:ln w="14287">
                <a:solidFill>
                  <a:srgbClr val="484848"/>
                </a:solidFill>
              </a:ln>
            </p:spPr>
            <p:txBody>
              <a:bodyPr rtlCol="0" anchor="ctr"/>
              <a:lstStyle/>
              <a:p>
                <a:pPr algn="ctr"/>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9"/>
          <p:cNvSpPr txBox="1">
            <a:spLocks noGrp="1"/>
          </p:cNvSpPr>
          <p:nvPr>
            <p:ph type="title"/>
          </p:nvPr>
        </p:nvSpPr>
        <p:spPr>
          <a:xfrm>
            <a:off x="780821" y="666241"/>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Model building</a:t>
            </a:r>
            <a:endParaRPr dirty="0"/>
          </a:p>
        </p:txBody>
      </p:sp>
      <p:sp>
        <p:nvSpPr>
          <p:cNvPr id="123" name="Google Shape;123;p19"/>
          <p:cNvSpPr txBox="1">
            <a:spLocks noGrp="1"/>
          </p:cNvSpPr>
          <p:nvPr>
            <p:ph type="body" idx="1"/>
          </p:nvPr>
        </p:nvSpPr>
        <p:spPr>
          <a:xfrm>
            <a:off x="780821" y="1441200"/>
            <a:ext cx="7688700" cy="3331146"/>
          </a:xfrm>
          <a:prstGeom prst="rect">
            <a:avLst/>
          </a:prstGeom>
        </p:spPr>
        <p:txBody>
          <a:bodyPr spcFirstLastPara="1" wrap="square" lIns="91425" tIns="91425" rIns="91425" bIns="91425" anchor="t" anchorCtr="0">
            <a:normAutofit fontScale="85000" lnSpcReduction="10000"/>
          </a:bodyPr>
          <a:lstStyle/>
          <a:p>
            <a:pPr marL="342900" indent="-342900"/>
            <a:r>
              <a:rPr lang="en-IN" b="1" dirty="0"/>
              <a:t>ARIMA - Baseline statistical forecasting model</a:t>
            </a:r>
          </a:p>
          <a:p>
            <a:pPr marL="685800" lvl="1" indent="-228600"/>
            <a:r>
              <a:rPr lang="en-IN" dirty="0"/>
              <a:t>ARIMA is widely used in time-series forecasting because it captures short-term linear dependencies in stationary time-series data. It provides a strong statistical benchmark and allows comparison with more advanced approaches.</a:t>
            </a:r>
          </a:p>
          <a:p>
            <a:pPr marL="342900" indent="-342900"/>
            <a:endParaRPr lang="en-IN" dirty="0"/>
          </a:p>
          <a:p>
            <a:pPr marL="342900" indent="-342900"/>
            <a:r>
              <a:rPr lang="en-IN" b="1" dirty="0"/>
              <a:t>SARIMA - Captures seasonal telecom traffic patterns</a:t>
            </a:r>
          </a:p>
          <a:p>
            <a:pPr marL="685800" lvl="1" indent="-228600"/>
            <a:r>
              <a:rPr lang="en-IN" b="1" dirty="0"/>
              <a:t>SARIMA</a:t>
            </a:r>
            <a:r>
              <a:rPr lang="en-IN" dirty="0"/>
              <a:t> was implemented to extend the ARIMA model by incorporating </a:t>
            </a:r>
            <a:r>
              <a:rPr lang="en-IN" b="1" dirty="0"/>
              <a:t>seasonal components</a:t>
            </a:r>
            <a:r>
              <a:rPr lang="en-IN" dirty="0"/>
              <a:t>. Exploratory data analysis revealed clear </a:t>
            </a:r>
            <a:r>
              <a:rPr lang="en-IN" b="1" dirty="0"/>
              <a:t>daily periodicity in telecom KPIs</a:t>
            </a:r>
            <a:r>
              <a:rPr lang="en-IN" dirty="0"/>
              <a:t>, which justified the use of seasonal autoregressive and moving-average terms. SARIMA therefore helps capture repeating traffic patterns in network usage.</a:t>
            </a:r>
          </a:p>
          <a:p>
            <a:pPr marL="342900" indent="-342900"/>
            <a:endParaRPr lang="en-IN" dirty="0"/>
          </a:p>
          <a:p>
            <a:pPr marL="342900" indent="-342900"/>
            <a:r>
              <a:rPr lang="en-IN" b="1" dirty="0"/>
              <a:t>LSTM - Models nonlinear temporal dependencies</a:t>
            </a:r>
          </a:p>
          <a:p>
            <a:pPr marL="685800" lvl="1" indent="-228600"/>
            <a:r>
              <a:rPr lang="en-IN" dirty="0"/>
              <a:t>To model </a:t>
            </a:r>
            <a:r>
              <a:rPr lang="en-IN" b="1" dirty="0"/>
              <a:t>nonlinear temporal relationships</a:t>
            </a:r>
            <a:r>
              <a:rPr lang="en-IN" dirty="0"/>
              <a:t>, an </a:t>
            </a:r>
            <a:r>
              <a:rPr lang="en-IN" b="1" dirty="0"/>
              <a:t>LSTM deep learning model</a:t>
            </a:r>
            <a:r>
              <a:rPr lang="en-IN" dirty="0"/>
              <a:t> was developed. LSTM networks are specifically designed for sequential data and are capable of learning long-term dependencies without requiring explicit specification of seasonal structures.</a:t>
            </a:r>
          </a:p>
          <a:p>
            <a:pPr marL="342900" indent="-342900"/>
            <a:endParaRPr lang="en-IN" dirty="0"/>
          </a:p>
          <a:p>
            <a:pPr marL="342900" indent="-342900"/>
            <a:r>
              <a:rPr lang="en-IN" b="1" dirty="0"/>
              <a:t>Hybrid SARIMA‑LSTM - Corrects residual errors, combines statistical and AI strengths</a:t>
            </a:r>
          </a:p>
          <a:p>
            <a:pPr marL="685800" lvl="1" indent="-228600"/>
            <a:r>
              <a:rPr lang="en-IN" dirty="0"/>
              <a:t>In this approach, SARIMA first models the linear and seasonal components of the KPI series, and LSTM is then trained on the residual errors to capture nonlinear patterns. This hybrid strategy leverages the strengths of both statistical and deep learning approaches, expecting to improve forecasting accuracy.</a:t>
            </a:r>
          </a:p>
          <a:p>
            <a:pPr marL="342900" indent="-342900"/>
            <a:endParaRPr lang="en-IN" dirty="0"/>
          </a:p>
          <a:p>
            <a:pPr marL="342900" indent="-342900"/>
            <a:r>
              <a:rPr lang="en-IN" dirty="0"/>
              <a:t>Model Evaluation performed using MAE and RMSE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0"/>
          <p:cNvSpPr txBox="1">
            <a:spLocks noGrp="1"/>
          </p:cNvSpPr>
          <p:nvPr>
            <p:ph type="title"/>
          </p:nvPr>
        </p:nvSpPr>
        <p:spPr>
          <a:xfrm>
            <a:off x="729450" y="650829"/>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Results</a:t>
            </a:r>
            <a:endParaRPr dirty="0"/>
          </a:p>
        </p:txBody>
      </p:sp>
      <p:sp>
        <p:nvSpPr>
          <p:cNvPr id="129" name="Google Shape;129;p20"/>
          <p:cNvSpPr txBox="1">
            <a:spLocks noGrp="1"/>
          </p:cNvSpPr>
          <p:nvPr>
            <p:ph type="body" idx="1"/>
          </p:nvPr>
        </p:nvSpPr>
        <p:spPr>
          <a:xfrm>
            <a:off x="775685" y="3774219"/>
            <a:ext cx="4068581" cy="761821"/>
          </a:xfrm>
          <a:prstGeom prst="rect">
            <a:avLst/>
          </a:prstGeom>
        </p:spPr>
        <p:txBody>
          <a:bodyPr spcFirstLastPara="1" wrap="square" lIns="91425" tIns="91425" rIns="91425" bIns="91425" anchor="t" anchorCtr="0">
            <a:normAutofit fontScale="92500" lnSpcReduction="10000"/>
          </a:bodyPr>
          <a:lstStyle/>
          <a:p>
            <a:pPr marL="285750" indent="-285750">
              <a:buFont typeface="Wingdings" panose="05000000000000000000" pitchFamily="2" charset="2"/>
              <a:buChar char="q"/>
            </a:pPr>
            <a:r>
              <a:rPr lang="en-IN" sz="1000" dirty="0"/>
              <a:t>ARIMA captures short‑term linear dependencies and rolling walk forward performs better</a:t>
            </a:r>
          </a:p>
          <a:p>
            <a:pPr marL="285750" indent="-285750">
              <a:buFont typeface="Wingdings" panose="05000000000000000000" pitchFamily="2" charset="2"/>
              <a:buChar char="q"/>
            </a:pPr>
            <a:r>
              <a:rPr lang="en-IN" sz="1000" dirty="0"/>
              <a:t>SARIMA improves performance using seasonality, rolling forecast performs better </a:t>
            </a:r>
          </a:p>
          <a:p>
            <a:pPr marL="171450" indent="-171450">
              <a:buFont typeface="Wingdings" panose="05000000000000000000" pitchFamily="2" charset="2"/>
              <a:buChar char="q"/>
            </a:pPr>
            <a:endParaRPr lang="en-IN" sz="1000" dirty="0"/>
          </a:p>
        </p:txBody>
      </p:sp>
      <p:graphicFrame>
        <p:nvGraphicFramePr>
          <p:cNvPr id="2" name="Table 1">
            <a:extLst>
              <a:ext uri="{FF2B5EF4-FFF2-40B4-BE49-F238E27FC236}">
                <a16:creationId xmlns:a16="http://schemas.microsoft.com/office/drawing/2014/main" id="{368D524D-FC0F-EB0C-36D5-417C5C122D74}"/>
              </a:ext>
            </a:extLst>
          </p:cNvPr>
          <p:cNvGraphicFramePr>
            <a:graphicFrameLocks noGrp="1"/>
          </p:cNvGraphicFramePr>
          <p:nvPr>
            <p:extLst>
              <p:ext uri="{D42A27DB-BD31-4B8C-83A1-F6EECF244321}">
                <p14:modId xmlns:p14="http://schemas.microsoft.com/office/powerpoint/2010/main" val="1924422046"/>
              </p:ext>
            </p:extLst>
          </p:nvPr>
        </p:nvGraphicFramePr>
        <p:xfrm>
          <a:off x="825617" y="1381119"/>
          <a:ext cx="4018649" cy="2198010"/>
        </p:xfrm>
        <a:graphic>
          <a:graphicData uri="http://schemas.openxmlformats.org/drawingml/2006/table">
            <a:tbl>
              <a:tblPr firstRow="1" bandRow="1">
                <a:tableStyleId>{B301B821-A1FF-4177-AEE7-76D212191A09}</a:tableStyleId>
              </a:tblPr>
              <a:tblGrid>
                <a:gridCol w="2017575">
                  <a:extLst>
                    <a:ext uri="{9D8B030D-6E8A-4147-A177-3AD203B41FA5}">
                      <a16:colId xmlns:a16="http://schemas.microsoft.com/office/drawing/2014/main" val="1771949760"/>
                    </a:ext>
                  </a:extLst>
                </a:gridCol>
                <a:gridCol w="639747">
                  <a:extLst>
                    <a:ext uri="{9D8B030D-6E8A-4147-A177-3AD203B41FA5}">
                      <a16:colId xmlns:a16="http://schemas.microsoft.com/office/drawing/2014/main" val="2718385813"/>
                    </a:ext>
                  </a:extLst>
                </a:gridCol>
                <a:gridCol w="601039">
                  <a:extLst>
                    <a:ext uri="{9D8B030D-6E8A-4147-A177-3AD203B41FA5}">
                      <a16:colId xmlns:a16="http://schemas.microsoft.com/office/drawing/2014/main" val="2384677043"/>
                    </a:ext>
                  </a:extLst>
                </a:gridCol>
                <a:gridCol w="760288">
                  <a:extLst>
                    <a:ext uri="{9D8B030D-6E8A-4147-A177-3AD203B41FA5}">
                      <a16:colId xmlns:a16="http://schemas.microsoft.com/office/drawing/2014/main" val="77832234"/>
                    </a:ext>
                  </a:extLst>
                </a:gridCol>
              </a:tblGrid>
              <a:tr h="165960">
                <a:tc>
                  <a:txBody>
                    <a:bodyPr/>
                    <a:lstStyle/>
                    <a:p>
                      <a:pPr algn="l" fontAlgn="ctr">
                        <a:buNone/>
                      </a:pPr>
                      <a:r>
                        <a:rPr lang="en-IN" sz="700" b="1" dirty="0">
                          <a:effectLst/>
                        </a:rPr>
                        <a:t>Model</a:t>
                      </a:r>
                    </a:p>
                  </a:txBody>
                  <a:tcPr marL="77643" marR="77643" marT="38822" marB="38822" anchor="ctr"/>
                </a:tc>
                <a:tc>
                  <a:txBody>
                    <a:bodyPr/>
                    <a:lstStyle/>
                    <a:p>
                      <a:pPr algn="l" fontAlgn="ctr">
                        <a:buNone/>
                      </a:pPr>
                      <a:r>
                        <a:rPr lang="en-IN" sz="700" b="1">
                          <a:effectLst/>
                        </a:rPr>
                        <a:t>MAE</a:t>
                      </a:r>
                    </a:p>
                  </a:txBody>
                  <a:tcPr marL="77643" marR="77643" marT="38822" marB="38822" anchor="ctr"/>
                </a:tc>
                <a:tc>
                  <a:txBody>
                    <a:bodyPr/>
                    <a:lstStyle/>
                    <a:p>
                      <a:pPr algn="l" fontAlgn="ctr">
                        <a:buNone/>
                      </a:pPr>
                      <a:r>
                        <a:rPr lang="en-IN" sz="700" b="1">
                          <a:effectLst/>
                        </a:rPr>
                        <a:t>RMSE</a:t>
                      </a:r>
                    </a:p>
                  </a:txBody>
                  <a:tcPr marL="77643" marR="77643" marT="38822" marB="38822" anchor="ctr"/>
                </a:tc>
                <a:tc>
                  <a:txBody>
                    <a:bodyPr/>
                    <a:lstStyle/>
                    <a:p>
                      <a:pPr algn="l" fontAlgn="ctr">
                        <a:buNone/>
                      </a:pPr>
                      <a:r>
                        <a:rPr lang="en-IN" sz="700" b="1">
                          <a:effectLst/>
                        </a:rPr>
                        <a:t>MAPE</a:t>
                      </a:r>
                    </a:p>
                  </a:txBody>
                  <a:tcPr marL="77643" marR="77643" marT="38822" marB="38822" anchor="ctr"/>
                </a:tc>
                <a:extLst>
                  <a:ext uri="{0D108BD9-81ED-4DB2-BD59-A6C34878D82A}">
                    <a16:rowId xmlns:a16="http://schemas.microsoft.com/office/drawing/2014/main" val="3838374598"/>
                  </a:ext>
                </a:extLst>
              </a:tr>
              <a:tr h="165960">
                <a:tc>
                  <a:txBody>
                    <a:bodyPr/>
                    <a:lstStyle/>
                    <a:p>
                      <a:pPr algn="l" fontAlgn="ctr">
                        <a:buNone/>
                      </a:pPr>
                      <a:r>
                        <a:rPr lang="en-IN" sz="700" b="1" dirty="0">
                          <a:effectLst/>
                        </a:rPr>
                        <a:t>ARIMA Models</a:t>
                      </a:r>
                      <a:endParaRPr lang="en-IN" sz="700" dirty="0">
                        <a:effectLst/>
                      </a:endParaRPr>
                    </a:p>
                  </a:txBody>
                  <a:tcPr marL="77643" marR="77643" marT="38822" marB="38822" anchor="ctr"/>
                </a:tc>
                <a:tc>
                  <a:txBody>
                    <a:bodyPr/>
                    <a:lstStyle/>
                    <a:p>
                      <a:pPr algn="l" fontAlgn="ctr">
                        <a:buNone/>
                      </a:pPr>
                      <a:endParaRPr lang="en-IN" sz="700">
                        <a:effectLst/>
                      </a:endParaRPr>
                    </a:p>
                  </a:txBody>
                  <a:tcPr marL="77643" marR="77643" marT="38822" marB="38822" anchor="ctr"/>
                </a:tc>
                <a:tc>
                  <a:txBody>
                    <a:bodyPr/>
                    <a:lstStyle/>
                    <a:p>
                      <a:pPr algn="l" fontAlgn="ctr">
                        <a:buNone/>
                      </a:pPr>
                      <a:endParaRPr lang="en-IN" sz="700">
                        <a:effectLst/>
                      </a:endParaRPr>
                    </a:p>
                  </a:txBody>
                  <a:tcPr marL="77643" marR="77643" marT="38822" marB="38822" anchor="ctr"/>
                </a:tc>
                <a:tc>
                  <a:txBody>
                    <a:bodyPr/>
                    <a:lstStyle/>
                    <a:p>
                      <a:pPr algn="l" fontAlgn="ctr">
                        <a:buNone/>
                      </a:pPr>
                      <a:endParaRPr lang="en-IN" sz="700">
                        <a:effectLst/>
                      </a:endParaRPr>
                    </a:p>
                  </a:txBody>
                  <a:tcPr marL="77643" marR="77643" marT="38822" marB="38822" anchor="ctr"/>
                </a:tc>
                <a:extLst>
                  <a:ext uri="{0D108BD9-81ED-4DB2-BD59-A6C34878D82A}">
                    <a16:rowId xmlns:a16="http://schemas.microsoft.com/office/drawing/2014/main" val="4026864272"/>
                  </a:ext>
                </a:extLst>
              </a:tr>
              <a:tr h="274173">
                <a:tc>
                  <a:txBody>
                    <a:bodyPr/>
                    <a:lstStyle/>
                    <a:p>
                      <a:pPr algn="l" fontAlgn="ctr">
                        <a:buNone/>
                      </a:pPr>
                      <a:r>
                        <a:rPr lang="en-IN" sz="700" dirty="0">
                          <a:effectLst/>
                        </a:rPr>
                        <a:t>1. Plain ARIMA (Static Train/Test)</a:t>
                      </a:r>
                    </a:p>
                  </a:txBody>
                  <a:tcPr marL="77643" marR="77643" marT="38822" marB="38822" anchor="ctr"/>
                </a:tc>
                <a:tc>
                  <a:txBody>
                    <a:bodyPr/>
                    <a:lstStyle/>
                    <a:p>
                      <a:pPr algn="l" fontAlgn="ctr">
                        <a:buNone/>
                      </a:pPr>
                      <a:r>
                        <a:rPr lang="en-IN" sz="700" dirty="0">
                          <a:solidFill>
                            <a:schemeClr val="bg2"/>
                          </a:solidFill>
                          <a:effectLst/>
                        </a:rPr>
                        <a:t>3.20</a:t>
                      </a:r>
                    </a:p>
                  </a:txBody>
                  <a:tcPr marL="77643" marR="77643" marT="38822" marB="38822" anchor="ctr"/>
                </a:tc>
                <a:tc>
                  <a:txBody>
                    <a:bodyPr/>
                    <a:lstStyle/>
                    <a:p>
                      <a:pPr algn="l" fontAlgn="ctr">
                        <a:buNone/>
                      </a:pPr>
                      <a:r>
                        <a:rPr lang="en-IN" sz="700">
                          <a:solidFill>
                            <a:schemeClr val="bg2"/>
                          </a:solidFill>
                          <a:effectLst/>
                        </a:rPr>
                        <a:t>4.19</a:t>
                      </a:r>
                    </a:p>
                  </a:txBody>
                  <a:tcPr marL="77643" marR="77643" marT="38822" marB="38822" anchor="ctr"/>
                </a:tc>
                <a:tc>
                  <a:txBody>
                    <a:bodyPr/>
                    <a:lstStyle/>
                    <a:p>
                      <a:pPr algn="l" fontAlgn="ctr">
                        <a:buNone/>
                      </a:pPr>
                      <a:r>
                        <a:rPr lang="en-IN" sz="700">
                          <a:solidFill>
                            <a:schemeClr val="bg2"/>
                          </a:solidFill>
                          <a:effectLst/>
                        </a:rPr>
                        <a:t>83.17%</a:t>
                      </a:r>
                    </a:p>
                  </a:txBody>
                  <a:tcPr marL="77643" marR="77643" marT="38822" marB="38822" anchor="ctr"/>
                </a:tc>
                <a:extLst>
                  <a:ext uri="{0D108BD9-81ED-4DB2-BD59-A6C34878D82A}">
                    <a16:rowId xmlns:a16="http://schemas.microsoft.com/office/drawing/2014/main" val="106508024"/>
                  </a:ext>
                </a:extLst>
              </a:tr>
              <a:tr h="274173">
                <a:tc>
                  <a:txBody>
                    <a:bodyPr/>
                    <a:lstStyle/>
                    <a:p>
                      <a:pPr algn="l" fontAlgn="ctr">
                        <a:buNone/>
                      </a:pPr>
                      <a:r>
                        <a:rPr lang="en-IN" sz="700">
                          <a:effectLst/>
                        </a:rPr>
                        <a:t>2. Rolling Walk-Forward ARIMA</a:t>
                      </a:r>
                    </a:p>
                  </a:txBody>
                  <a:tcPr marL="77643" marR="77643" marT="38822" marB="38822" anchor="ctr"/>
                </a:tc>
                <a:tc>
                  <a:txBody>
                    <a:bodyPr/>
                    <a:lstStyle/>
                    <a:p>
                      <a:pPr algn="l" fontAlgn="ctr">
                        <a:buNone/>
                      </a:pPr>
                      <a:r>
                        <a:rPr lang="en-IN" sz="700" b="1" dirty="0">
                          <a:solidFill>
                            <a:schemeClr val="bg2"/>
                          </a:solidFill>
                          <a:effectLst/>
                        </a:rPr>
                        <a:t>1.70</a:t>
                      </a:r>
                    </a:p>
                  </a:txBody>
                  <a:tcPr marL="77643" marR="77643" marT="38822" marB="38822" anchor="ctr"/>
                </a:tc>
                <a:tc>
                  <a:txBody>
                    <a:bodyPr/>
                    <a:lstStyle/>
                    <a:p>
                      <a:pPr algn="l" fontAlgn="ctr">
                        <a:buNone/>
                      </a:pPr>
                      <a:r>
                        <a:rPr lang="en-IN" sz="700" b="1" dirty="0">
                          <a:solidFill>
                            <a:schemeClr val="bg2"/>
                          </a:solidFill>
                          <a:effectLst/>
                        </a:rPr>
                        <a:t>2.19</a:t>
                      </a:r>
                    </a:p>
                  </a:txBody>
                  <a:tcPr marL="77643" marR="77643" marT="38822" marB="38822" anchor="ctr"/>
                </a:tc>
                <a:tc>
                  <a:txBody>
                    <a:bodyPr/>
                    <a:lstStyle/>
                    <a:p>
                      <a:pPr algn="l" fontAlgn="ctr">
                        <a:buNone/>
                      </a:pPr>
                      <a:r>
                        <a:rPr lang="en-IN" sz="700" b="1" dirty="0">
                          <a:solidFill>
                            <a:schemeClr val="bg2"/>
                          </a:solidFill>
                          <a:effectLst/>
                        </a:rPr>
                        <a:t>32.17%</a:t>
                      </a:r>
                    </a:p>
                  </a:txBody>
                  <a:tcPr marL="77643" marR="77643" marT="38822" marB="38822" anchor="ctr"/>
                </a:tc>
                <a:extLst>
                  <a:ext uri="{0D108BD9-81ED-4DB2-BD59-A6C34878D82A}">
                    <a16:rowId xmlns:a16="http://schemas.microsoft.com/office/drawing/2014/main" val="2922149372"/>
                  </a:ext>
                </a:extLst>
              </a:tr>
              <a:tr h="274173">
                <a:tc>
                  <a:txBody>
                    <a:bodyPr/>
                    <a:lstStyle/>
                    <a:p>
                      <a:pPr algn="l" fontAlgn="ctr">
                        <a:buNone/>
                      </a:pPr>
                      <a:r>
                        <a:rPr lang="en-IN" sz="700" dirty="0">
                          <a:effectLst/>
                        </a:rPr>
                        <a:t>3. Auto-ARIMA (Non-Seasonal)</a:t>
                      </a:r>
                    </a:p>
                  </a:txBody>
                  <a:tcPr marL="77643" marR="77643" marT="38822" marB="38822" anchor="ctr"/>
                </a:tc>
                <a:tc>
                  <a:txBody>
                    <a:bodyPr/>
                    <a:lstStyle/>
                    <a:p>
                      <a:pPr algn="l" fontAlgn="ctr">
                        <a:buNone/>
                      </a:pPr>
                      <a:r>
                        <a:rPr lang="en-IN" sz="700">
                          <a:solidFill>
                            <a:schemeClr val="bg2"/>
                          </a:solidFill>
                          <a:effectLst/>
                        </a:rPr>
                        <a:t>3.19</a:t>
                      </a:r>
                    </a:p>
                  </a:txBody>
                  <a:tcPr marL="77643" marR="77643" marT="38822" marB="38822" anchor="ctr"/>
                </a:tc>
                <a:tc>
                  <a:txBody>
                    <a:bodyPr/>
                    <a:lstStyle/>
                    <a:p>
                      <a:pPr algn="l" fontAlgn="ctr">
                        <a:buNone/>
                      </a:pPr>
                      <a:r>
                        <a:rPr lang="en-IN" sz="700" dirty="0">
                          <a:solidFill>
                            <a:schemeClr val="bg2"/>
                          </a:solidFill>
                          <a:effectLst/>
                        </a:rPr>
                        <a:t>4.19</a:t>
                      </a:r>
                    </a:p>
                  </a:txBody>
                  <a:tcPr marL="77643" marR="77643" marT="38822" marB="38822" anchor="ctr"/>
                </a:tc>
                <a:tc>
                  <a:txBody>
                    <a:bodyPr/>
                    <a:lstStyle/>
                    <a:p>
                      <a:pPr algn="l" fontAlgn="ctr">
                        <a:buNone/>
                      </a:pPr>
                      <a:r>
                        <a:rPr lang="en-IN" sz="700">
                          <a:solidFill>
                            <a:schemeClr val="bg2"/>
                          </a:solidFill>
                          <a:effectLst/>
                        </a:rPr>
                        <a:t>83.14%</a:t>
                      </a:r>
                    </a:p>
                  </a:txBody>
                  <a:tcPr marL="77643" marR="77643" marT="38822" marB="38822" anchor="ctr"/>
                </a:tc>
                <a:extLst>
                  <a:ext uri="{0D108BD9-81ED-4DB2-BD59-A6C34878D82A}">
                    <a16:rowId xmlns:a16="http://schemas.microsoft.com/office/drawing/2014/main" val="1249327367"/>
                  </a:ext>
                </a:extLst>
              </a:tr>
              <a:tr h="165960">
                <a:tc>
                  <a:txBody>
                    <a:bodyPr/>
                    <a:lstStyle/>
                    <a:p>
                      <a:pPr algn="l" fontAlgn="ctr">
                        <a:buNone/>
                      </a:pPr>
                      <a:r>
                        <a:rPr lang="en-IN" sz="700" b="1" dirty="0">
                          <a:effectLst/>
                        </a:rPr>
                        <a:t>SARIMA Models</a:t>
                      </a:r>
                      <a:endParaRPr lang="en-IN" sz="700" dirty="0">
                        <a:effectLst/>
                      </a:endParaRPr>
                    </a:p>
                  </a:txBody>
                  <a:tcPr marL="77643" marR="77643" marT="38822" marB="38822" anchor="ctr"/>
                </a:tc>
                <a:tc>
                  <a:txBody>
                    <a:bodyPr/>
                    <a:lstStyle/>
                    <a:p>
                      <a:pPr algn="l" fontAlgn="ctr">
                        <a:buNone/>
                      </a:pPr>
                      <a:endParaRPr lang="en-IN" sz="700">
                        <a:solidFill>
                          <a:schemeClr val="bg2"/>
                        </a:solidFill>
                        <a:effectLst/>
                      </a:endParaRPr>
                    </a:p>
                  </a:txBody>
                  <a:tcPr marL="77643" marR="77643" marT="38822" marB="38822" anchor="ctr"/>
                </a:tc>
                <a:tc>
                  <a:txBody>
                    <a:bodyPr/>
                    <a:lstStyle/>
                    <a:p>
                      <a:pPr algn="l" fontAlgn="ctr">
                        <a:buNone/>
                      </a:pPr>
                      <a:endParaRPr lang="en-IN" sz="700">
                        <a:solidFill>
                          <a:schemeClr val="bg2"/>
                        </a:solidFill>
                        <a:effectLst/>
                      </a:endParaRPr>
                    </a:p>
                  </a:txBody>
                  <a:tcPr marL="77643" marR="77643" marT="38822" marB="38822" anchor="ctr"/>
                </a:tc>
                <a:tc>
                  <a:txBody>
                    <a:bodyPr/>
                    <a:lstStyle/>
                    <a:p>
                      <a:pPr algn="l" fontAlgn="ctr">
                        <a:buNone/>
                      </a:pPr>
                      <a:endParaRPr lang="en-IN" sz="700">
                        <a:solidFill>
                          <a:schemeClr val="bg2"/>
                        </a:solidFill>
                        <a:effectLst/>
                      </a:endParaRPr>
                    </a:p>
                  </a:txBody>
                  <a:tcPr marL="77643" marR="77643" marT="38822" marB="38822" anchor="ctr"/>
                </a:tc>
                <a:extLst>
                  <a:ext uri="{0D108BD9-81ED-4DB2-BD59-A6C34878D82A}">
                    <a16:rowId xmlns:a16="http://schemas.microsoft.com/office/drawing/2014/main" val="3201817416"/>
                  </a:ext>
                </a:extLst>
              </a:tr>
              <a:tr h="274173">
                <a:tc>
                  <a:txBody>
                    <a:bodyPr/>
                    <a:lstStyle/>
                    <a:p>
                      <a:pPr algn="l" fontAlgn="ctr">
                        <a:buNone/>
                      </a:pPr>
                      <a:r>
                        <a:rPr lang="it-IT" sz="700" dirty="0">
                          <a:effectLst/>
                        </a:rPr>
                        <a:t>1. SARIMA SMODEL 1 (Static Train/Test)</a:t>
                      </a:r>
                    </a:p>
                  </a:txBody>
                  <a:tcPr marL="77643" marR="77643" marT="38822" marB="38822" anchor="ctr"/>
                </a:tc>
                <a:tc>
                  <a:txBody>
                    <a:bodyPr/>
                    <a:lstStyle/>
                    <a:p>
                      <a:pPr algn="l" fontAlgn="ctr">
                        <a:buNone/>
                      </a:pPr>
                      <a:r>
                        <a:rPr lang="en-IN" sz="700">
                          <a:solidFill>
                            <a:schemeClr val="bg2"/>
                          </a:solidFill>
                          <a:effectLst/>
                        </a:rPr>
                        <a:t>2.99</a:t>
                      </a:r>
                    </a:p>
                  </a:txBody>
                  <a:tcPr marL="77643" marR="77643" marT="38822" marB="38822" anchor="ctr"/>
                </a:tc>
                <a:tc>
                  <a:txBody>
                    <a:bodyPr/>
                    <a:lstStyle/>
                    <a:p>
                      <a:pPr algn="l" fontAlgn="ctr">
                        <a:buNone/>
                      </a:pPr>
                      <a:r>
                        <a:rPr lang="en-IN" sz="700" dirty="0">
                          <a:solidFill>
                            <a:schemeClr val="bg2"/>
                          </a:solidFill>
                          <a:effectLst/>
                        </a:rPr>
                        <a:t>3.92</a:t>
                      </a:r>
                    </a:p>
                  </a:txBody>
                  <a:tcPr marL="77643" marR="77643" marT="38822" marB="38822" anchor="ctr"/>
                </a:tc>
                <a:tc>
                  <a:txBody>
                    <a:bodyPr/>
                    <a:lstStyle/>
                    <a:p>
                      <a:pPr algn="l" fontAlgn="ctr">
                        <a:buNone/>
                      </a:pPr>
                      <a:r>
                        <a:rPr lang="en-IN" sz="700" dirty="0">
                          <a:solidFill>
                            <a:schemeClr val="bg2"/>
                          </a:solidFill>
                          <a:effectLst/>
                        </a:rPr>
                        <a:t>42.26%</a:t>
                      </a:r>
                    </a:p>
                  </a:txBody>
                  <a:tcPr marL="77643" marR="77643" marT="38822" marB="38822" anchor="ctr"/>
                </a:tc>
                <a:extLst>
                  <a:ext uri="{0D108BD9-81ED-4DB2-BD59-A6C34878D82A}">
                    <a16:rowId xmlns:a16="http://schemas.microsoft.com/office/drawing/2014/main" val="2617511015"/>
                  </a:ext>
                </a:extLst>
              </a:tr>
              <a:tr h="274173">
                <a:tc>
                  <a:txBody>
                    <a:bodyPr/>
                    <a:lstStyle/>
                    <a:p>
                      <a:pPr algn="l" fontAlgn="ctr">
                        <a:buNone/>
                      </a:pPr>
                      <a:r>
                        <a:rPr lang="it-IT" sz="700" dirty="0">
                          <a:effectLst/>
                        </a:rPr>
                        <a:t>2. SARIMA SMODEL 2 (Rolling Walk Forward)</a:t>
                      </a:r>
                    </a:p>
                  </a:txBody>
                  <a:tcPr marL="77643" marR="77643" marT="38822" marB="38822" anchor="ctr"/>
                </a:tc>
                <a:tc>
                  <a:txBody>
                    <a:bodyPr/>
                    <a:lstStyle/>
                    <a:p>
                      <a:pPr algn="l" fontAlgn="ctr">
                        <a:buNone/>
                      </a:pPr>
                      <a:r>
                        <a:rPr lang="en-IN" sz="700" b="1" dirty="0">
                          <a:solidFill>
                            <a:schemeClr val="bg2"/>
                          </a:solidFill>
                          <a:effectLst/>
                        </a:rPr>
                        <a:t>1.72</a:t>
                      </a:r>
                    </a:p>
                  </a:txBody>
                  <a:tcPr marL="77643" marR="77643" marT="38822" marB="38822" anchor="ctr"/>
                </a:tc>
                <a:tc>
                  <a:txBody>
                    <a:bodyPr/>
                    <a:lstStyle/>
                    <a:p>
                      <a:pPr algn="l" fontAlgn="ctr">
                        <a:buNone/>
                      </a:pPr>
                      <a:r>
                        <a:rPr lang="en-IN" sz="700" b="1" dirty="0">
                          <a:solidFill>
                            <a:schemeClr val="bg2"/>
                          </a:solidFill>
                          <a:effectLst/>
                        </a:rPr>
                        <a:t>2.30</a:t>
                      </a:r>
                    </a:p>
                  </a:txBody>
                  <a:tcPr marL="77643" marR="77643" marT="38822" marB="38822" anchor="ctr"/>
                </a:tc>
                <a:tc>
                  <a:txBody>
                    <a:bodyPr/>
                    <a:lstStyle/>
                    <a:p>
                      <a:pPr algn="l" fontAlgn="ctr">
                        <a:buNone/>
                      </a:pPr>
                      <a:r>
                        <a:rPr lang="en-IN" sz="700" b="1" dirty="0">
                          <a:solidFill>
                            <a:schemeClr val="bg2"/>
                          </a:solidFill>
                          <a:effectLst/>
                        </a:rPr>
                        <a:t>22.85%</a:t>
                      </a:r>
                    </a:p>
                  </a:txBody>
                  <a:tcPr marL="77643" marR="77643" marT="38822" marB="38822" anchor="ctr"/>
                </a:tc>
                <a:extLst>
                  <a:ext uri="{0D108BD9-81ED-4DB2-BD59-A6C34878D82A}">
                    <a16:rowId xmlns:a16="http://schemas.microsoft.com/office/drawing/2014/main" val="2918741889"/>
                  </a:ext>
                </a:extLst>
              </a:tr>
              <a:tr h="274173">
                <a:tc>
                  <a:txBody>
                    <a:bodyPr/>
                    <a:lstStyle/>
                    <a:p>
                      <a:pPr algn="l" fontAlgn="ctr">
                        <a:buNone/>
                      </a:pPr>
                      <a:r>
                        <a:rPr lang="it-IT" sz="700" dirty="0">
                          <a:effectLst/>
                        </a:rPr>
                        <a:t>3. AUTO-SARIMA SMODEL 3 (Seasonal)</a:t>
                      </a:r>
                    </a:p>
                  </a:txBody>
                  <a:tcPr marL="77643" marR="77643" marT="38822" marB="38822" anchor="ctr"/>
                </a:tc>
                <a:tc>
                  <a:txBody>
                    <a:bodyPr/>
                    <a:lstStyle/>
                    <a:p>
                      <a:pPr algn="l" fontAlgn="ctr">
                        <a:buNone/>
                      </a:pPr>
                      <a:r>
                        <a:rPr lang="en-IN" sz="700">
                          <a:solidFill>
                            <a:schemeClr val="bg2"/>
                          </a:solidFill>
                          <a:effectLst/>
                        </a:rPr>
                        <a:t>2.08</a:t>
                      </a:r>
                    </a:p>
                  </a:txBody>
                  <a:tcPr marL="77643" marR="77643" marT="38822" marB="38822" anchor="ctr"/>
                </a:tc>
                <a:tc>
                  <a:txBody>
                    <a:bodyPr/>
                    <a:lstStyle/>
                    <a:p>
                      <a:pPr algn="l" fontAlgn="ctr">
                        <a:buNone/>
                      </a:pPr>
                      <a:r>
                        <a:rPr lang="en-IN" sz="700">
                          <a:solidFill>
                            <a:schemeClr val="bg2"/>
                          </a:solidFill>
                          <a:effectLst/>
                        </a:rPr>
                        <a:t>3.06</a:t>
                      </a:r>
                    </a:p>
                  </a:txBody>
                  <a:tcPr marL="77643" marR="77643" marT="38822" marB="38822" anchor="ctr"/>
                </a:tc>
                <a:tc>
                  <a:txBody>
                    <a:bodyPr/>
                    <a:lstStyle/>
                    <a:p>
                      <a:pPr algn="l" fontAlgn="ctr">
                        <a:buNone/>
                      </a:pPr>
                      <a:r>
                        <a:rPr lang="en-IN" sz="700" dirty="0">
                          <a:solidFill>
                            <a:schemeClr val="bg2"/>
                          </a:solidFill>
                          <a:effectLst/>
                        </a:rPr>
                        <a:t>25.28%</a:t>
                      </a:r>
                    </a:p>
                  </a:txBody>
                  <a:tcPr marL="77643" marR="77643" marT="38822" marB="38822" anchor="ctr"/>
                </a:tc>
                <a:extLst>
                  <a:ext uri="{0D108BD9-81ED-4DB2-BD59-A6C34878D82A}">
                    <a16:rowId xmlns:a16="http://schemas.microsoft.com/office/drawing/2014/main" val="3444974745"/>
                  </a:ext>
                </a:extLst>
              </a:tr>
            </a:tbl>
          </a:graphicData>
        </a:graphic>
      </p:graphicFrame>
      <p:sp>
        <p:nvSpPr>
          <p:cNvPr id="3" name="Google Shape;129;p20">
            <a:extLst>
              <a:ext uri="{FF2B5EF4-FFF2-40B4-BE49-F238E27FC236}">
                <a16:creationId xmlns:a16="http://schemas.microsoft.com/office/drawing/2014/main" id="{420DEF88-2E60-2D7D-9A60-3EF73CAEEE6D}"/>
              </a:ext>
            </a:extLst>
          </p:cNvPr>
          <p:cNvSpPr txBox="1">
            <a:spLocks/>
          </p:cNvSpPr>
          <p:nvPr/>
        </p:nvSpPr>
        <p:spPr>
          <a:xfrm>
            <a:off x="5150764" y="3774219"/>
            <a:ext cx="3746657" cy="885111"/>
          </a:xfrm>
          <a:prstGeom prst="rect">
            <a:avLst/>
          </a:prstGeom>
          <a:noFill/>
          <a:ln>
            <a:noFill/>
          </a:ln>
        </p:spPr>
        <p:txBody>
          <a:bodyPr spcFirstLastPara="1" wrap="square" lIns="91425" tIns="91425" rIns="91425" bIns="91425" anchor="t" anchorCtr="0">
            <a:normAutofit fontScale="925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285750" indent="-285750">
              <a:buFont typeface="Wingdings" panose="05000000000000000000" pitchFamily="2" charset="2"/>
              <a:buChar char="q"/>
            </a:pPr>
            <a:r>
              <a:rPr lang="en-IN" sz="1000" dirty="0"/>
              <a:t>LSTM captures nonlinear KPI behaviour and shows the best performance and accuracy</a:t>
            </a:r>
          </a:p>
          <a:p>
            <a:pPr marL="285750" indent="-285750">
              <a:buFont typeface="Wingdings" panose="05000000000000000000" pitchFamily="2" charset="2"/>
              <a:buChar char="q"/>
            </a:pPr>
            <a:r>
              <a:rPr lang="en-IN" sz="1000" dirty="0"/>
              <a:t>Hybrid model could not achieve low errors, the LSTM could not capture the residues completely leaving only the noise.</a:t>
            </a:r>
          </a:p>
          <a:p>
            <a:pPr marL="171450" indent="-171450">
              <a:buFont typeface="Wingdings" panose="05000000000000000000" pitchFamily="2" charset="2"/>
              <a:buChar char="q"/>
            </a:pPr>
            <a:endParaRPr lang="en-IN" sz="1000" dirty="0"/>
          </a:p>
        </p:txBody>
      </p:sp>
      <p:graphicFrame>
        <p:nvGraphicFramePr>
          <p:cNvPr id="8" name="Table 7">
            <a:extLst>
              <a:ext uri="{FF2B5EF4-FFF2-40B4-BE49-F238E27FC236}">
                <a16:creationId xmlns:a16="http://schemas.microsoft.com/office/drawing/2014/main" id="{33A8592F-B7E5-70D6-ACA2-187254EAD0B0}"/>
              </a:ext>
            </a:extLst>
          </p:cNvPr>
          <p:cNvGraphicFramePr>
            <a:graphicFrameLocks noGrp="1"/>
          </p:cNvGraphicFramePr>
          <p:nvPr>
            <p:extLst>
              <p:ext uri="{D42A27DB-BD31-4B8C-83A1-F6EECF244321}">
                <p14:modId xmlns:p14="http://schemas.microsoft.com/office/powerpoint/2010/main" val="3880543387"/>
              </p:ext>
            </p:extLst>
          </p:nvPr>
        </p:nvGraphicFramePr>
        <p:xfrm>
          <a:off x="4908836" y="1386816"/>
          <a:ext cx="4147836" cy="1088686"/>
        </p:xfrm>
        <a:graphic>
          <a:graphicData uri="http://schemas.openxmlformats.org/drawingml/2006/table">
            <a:tbl>
              <a:tblPr firstRow="1" bandRow="1">
                <a:tableStyleId>{B301B821-A1FF-4177-AEE7-76D212191A09}</a:tableStyleId>
              </a:tblPr>
              <a:tblGrid>
                <a:gridCol w="1646076">
                  <a:extLst>
                    <a:ext uri="{9D8B030D-6E8A-4147-A177-3AD203B41FA5}">
                      <a16:colId xmlns:a16="http://schemas.microsoft.com/office/drawing/2014/main" val="1955950415"/>
                    </a:ext>
                  </a:extLst>
                </a:gridCol>
                <a:gridCol w="965771">
                  <a:extLst>
                    <a:ext uri="{9D8B030D-6E8A-4147-A177-3AD203B41FA5}">
                      <a16:colId xmlns:a16="http://schemas.microsoft.com/office/drawing/2014/main" val="2538025875"/>
                    </a:ext>
                  </a:extLst>
                </a:gridCol>
                <a:gridCol w="775699">
                  <a:extLst>
                    <a:ext uri="{9D8B030D-6E8A-4147-A177-3AD203B41FA5}">
                      <a16:colId xmlns:a16="http://schemas.microsoft.com/office/drawing/2014/main" val="2747952707"/>
                    </a:ext>
                  </a:extLst>
                </a:gridCol>
                <a:gridCol w="760290">
                  <a:extLst>
                    <a:ext uri="{9D8B030D-6E8A-4147-A177-3AD203B41FA5}">
                      <a16:colId xmlns:a16="http://schemas.microsoft.com/office/drawing/2014/main" val="3600706742"/>
                    </a:ext>
                  </a:extLst>
                </a:gridCol>
              </a:tblGrid>
              <a:tr h="190023">
                <a:tc>
                  <a:txBody>
                    <a:bodyPr/>
                    <a:lstStyle/>
                    <a:p>
                      <a:pPr fontAlgn="ctr">
                        <a:buNone/>
                      </a:pPr>
                      <a:r>
                        <a:rPr lang="en-IN" sz="700" b="1" dirty="0">
                          <a:effectLst/>
                        </a:rPr>
                        <a:t>Model</a:t>
                      </a:r>
                    </a:p>
                  </a:txBody>
                  <a:tcPr anchor="ctr"/>
                </a:tc>
                <a:tc>
                  <a:txBody>
                    <a:bodyPr/>
                    <a:lstStyle/>
                    <a:p>
                      <a:pPr fontAlgn="ctr">
                        <a:buNone/>
                      </a:pPr>
                      <a:r>
                        <a:rPr lang="en-IN" sz="700" b="1" dirty="0">
                          <a:effectLst/>
                        </a:rPr>
                        <a:t>MAE</a:t>
                      </a:r>
                    </a:p>
                  </a:txBody>
                  <a:tcPr anchor="ctr"/>
                </a:tc>
                <a:tc>
                  <a:txBody>
                    <a:bodyPr/>
                    <a:lstStyle/>
                    <a:p>
                      <a:pPr fontAlgn="ctr">
                        <a:buNone/>
                      </a:pPr>
                      <a:r>
                        <a:rPr lang="en-IN" sz="700" b="1">
                          <a:effectLst/>
                        </a:rPr>
                        <a:t>RMSE</a:t>
                      </a:r>
                    </a:p>
                  </a:txBody>
                  <a:tcPr anchor="ctr"/>
                </a:tc>
                <a:tc>
                  <a:txBody>
                    <a:bodyPr/>
                    <a:lstStyle/>
                    <a:p>
                      <a:pPr fontAlgn="ctr">
                        <a:buNone/>
                      </a:pPr>
                      <a:r>
                        <a:rPr lang="en-IN" sz="700" b="1">
                          <a:effectLst/>
                        </a:rPr>
                        <a:t>MAPE</a:t>
                      </a:r>
                    </a:p>
                  </a:txBody>
                  <a:tcPr anchor="ctr"/>
                </a:tc>
                <a:extLst>
                  <a:ext uri="{0D108BD9-81ED-4DB2-BD59-A6C34878D82A}">
                    <a16:rowId xmlns:a16="http://schemas.microsoft.com/office/drawing/2014/main" val="1247447724"/>
                  </a:ext>
                </a:extLst>
              </a:tr>
              <a:tr h="247824">
                <a:tc>
                  <a:txBody>
                    <a:bodyPr/>
                    <a:lstStyle/>
                    <a:p>
                      <a:pPr fontAlgn="ctr">
                        <a:buNone/>
                      </a:pPr>
                      <a:r>
                        <a:rPr lang="da-DK" sz="700">
                          <a:effectLst/>
                        </a:rPr>
                        <a:t>Model 1 (Single Layer LSTM)</a:t>
                      </a:r>
                    </a:p>
                  </a:txBody>
                  <a:tcPr anchor="ctr"/>
                </a:tc>
                <a:tc>
                  <a:txBody>
                    <a:bodyPr/>
                    <a:lstStyle/>
                    <a:p>
                      <a:pPr fontAlgn="ctr">
                        <a:buNone/>
                      </a:pPr>
                      <a:r>
                        <a:rPr lang="en-IN" sz="700" dirty="0">
                          <a:solidFill>
                            <a:schemeClr val="bg2"/>
                          </a:solidFill>
                          <a:effectLst/>
                        </a:rPr>
                        <a:t>1.9835</a:t>
                      </a:r>
                    </a:p>
                  </a:txBody>
                  <a:tcPr anchor="ctr"/>
                </a:tc>
                <a:tc>
                  <a:txBody>
                    <a:bodyPr/>
                    <a:lstStyle/>
                    <a:p>
                      <a:pPr fontAlgn="ctr">
                        <a:buNone/>
                      </a:pPr>
                      <a:r>
                        <a:rPr lang="en-IN" sz="700">
                          <a:solidFill>
                            <a:schemeClr val="bg2"/>
                          </a:solidFill>
                          <a:effectLst/>
                        </a:rPr>
                        <a:t>2.4065</a:t>
                      </a:r>
                    </a:p>
                  </a:txBody>
                  <a:tcPr anchor="ctr"/>
                </a:tc>
                <a:tc>
                  <a:txBody>
                    <a:bodyPr/>
                    <a:lstStyle/>
                    <a:p>
                      <a:pPr fontAlgn="ctr">
                        <a:buNone/>
                      </a:pPr>
                      <a:r>
                        <a:rPr lang="en-IN" sz="700">
                          <a:solidFill>
                            <a:schemeClr val="bg2"/>
                          </a:solidFill>
                          <a:effectLst/>
                        </a:rPr>
                        <a:t>40.18%</a:t>
                      </a:r>
                    </a:p>
                  </a:txBody>
                  <a:tcPr anchor="ctr"/>
                </a:tc>
                <a:extLst>
                  <a:ext uri="{0D108BD9-81ED-4DB2-BD59-A6C34878D82A}">
                    <a16:rowId xmlns:a16="http://schemas.microsoft.com/office/drawing/2014/main" val="886641987"/>
                  </a:ext>
                </a:extLst>
              </a:tr>
              <a:tr h="292344">
                <a:tc>
                  <a:txBody>
                    <a:bodyPr/>
                    <a:lstStyle/>
                    <a:p>
                      <a:pPr fontAlgn="ctr">
                        <a:buNone/>
                      </a:pPr>
                      <a:r>
                        <a:rPr lang="en-IN" sz="700">
                          <a:effectLst/>
                        </a:rPr>
                        <a:t>Model 2 (Stacked LSTM with Dropout)</a:t>
                      </a:r>
                    </a:p>
                  </a:txBody>
                  <a:tcPr anchor="ctr"/>
                </a:tc>
                <a:tc>
                  <a:txBody>
                    <a:bodyPr/>
                    <a:lstStyle/>
                    <a:p>
                      <a:pPr fontAlgn="ctr">
                        <a:buNone/>
                      </a:pPr>
                      <a:r>
                        <a:rPr lang="en-IN" sz="700" dirty="0">
                          <a:solidFill>
                            <a:schemeClr val="bg2"/>
                          </a:solidFill>
                          <a:effectLst/>
                        </a:rPr>
                        <a:t>2.3083</a:t>
                      </a:r>
                    </a:p>
                  </a:txBody>
                  <a:tcPr anchor="ctr"/>
                </a:tc>
                <a:tc>
                  <a:txBody>
                    <a:bodyPr/>
                    <a:lstStyle/>
                    <a:p>
                      <a:pPr fontAlgn="ctr">
                        <a:buNone/>
                      </a:pPr>
                      <a:r>
                        <a:rPr lang="en-IN" sz="700" dirty="0">
                          <a:solidFill>
                            <a:schemeClr val="bg2"/>
                          </a:solidFill>
                          <a:effectLst/>
                        </a:rPr>
                        <a:t>2.7727</a:t>
                      </a:r>
                    </a:p>
                  </a:txBody>
                  <a:tcPr anchor="ctr"/>
                </a:tc>
                <a:tc>
                  <a:txBody>
                    <a:bodyPr/>
                    <a:lstStyle/>
                    <a:p>
                      <a:pPr fontAlgn="ctr">
                        <a:buNone/>
                      </a:pPr>
                      <a:r>
                        <a:rPr lang="en-IN" sz="700">
                          <a:solidFill>
                            <a:schemeClr val="bg2"/>
                          </a:solidFill>
                          <a:effectLst/>
                        </a:rPr>
                        <a:t>46.94%</a:t>
                      </a:r>
                    </a:p>
                  </a:txBody>
                  <a:tcPr anchor="ctr"/>
                </a:tc>
                <a:extLst>
                  <a:ext uri="{0D108BD9-81ED-4DB2-BD59-A6C34878D82A}">
                    <a16:rowId xmlns:a16="http://schemas.microsoft.com/office/drawing/2014/main" val="1104597704"/>
                  </a:ext>
                </a:extLst>
              </a:tr>
              <a:tr h="337942">
                <a:tc>
                  <a:txBody>
                    <a:bodyPr/>
                    <a:lstStyle/>
                    <a:p>
                      <a:pPr fontAlgn="ctr">
                        <a:buNone/>
                      </a:pPr>
                      <a:r>
                        <a:rPr lang="en-IN" sz="700">
                          <a:effectLst/>
                        </a:rPr>
                        <a:t>Model 3 (Stacked LSTM with Increased Units and Dropout)</a:t>
                      </a:r>
                    </a:p>
                  </a:txBody>
                  <a:tcPr anchor="ctr"/>
                </a:tc>
                <a:tc>
                  <a:txBody>
                    <a:bodyPr/>
                    <a:lstStyle/>
                    <a:p>
                      <a:pPr fontAlgn="ctr">
                        <a:buNone/>
                      </a:pPr>
                      <a:r>
                        <a:rPr lang="en-IN" sz="700" b="1" dirty="0">
                          <a:solidFill>
                            <a:schemeClr val="bg2"/>
                          </a:solidFill>
                          <a:effectLst/>
                        </a:rPr>
                        <a:t>1.5960</a:t>
                      </a:r>
                    </a:p>
                  </a:txBody>
                  <a:tcPr anchor="ctr"/>
                </a:tc>
                <a:tc>
                  <a:txBody>
                    <a:bodyPr/>
                    <a:lstStyle/>
                    <a:p>
                      <a:pPr fontAlgn="ctr">
                        <a:buNone/>
                      </a:pPr>
                      <a:r>
                        <a:rPr lang="en-IN" sz="700" b="1" dirty="0">
                          <a:solidFill>
                            <a:schemeClr val="bg2"/>
                          </a:solidFill>
                          <a:effectLst/>
                        </a:rPr>
                        <a:t>1.9917</a:t>
                      </a:r>
                    </a:p>
                  </a:txBody>
                  <a:tcPr anchor="ctr"/>
                </a:tc>
                <a:tc>
                  <a:txBody>
                    <a:bodyPr/>
                    <a:lstStyle/>
                    <a:p>
                      <a:pPr fontAlgn="ctr">
                        <a:buNone/>
                      </a:pPr>
                      <a:r>
                        <a:rPr lang="en-IN" sz="700" b="1" dirty="0">
                          <a:solidFill>
                            <a:schemeClr val="bg2"/>
                          </a:solidFill>
                          <a:effectLst/>
                        </a:rPr>
                        <a:t>26.22%</a:t>
                      </a:r>
                    </a:p>
                  </a:txBody>
                  <a:tcPr anchor="ctr"/>
                </a:tc>
                <a:extLst>
                  <a:ext uri="{0D108BD9-81ED-4DB2-BD59-A6C34878D82A}">
                    <a16:rowId xmlns:a16="http://schemas.microsoft.com/office/drawing/2014/main" val="259382406"/>
                  </a:ext>
                </a:extLst>
              </a:tr>
            </a:tbl>
          </a:graphicData>
        </a:graphic>
      </p:graphicFrame>
      <p:graphicFrame>
        <p:nvGraphicFramePr>
          <p:cNvPr id="9" name="Table 8">
            <a:extLst>
              <a:ext uri="{FF2B5EF4-FFF2-40B4-BE49-F238E27FC236}">
                <a16:creationId xmlns:a16="http://schemas.microsoft.com/office/drawing/2014/main" id="{DD5B59BB-CB5D-C965-479D-B1474ABDA9B0}"/>
              </a:ext>
            </a:extLst>
          </p:cNvPr>
          <p:cNvGraphicFramePr>
            <a:graphicFrameLocks noGrp="1"/>
          </p:cNvGraphicFramePr>
          <p:nvPr>
            <p:extLst>
              <p:ext uri="{D42A27DB-BD31-4B8C-83A1-F6EECF244321}">
                <p14:modId xmlns:p14="http://schemas.microsoft.com/office/powerpoint/2010/main" val="530698173"/>
              </p:ext>
            </p:extLst>
          </p:nvPr>
        </p:nvGraphicFramePr>
        <p:xfrm>
          <a:off x="4908836" y="2493806"/>
          <a:ext cx="4147836" cy="1094865"/>
        </p:xfrm>
        <a:graphic>
          <a:graphicData uri="http://schemas.openxmlformats.org/drawingml/2006/table">
            <a:tbl>
              <a:tblPr firstRow="1" bandRow="1">
                <a:tableStyleId>{B301B821-A1FF-4177-AEE7-76D212191A09}</a:tableStyleId>
              </a:tblPr>
              <a:tblGrid>
                <a:gridCol w="1646076">
                  <a:extLst>
                    <a:ext uri="{9D8B030D-6E8A-4147-A177-3AD203B41FA5}">
                      <a16:colId xmlns:a16="http://schemas.microsoft.com/office/drawing/2014/main" val="1955950415"/>
                    </a:ext>
                  </a:extLst>
                </a:gridCol>
                <a:gridCol w="965771">
                  <a:extLst>
                    <a:ext uri="{9D8B030D-6E8A-4147-A177-3AD203B41FA5}">
                      <a16:colId xmlns:a16="http://schemas.microsoft.com/office/drawing/2014/main" val="2538025875"/>
                    </a:ext>
                  </a:extLst>
                </a:gridCol>
                <a:gridCol w="775699">
                  <a:extLst>
                    <a:ext uri="{9D8B030D-6E8A-4147-A177-3AD203B41FA5}">
                      <a16:colId xmlns:a16="http://schemas.microsoft.com/office/drawing/2014/main" val="2747952707"/>
                    </a:ext>
                  </a:extLst>
                </a:gridCol>
                <a:gridCol w="760290">
                  <a:extLst>
                    <a:ext uri="{9D8B030D-6E8A-4147-A177-3AD203B41FA5}">
                      <a16:colId xmlns:a16="http://schemas.microsoft.com/office/drawing/2014/main" val="3600706742"/>
                    </a:ext>
                  </a:extLst>
                </a:gridCol>
              </a:tblGrid>
              <a:tr h="180421">
                <a:tc>
                  <a:txBody>
                    <a:bodyPr/>
                    <a:lstStyle/>
                    <a:p>
                      <a:pPr fontAlgn="ctr">
                        <a:buNone/>
                      </a:pPr>
                      <a:r>
                        <a:rPr lang="en-IN" sz="700" b="1" dirty="0">
                          <a:effectLst/>
                        </a:rPr>
                        <a:t>Model</a:t>
                      </a:r>
                    </a:p>
                  </a:txBody>
                  <a:tcPr anchor="ctr"/>
                </a:tc>
                <a:tc>
                  <a:txBody>
                    <a:bodyPr/>
                    <a:lstStyle/>
                    <a:p>
                      <a:pPr fontAlgn="ctr">
                        <a:buNone/>
                      </a:pPr>
                      <a:r>
                        <a:rPr lang="en-IN" sz="700" b="1" dirty="0">
                          <a:effectLst/>
                        </a:rPr>
                        <a:t>MAE</a:t>
                      </a:r>
                    </a:p>
                  </a:txBody>
                  <a:tcPr anchor="ctr"/>
                </a:tc>
                <a:tc>
                  <a:txBody>
                    <a:bodyPr/>
                    <a:lstStyle/>
                    <a:p>
                      <a:pPr fontAlgn="ctr">
                        <a:buNone/>
                      </a:pPr>
                      <a:r>
                        <a:rPr lang="en-IN" sz="700" b="1">
                          <a:effectLst/>
                        </a:rPr>
                        <a:t>RMSE</a:t>
                      </a:r>
                    </a:p>
                  </a:txBody>
                  <a:tcPr anchor="ctr"/>
                </a:tc>
                <a:tc>
                  <a:txBody>
                    <a:bodyPr/>
                    <a:lstStyle/>
                    <a:p>
                      <a:pPr fontAlgn="ctr">
                        <a:buNone/>
                      </a:pPr>
                      <a:r>
                        <a:rPr lang="en-IN" sz="700" b="1">
                          <a:effectLst/>
                        </a:rPr>
                        <a:t>MAPE</a:t>
                      </a:r>
                    </a:p>
                  </a:txBody>
                  <a:tcPr anchor="ctr"/>
                </a:tc>
                <a:extLst>
                  <a:ext uri="{0D108BD9-81ED-4DB2-BD59-A6C34878D82A}">
                    <a16:rowId xmlns:a16="http://schemas.microsoft.com/office/drawing/2014/main" val="1247447724"/>
                  </a:ext>
                </a:extLst>
              </a:tr>
              <a:tr h="180421">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IN" sz="700" b="0" i="0" u="none" strike="noStrike" cap="none" dirty="0">
                          <a:solidFill>
                            <a:schemeClr val="dk1"/>
                          </a:solidFill>
                          <a:effectLst/>
                          <a:latin typeface="+mn-lt"/>
                          <a:ea typeface="+mn-ea"/>
                          <a:cs typeface="+mn-cs"/>
                          <a:sym typeface="Arial"/>
                        </a:rPr>
                        <a:t>Initial SARIMA(1,0,1) (1,1,1,24)</a:t>
                      </a:r>
                      <a:endParaRPr lang="en-IN" sz="1400" b="0" i="0" u="none" strike="noStrike" cap="none" dirty="0">
                        <a:solidFill>
                          <a:schemeClr val="dk1"/>
                        </a:solidFill>
                        <a:effectLst/>
                        <a:latin typeface="+mn-lt"/>
                        <a:ea typeface="+mn-ea"/>
                        <a:cs typeface="+mn-cs"/>
                        <a:sym typeface="Arial"/>
                      </a:endParaRPr>
                    </a:p>
                    <a:p>
                      <a:pPr fontAlgn="ctr">
                        <a:buNone/>
                      </a:pPr>
                      <a:endParaRPr lang="da-DK" sz="100" dirty="0">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3.0358</a:t>
                      </a:r>
                      <a:endParaRPr lang="en-IN" sz="100" dirty="0">
                        <a:solidFill>
                          <a:schemeClr val="bg2"/>
                        </a:solidFill>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3.9757</a:t>
                      </a:r>
                      <a:endParaRPr lang="en-IN" sz="100" dirty="0">
                        <a:solidFill>
                          <a:schemeClr val="bg2"/>
                        </a:solidFill>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42.77%</a:t>
                      </a:r>
                      <a:endParaRPr lang="en-IN" sz="100" dirty="0">
                        <a:solidFill>
                          <a:schemeClr val="bg2"/>
                        </a:solidFill>
                        <a:effectLst/>
                      </a:endParaRPr>
                    </a:p>
                  </a:txBody>
                  <a:tcPr anchor="ctr"/>
                </a:tc>
                <a:extLst>
                  <a:ext uri="{0D108BD9-81ED-4DB2-BD59-A6C34878D82A}">
                    <a16:rowId xmlns:a16="http://schemas.microsoft.com/office/drawing/2014/main" val="886641987"/>
                  </a:ext>
                </a:extLst>
              </a:tr>
              <a:tr h="206339">
                <a:tc>
                  <a:txBody>
                    <a:bodyPr/>
                    <a:lstStyle/>
                    <a:p>
                      <a:pPr fontAlgn="ctr">
                        <a:buNone/>
                      </a:pPr>
                      <a:r>
                        <a:rPr lang="en-IN" sz="700" b="0" i="0" u="none" strike="noStrike" cap="none" dirty="0">
                          <a:solidFill>
                            <a:schemeClr val="dk1"/>
                          </a:solidFill>
                          <a:effectLst/>
                          <a:latin typeface="+mn-lt"/>
                          <a:ea typeface="+mn-ea"/>
                          <a:cs typeface="+mn-cs"/>
                          <a:sym typeface="Arial"/>
                        </a:rPr>
                        <a:t>Initial Hybrid (SARIMA+LSTM) </a:t>
                      </a:r>
                      <a:endParaRPr lang="en-IN" sz="100" dirty="0">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2.6314</a:t>
                      </a:r>
                      <a:endParaRPr lang="en-IN" sz="100" dirty="0">
                        <a:solidFill>
                          <a:schemeClr val="bg2"/>
                        </a:solidFill>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3.6055</a:t>
                      </a:r>
                      <a:endParaRPr lang="en-IN" sz="100" dirty="0">
                        <a:solidFill>
                          <a:schemeClr val="bg2"/>
                        </a:solidFill>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33.66%</a:t>
                      </a:r>
                      <a:endParaRPr lang="en-IN" sz="100" dirty="0">
                        <a:solidFill>
                          <a:schemeClr val="bg2"/>
                        </a:solidFill>
                        <a:effectLst/>
                      </a:endParaRPr>
                    </a:p>
                  </a:txBody>
                  <a:tcPr anchor="ctr"/>
                </a:tc>
                <a:extLst>
                  <a:ext uri="{0D108BD9-81ED-4DB2-BD59-A6C34878D82A}">
                    <a16:rowId xmlns:a16="http://schemas.microsoft.com/office/drawing/2014/main" val="1104597704"/>
                  </a:ext>
                </a:extLst>
              </a:tr>
              <a:tr h="238523">
                <a:tc>
                  <a:txBody>
                    <a:bodyPr/>
                    <a:lstStyle/>
                    <a:p>
                      <a:pPr fontAlgn="ctr">
                        <a:buNone/>
                      </a:pPr>
                      <a:r>
                        <a:rPr lang="en-IN" sz="700" b="0" i="0" u="none" strike="noStrike" cap="none" dirty="0">
                          <a:solidFill>
                            <a:schemeClr val="dk1"/>
                          </a:solidFill>
                          <a:effectLst/>
                          <a:latin typeface="+mn-lt"/>
                          <a:ea typeface="+mn-ea"/>
                          <a:cs typeface="+mn-cs"/>
                          <a:sym typeface="Arial"/>
                        </a:rPr>
                        <a:t>Optimized SARIMA </a:t>
                      </a:r>
                      <a:r>
                        <a:rPr lang="en-IN" sz="600" b="0" i="0" u="none" strike="noStrike" cap="none" dirty="0">
                          <a:solidFill>
                            <a:schemeClr val="dk1"/>
                          </a:solidFill>
                          <a:effectLst/>
                          <a:latin typeface="+mn-lt"/>
                          <a:ea typeface="+mn-ea"/>
                          <a:cs typeface="+mn-cs"/>
                          <a:sym typeface="Arial"/>
                        </a:rPr>
                        <a:t>(1, 1, 2) (2, 1, 0, 24)</a:t>
                      </a:r>
                      <a:endParaRPr lang="en-IN" sz="100" dirty="0">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2.2236</a:t>
                      </a:r>
                      <a:endParaRPr lang="en-IN" sz="100" dirty="0">
                        <a:solidFill>
                          <a:schemeClr val="bg2"/>
                        </a:solidFill>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3.1929</a:t>
                      </a:r>
                      <a:endParaRPr lang="en-IN" sz="100" dirty="0">
                        <a:solidFill>
                          <a:schemeClr val="bg2"/>
                        </a:solidFill>
                        <a:effectLst/>
                      </a:endParaRPr>
                    </a:p>
                  </a:txBody>
                  <a:tcPr anchor="ctr"/>
                </a:tc>
                <a:tc>
                  <a:txBody>
                    <a:bodyPr/>
                    <a:lstStyle/>
                    <a:p>
                      <a:pPr fontAlgn="ctr">
                        <a:buNone/>
                      </a:pPr>
                      <a:r>
                        <a:rPr lang="en-IN" sz="700" b="0" i="0" u="none" strike="noStrike" cap="none" dirty="0">
                          <a:solidFill>
                            <a:schemeClr val="bg2"/>
                          </a:solidFill>
                          <a:effectLst/>
                          <a:latin typeface="+mn-lt"/>
                          <a:ea typeface="+mn-ea"/>
                          <a:cs typeface="+mn-cs"/>
                          <a:sym typeface="Arial"/>
                        </a:rPr>
                        <a:t>27.52%</a:t>
                      </a:r>
                      <a:endParaRPr lang="en-IN" sz="100" dirty="0">
                        <a:solidFill>
                          <a:schemeClr val="bg2"/>
                        </a:solidFill>
                        <a:effectLst/>
                      </a:endParaRPr>
                    </a:p>
                  </a:txBody>
                  <a:tcPr anchor="ctr"/>
                </a:tc>
                <a:extLst>
                  <a:ext uri="{0D108BD9-81ED-4DB2-BD59-A6C34878D82A}">
                    <a16:rowId xmlns:a16="http://schemas.microsoft.com/office/drawing/2014/main" val="259382406"/>
                  </a:ext>
                </a:extLst>
              </a:tr>
              <a:tr h="238523">
                <a:tc>
                  <a:txBody>
                    <a:bodyPr/>
                    <a:lstStyle/>
                    <a:p>
                      <a:pPr fontAlgn="ctr">
                        <a:buNone/>
                      </a:pPr>
                      <a:r>
                        <a:rPr lang="en-IN" sz="700" b="0" i="0" u="none" strike="noStrike" cap="none" dirty="0">
                          <a:solidFill>
                            <a:schemeClr val="dk1"/>
                          </a:solidFill>
                          <a:effectLst/>
                          <a:latin typeface="+mn-lt"/>
                          <a:ea typeface="+mn-ea"/>
                          <a:cs typeface="+mn-cs"/>
                          <a:sym typeface="Arial"/>
                        </a:rPr>
                        <a:t>Optimized Hybrid (SARIMA+LSTM)</a:t>
                      </a:r>
                      <a:endParaRPr lang="en-IN" sz="100" dirty="0">
                        <a:effectLst/>
                      </a:endParaRPr>
                    </a:p>
                  </a:txBody>
                  <a:tcPr anchor="ctr"/>
                </a:tc>
                <a:tc>
                  <a:txBody>
                    <a:bodyPr/>
                    <a:lstStyle/>
                    <a:p>
                      <a:pPr fontAlgn="ctr">
                        <a:buNone/>
                      </a:pPr>
                      <a:r>
                        <a:rPr lang="en-IN" sz="700" b="1" i="0" u="none" strike="noStrike" cap="none" dirty="0">
                          <a:solidFill>
                            <a:schemeClr val="bg2"/>
                          </a:solidFill>
                          <a:effectLst/>
                          <a:latin typeface="+mn-lt"/>
                          <a:ea typeface="+mn-ea"/>
                          <a:cs typeface="+mn-cs"/>
                          <a:sym typeface="Arial"/>
                        </a:rPr>
                        <a:t>2.1496</a:t>
                      </a:r>
                      <a:endParaRPr lang="en-IN" sz="100" b="1" dirty="0">
                        <a:solidFill>
                          <a:schemeClr val="bg2"/>
                        </a:solidFill>
                        <a:effectLst/>
                      </a:endParaRPr>
                    </a:p>
                  </a:txBody>
                  <a:tcPr anchor="ctr"/>
                </a:tc>
                <a:tc>
                  <a:txBody>
                    <a:bodyPr/>
                    <a:lstStyle/>
                    <a:p>
                      <a:pPr fontAlgn="ctr">
                        <a:buNone/>
                      </a:pPr>
                      <a:r>
                        <a:rPr lang="en-IN" sz="700" b="1" i="0" u="none" strike="noStrike" cap="none" dirty="0">
                          <a:solidFill>
                            <a:schemeClr val="bg2"/>
                          </a:solidFill>
                          <a:effectLst/>
                          <a:latin typeface="+mn-lt"/>
                          <a:ea typeface="+mn-ea"/>
                          <a:cs typeface="+mn-cs"/>
                          <a:sym typeface="Arial"/>
                        </a:rPr>
                        <a:t>3.1176</a:t>
                      </a:r>
                      <a:endParaRPr lang="en-IN" sz="100" b="1" dirty="0">
                        <a:solidFill>
                          <a:schemeClr val="bg2"/>
                        </a:solidFill>
                        <a:effectLst/>
                      </a:endParaRPr>
                    </a:p>
                  </a:txBody>
                  <a:tcPr anchor="ctr"/>
                </a:tc>
                <a:tc>
                  <a:txBody>
                    <a:bodyPr/>
                    <a:lstStyle/>
                    <a:p>
                      <a:pPr fontAlgn="ctr">
                        <a:buNone/>
                      </a:pPr>
                      <a:r>
                        <a:rPr lang="en-IN" sz="700" b="1" i="0" u="none" strike="noStrike" cap="none" dirty="0">
                          <a:solidFill>
                            <a:schemeClr val="bg2"/>
                          </a:solidFill>
                          <a:effectLst/>
                          <a:latin typeface="+mn-lt"/>
                          <a:ea typeface="+mn-ea"/>
                          <a:cs typeface="+mn-cs"/>
                          <a:sym typeface="Arial"/>
                        </a:rPr>
                        <a:t>26.04%</a:t>
                      </a:r>
                      <a:endParaRPr lang="en-IN" sz="100" b="1" dirty="0">
                        <a:solidFill>
                          <a:schemeClr val="bg2"/>
                        </a:solidFill>
                        <a:effectLst/>
                      </a:endParaRPr>
                    </a:p>
                  </a:txBody>
                  <a:tcPr anchor="ctr"/>
                </a:tc>
                <a:extLst>
                  <a:ext uri="{0D108BD9-81ED-4DB2-BD59-A6C34878D82A}">
                    <a16:rowId xmlns:a16="http://schemas.microsoft.com/office/drawing/2014/main" val="1593830993"/>
                  </a:ext>
                </a:extLst>
              </a:tr>
            </a:tbl>
          </a:graphicData>
        </a:graphic>
      </p:graphicFrame>
      <p:pic>
        <p:nvPicPr>
          <p:cNvPr id="10" name="Graphic 9" descr="Checkmark with solid fill">
            <a:extLst>
              <a:ext uri="{FF2B5EF4-FFF2-40B4-BE49-F238E27FC236}">
                <a16:creationId xmlns:a16="http://schemas.microsoft.com/office/drawing/2014/main" id="{B1386071-B7ED-5F61-A455-87474B7A83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29971" y="2078590"/>
            <a:ext cx="164387" cy="164387"/>
          </a:xfrm>
          <a:prstGeom prst="rect">
            <a:avLst/>
          </a:prstGeom>
        </p:spPr>
      </p:pic>
      <p:pic>
        <p:nvPicPr>
          <p:cNvPr id="11" name="Graphic 10" descr="Checkmark with solid fill">
            <a:extLst>
              <a:ext uri="{FF2B5EF4-FFF2-40B4-BE49-F238E27FC236}">
                <a16:creationId xmlns:a16="http://schemas.microsoft.com/office/drawing/2014/main" id="{23783DBE-5BB3-FC41-F5E6-7CD68E84859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29971" y="3095731"/>
            <a:ext cx="164387" cy="164387"/>
          </a:xfrm>
          <a:prstGeom prst="rect">
            <a:avLst/>
          </a:prstGeom>
        </p:spPr>
      </p:pic>
      <p:pic>
        <p:nvPicPr>
          <p:cNvPr id="12" name="Graphic 11" descr="Checkmark with solid fill">
            <a:extLst>
              <a:ext uri="{FF2B5EF4-FFF2-40B4-BE49-F238E27FC236}">
                <a16:creationId xmlns:a16="http://schemas.microsoft.com/office/drawing/2014/main" id="{BF35A3CF-C556-3A8E-A9A6-C5B48440274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15227" y="2226064"/>
            <a:ext cx="164387" cy="164387"/>
          </a:xfrm>
          <a:prstGeom prst="rect">
            <a:avLst/>
          </a:prstGeom>
        </p:spPr>
      </p:pic>
      <p:pic>
        <p:nvPicPr>
          <p:cNvPr id="13" name="Graphic 12" descr="Checkmark with solid fill">
            <a:extLst>
              <a:ext uri="{FF2B5EF4-FFF2-40B4-BE49-F238E27FC236}">
                <a16:creationId xmlns:a16="http://schemas.microsoft.com/office/drawing/2014/main" id="{2704C467-6C30-0E07-6015-20B1E2DB66A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15227" y="3414742"/>
            <a:ext cx="164387" cy="1643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3">
          <a:extLst>
            <a:ext uri="{FF2B5EF4-FFF2-40B4-BE49-F238E27FC236}">
              <a16:creationId xmlns:a16="http://schemas.microsoft.com/office/drawing/2014/main" id="{4593E954-A48C-E832-3F64-BA2410FD2C41}"/>
            </a:ext>
          </a:extLst>
        </p:cNvPr>
        <p:cNvGrpSpPr/>
        <p:nvPr/>
      </p:nvGrpSpPr>
      <p:grpSpPr>
        <a:xfrm>
          <a:off x="0" y="0"/>
          <a:ext cx="0" cy="0"/>
          <a:chOff x="0" y="0"/>
          <a:chExt cx="0" cy="0"/>
        </a:xfrm>
      </p:grpSpPr>
      <p:sp>
        <p:nvSpPr>
          <p:cNvPr id="134" name="Google Shape;134;p21">
            <a:extLst>
              <a:ext uri="{FF2B5EF4-FFF2-40B4-BE49-F238E27FC236}">
                <a16:creationId xmlns:a16="http://schemas.microsoft.com/office/drawing/2014/main" id="{90FEBBA3-C7B4-6988-99F0-F2F7F83E5CC7}"/>
              </a:ext>
            </a:extLst>
          </p:cNvPr>
          <p:cNvSpPr txBox="1">
            <a:spLocks noGrp="1"/>
          </p:cNvSpPr>
          <p:nvPr>
            <p:ph type="title"/>
          </p:nvPr>
        </p:nvSpPr>
        <p:spPr>
          <a:xfrm>
            <a:off x="727650" y="589185"/>
            <a:ext cx="7688700" cy="535200"/>
          </a:xfrm>
          <a:prstGeom prst="rect">
            <a:avLst/>
          </a:prstGeom>
        </p:spPr>
        <p:txBody>
          <a:bodyPr spcFirstLastPara="1" wrap="square" lIns="91425" tIns="91425" rIns="91425" bIns="91425" anchor="t" anchorCtr="0">
            <a:normAutofit fontScale="90000"/>
          </a:bodyPr>
          <a:lstStyle/>
          <a:p>
            <a:pPr marL="0" lvl="0" indent="0" algn="just" rtl="0">
              <a:lnSpc>
                <a:spcPct val="150000"/>
              </a:lnSpc>
              <a:spcBef>
                <a:spcPts val="0"/>
              </a:spcBef>
              <a:spcAft>
                <a:spcPts val="0"/>
              </a:spcAft>
              <a:buNone/>
            </a:pPr>
            <a:r>
              <a:rPr lang="en" dirty="0"/>
              <a:t>Implementation and User Benefit</a:t>
            </a:r>
            <a:endParaRPr dirty="0"/>
          </a:p>
        </p:txBody>
      </p:sp>
      <p:sp>
        <p:nvSpPr>
          <p:cNvPr id="135" name="Google Shape;135;p21">
            <a:extLst>
              <a:ext uri="{FF2B5EF4-FFF2-40B4-BE49-F238E27FC236}">
                <a16:creationId xmlns:a16="http://schemas.microsoft.com/office/drawing/2014/main" id="{8DF0DD1F-2C01-4F72-4DAD-8037BEE0E375}"/>
              </a:ext>
            </a:extLst>
          </p:cNvPr>
          <p:cNvSpPr txBox="1">
            <a:spLocks noGrp="1"/>
          </p:cNvSpPr>
          <p:nvPr>
            <p:ph type="body" idx="1"/>
          </p:nvPr>
        </p:nvSpPr>
        <p:spPr>
          <a:xfrm>
            <a:off x="785958" y="1395642"/>
            <a:ext cx="7688700" cy="3489720"/>
          </a:xfrm>
          <a:prstGeom prst="rect">
            <a:avLst/>
          </a:prstGeom>
        </p:spPr>
        <p:txBody>
          <a:bodyPr spcFirstLastPara="1" wrap="square" lIns="91425" tIns="91425" rIns="91425" bIns="91425" anchor="t" anchorCtr="0">
            <a:noAutofit/>
          </a:bodyPr>
          <a:lstStyle/>
          <a:p>
            <a:pPr marL="285750" indent="-285750">
              <a:lnSpc>
                <a:spcPct val="150000"/>
              </a:lnSpc>
            </a:pPr>
            <a:r>
              <a:rPr lang="en-IN" sz="1000" b="1" dirty="0"/>
              <a:t>Proactive Network Management</a:t>
            </a:r>
            <a:br>
              <a:rPr lang="en-IN" sz="1000" dirty="0"/>
            </a:br>
            <a:r>
              <a:rPr lang="en-IN" sz="1000" dirty="0"/>
              <a:t>KPI forecasting enables operators to predict potential network degradation before it occurs, allowing proactive intervention and reducing service disruptions. Proactive fault prevention, detection of service degradation,</a:t>
            </a:r>
          </a:p>
          <a:p>
            <a:pPr marL="285750" indent="-285750">
              <a:lnSpc>
                <a:spcPct val="150000"/>
              </a:lnSpc>
            </a:pPr>
            <a:r>
              <a:rPr lang="en-IN" sz="1000" b="1" dirty="0"/>
              <a:t>Improved Quality of Service (QoS)</a:t>
            </a:r>
            <a:br>
              <a:rPr lang="en-IN" sz="1000" dirty="0"/>
            </a:br>
            <a:r>
              <a:rPr lang="en-IN" sz="1000" dirty="0"/>
              <a:t>By anticipating performance issues such as congestion or latency, operators can take corrective actions to maintain consistent service quality for users. Predictive congestion and preventive maintenance.</a:t>
            </a:r>
          </a:p>
          <a:p>
            <a:pPr marL="285750" indent="-285750">
              <a:lnSpc>
                <a:spcPct val="150000"/>
              </a:lnSpc>
            </a:pPr>
            <a:r>
              <a:rPr lang="en-IN" sz="1000" b="1" dirty="0"/>
              <a:t>Reduced Operational Costs (OPEX)</a:t>
            </a:r>
            <a:br>
              <a:rPr lang="en-IN" sz="1000" dirty="0"/>
            </a:br>
            <a:r>
              <a:rPr lang="en-IN" sz="1000" dirty="0"/>
              <a:t>Predictive insights help optimize network resources and reduce the need for reactive troubleshooting, lowering operational and maintenance costs. capacity management and resource optimization</a:t>
            </a:r>
          </a:p>
          <a:p>
            <a:pPr marL="285750" indent="-285750">
              <a:lnSpc>
                <a:spcPct val="150000"/>
              </a:lnSpc>
            </a:pPr>
            <a:r>
              <a:rPr lang="en-IN" sz="1000" b="1" dirty="0"/>
              <a:t>Enhanced Customer Experience</a:t>
            </a:r>
            <a:br>
              <a:rPr lang="en-IN" sz="1000" dirty="0"/>
            </a:br>
            <a:r>
              <a:rPr lang="en-IN" sz="1000" dirty="0"/>
              <a:t>Early detection of performance degradation helps prevent outages and service interruptions, leading to improved customer satisfaction and retention. SLA Risk prediction and mitigation.</a:t>
            </a:r>
          </a:p>
          <a:p>
            <a:pPr marL="285750" indent="-285750">
              <a:lnSpc>
                <a:spcPct val="150000"/>
              </a:lnSpc>
            </a:pPr>
            <a:r>
              <a:rPr lang="en-IN" sz="1000" b="1" dirty="0"/>
              <a:t>Support for Autonomous Network Operations</a:t>
            </a:r>
            <a:br>
              <a:rPr lang="en-IN" sz="1000" dirty="0"/>
            </a:br>
            <a:r>
              <a:rPr lang="en-IN" sz="1000" dirty="0"/>
              <a:t>Forecasting models provide the foundation for intelligent automation and closed-loop optimization in modern self-organizing and autonomous telecom networks</a:t>
            </a:r>
          </a:p>
          <a:p>
            <a:pPr marL="285750" indent="-285750">
              <a:lnSpc>
                <a:spcPct val="150000"/>
              </a:lnSpc>
            </a:pPr>
            <a:endParaRPr lang="en-IN" sz="1050" dirty="0"/>
          </a:p>
        </p:txBody>
      </p:sp>
    </p:spTree>
    <p:extLst>
      <p:ext uri="{BB962C8B-B14F-4D97-AF65-F5344CB8AC3E}">
        <p14:creationId xmlns:p14="http://schemas.microsoft.com/office/powerpoint/2010/main" val="15206537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2"/>
          <p:cNvSpPr txBox="1">
            <a:spLocks noGrp="1"/>
          </p:cNvSpPr>
          <p:nvPr>
            <p:ph type="title"/>
          </p:nvPr>
        </p:nvSpPr>
        <p:spPr>
          <a:xfrm>
            <a:off x="688353" y="594321"/>
            <a:ext cx="7688700" cy="535200"/>
          </a:xfrm>
          <a:prstGeom prst="rect">
            <a:avLst/>
          </a:prstGeom>
        </p:spPr>
        <p:txBody>
          <a:bodyPr spcFirstLastPara="1" wrap="square" lIns="91425" tIns="91425" rIns="91425" bIns="91425" anchor="t" anchorCtr="0">
            <a:normAutofit fontScale="90000"/>
          </a:bodyPr>
          <a:lstStyle/>
          <a:p>
            <a:pPr marL="0" lvl="0" indent="0" algn="just" rtl="0">
              <a:lnSpc>
                <a:spcPct val="150000"/>
              </a:lnSpc>
              <a:spcBef>
                <a:spcPts val="0"/>
              </a:spcBef>
              <a:spcAft>
                <a:spcPts val="0"/>
              </a:spcAft>
              <a:buNone/>
            </a:pPr>
            <a:r>
              <a:rPr lang="en" dirty="0"/>
              <a:t>Conclusion</a:t>
            </a:r>
            <a:endParaRPr dirty="0"/>
          </a:p>
        </p:txBody>
      </p:sp>
      <p:sp>
        <p:nvSpPr>
          <p:cNvPr id="141" name="Google Shape;141;p22"/>
          <p:cNvSpPr txBox="1">
            <a:spLocks noGrp="1"/>
          </p:cNvSpPr>
          <p:nvPr>
            <p:ph type="body" idx="1"/>
          </p:nvPr>
        </p:nvSpPr>
        <p:spPr>
          <a:xfrm>
            <a:off x="727650" y="1385368"/>
            <a:ext cx="5169716" cy="3289373"/>
          </a:xfrm>
          <a:prstGeom prst="rect">
            <a:avLst/>
          </a:prstGeom>
        </p:spPr>
        <p:txBody>
          <a:bodyPr spcFirstLastPara="1" wrap="square" lIns="91425" tIns="91425" rIns="91425" bIns="91425" anchor="t" anchorCtr="0">
            <a:normAutofit fontScale="92500" lnSpcReduction="10000"/>
          </a:bodyPr>
          <a:lstStyle/>
          <a:p>
            <a:pPr marL="285750" indent="-285750" algn="just">
              <a:lnSpc>
                <a:spcPct val="150000"/>
              </a:lnSpc>
              <a:buFont typeface="Wingdings" panose="05000000000000000000" pitchFamily="2" charset="2"/>
              <a:buChar char="§"/>
            </a:pPr>
            <a:r>
              <a:rPr lang="en-IN" dirty="0"/>
              <a:t>Demonstrates that telecom KPI </a:t>
            </a:r>
            <a:r>
              <a:rPr lang="en-IN" dirty="0" err="1"/>
              <a:t>behavior</a:t>
            </a:r>
            <a:r>
              <a:rPr lang="en-IN" dirty="0"/>
              <a:t> can be effectively forecasted using time-series and AI-based models to support proactive telecom service assurance.</a:t>
            </a:r>
          </a:p>
          <a:p>
            <a:pPr marL="285750" indent="-285750" algn="just">
              <a:lnSpc>
                <a:spcPct val="150000"/>
              </a:lnSpc>
              <a:buFont typeface="Wingdings" panose="05000000000000000000" pitchFamily="2" charset="2"/>
              <a:buChar char="§"/>
            </a:pPr>
            <a:r>
              <a:rPr lang="en-IN" dirty="0"/>
              <a:t>Statistical models such as ARIMA and SARIMA provide strong baseline forecasting by capturing temporal and seasonal patterns.</a:t>
            </a:r>
          </a:p>
          <a:p>
            <a:pPr marL="285750" indent="-285750" algn="just">
              <a:lnSpc>
                <a:spcPct val="150000"/>
              </a:lnSpc>
              <a:buFont typeface="Wingdings" panose="05000000000000000000" pitchFamily="2" charset="2"/>
              <a:buChar char="§"/>
            </a:pPr>
            <a:r>
              <a:rPr lang="en-IN" dirty="0"/>
              <a:t>LSTM deep learning models improve forecasting performance by learning nonlinear temporal dependencies in telecom KPI data.</a:t>
            </a:r>
          </a:p>
          <a:p>
            <a:pPr marL="285750" indent="-285750" algn="just">
              <a:lnSpc>
                <a:spcPct val="150000"/>
              </a:lnSpc>
              <a:buFont typeface="Wingdings" panose="05000000000000000000" pitchFamily="2" charset="2"/>
              <a:buChar char="§"/>
            </a:pPr>
            <a:r>
              <a:rPr lang="en-IN" dirty="0"/>
              <a:t>The hybrid SARIMA–LSTM model can achieve the best prediction accuracy by combining statistical and AI approaches, though it not perform in our dataset.</a:t>
            </a:r>
          </a:p>
          <a:p>
            <a:pPr marL="285750" indent="-285750" algn="just">
              <a:lnSpc>
                <a:spcPct val="150000"/>
              </a:lnSpc>
              <a:buFont typeface="Wingdings" panose="05000000000000000000" pitchFamily="2" charset="2"/>
              <a:buChar char="§"/>
            </a:pPr>
            <a:r>
              <a:rPr lang="en-IN" dirty="0"/>
              <a:t>These results highlight the potential of AI-driven predictive analytics for proactive network management and improved service reliability.</a:t>
            </a:r>
          </a:p>
        </p:txBody>
      </p:sp>
      <p:sp>
        <p:nvSpPr>
          <p:cNvPr id="3" name="Google Shape;141;p22">
            <a:extLst>
              <a:ext uri="{FF2B5EF4-FFF2-40B4-BE49-F238E27FC236}">
                <a16:creationId xmlns:a16="http://schemas.microsoft.com/office/drawing/2014/main" id="{BB15513F-3329-3C65-CBCC-7D9C7724B8FD}"/>
              </a:ext>
            </a:extLst>
          </p:cNvPr>
          <p:cNvSpPr txBox="1">
            <a:spLocks/>
          </p:cNvSpPr>
          <p:nvPr/>
        </p:nvSpPr>
        <p:spPr>
          <a:xfrm>
            <a:off x="6002078" y="1385367"/>
            <a:ext cx="2897373" cy="3289373"/>
          </a:xfrm>
          <a:prstGeom prst="rect">
            <a:avLst/>
          </a:prstGeom>
          <a:noFill/>
          <a:ln>
            <a:noFill/>
          </a:ln>
        </p:spPr>
        <p:txBody>
          <a:bodyPr spcFirstLastPara="1" wrap="square" lIns="91425" tIns="91425" rIns="91425" bIns="91425" anchor="t" anchorCtr="0">
            <a:normAutofit fontScale="47500" lnSpcReduction="20000"/>
          </a:bodyPr>
          <a:lstStyle>
            <a:defPPr marR="0" lvl="0" algn="l" rtl="0">
              <a:lnSpc>
                <a:spcPct val="100000"/>
              </a:lnSpc>
              <a:spcBef>
                <a:spcPts val="0"/>
              </a:spcBef>
              <a:spcAft>
                <a:spcPts val="0"/>
              </a:spcAft>
            </a:defPPr>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pPr marL="0" indent="0" algn="just">
              <a:lnSpc>
                <a:spcPct val="150000"/>
              </a:lnSpc>
              <a:buNone/>
            </a:pPr>
            <a:r>
              <a:rPr lang="en-IN" sz="1900" b="1" dirty="0"/>
              <a:t>Limitations-</a:t>
            </a:r>
            <a:endParaRPr lang="en-IN" b="1" dirty="0"/>
          </a:p>
          <a:p>
            <a:pPr marL="285750" indent="-285750">
              <a:lnSpc>
                <a:spcPct val="150000"/>
              </a:lnSpc>
              <a:buFont typeface="Wingdings" panose="05000000000000000000" pitchFamily="2" charset="2"/>
              <a:buChar char="§"/>
            </a:pPr>
            <a:r>
              <a:rPr lang="en-IN" sz="1900" dirty="0"/>
              <a:t>Limited dataset for 30 days capture daily seasonality, long term patterns not  captured.</a:t>
            </a:r>
          </a:p>
          <a:p>
            <a:pPr marL="285750" indent="-285750">
              <a:lnSpc>
                <a:spcPct val="150000"/>
              </a:lnSpc>
              <a:buFont typeface="Wingdings" panose="05000000000000000000" pitchFamily="2" charset="2"/>
              <a:buChar char="§"/>
            </a:pPr>
            <a:r>
              <a:rPr lang="en-IN" sz="1900" dirty="0"/>
              <a:t>Univariate Analysis. Multivariate would provide more insights in complex networks</a:t>
            </a:r>
          </a:p>
          <a:p>
            <a:pPr marL="285750" indent="-285750">
              <a:lnSpc>
                <a:spcPct val="150000"/>
              </a:lnSpc>
              <a:buFont typeface="Wingdings" panose="05000000000000000000" pitchFamily="2" charset="2"/>
              <a:buChar char="§"/>
            </a:pPr>
            <a:r>
              <a:rPr lang="en-IN" sz="1900" dirty="0"/>
              <a:t>Real time deployment is outside the scope</a:t>
            </a:r>
          </a:p>
          <a:p>
            <a:pPr marL="285750" indent="-285750">
              <a:lnSpc>
                <a:spcPct val="150000"/>
              </a:lnSpc>
              <a:buFont typeface="Wingdings" panose="05000000000000000000" pitchFamily="2" charset="2"/>
              <a:buChar char="§"/>
            </a:pPr>
            <a:r>
              <a:rPr lang="en-IN" sz="1900" dirty="0"/>
              <a:t>LSTM requires significant compute resources and tuning</a:t>
            </a:r>
          </a:p>
          <a:p>
            <a:pPr marL="285750" indent="-285750">
              <a:lnSpc>
                <a:spcPct val="150000"/>
              </a:lnSpc>
              <a:buFont typeface="Wingdings" panose="05000000000000000000" pitchFamily="2" charset="2"/>
              <a:buChar char="§"/>
            </a:pPr>
            <a:endParaRPr lang="en-IN" sz="1100" dirty="0"/>
          </a:p>
          <a:p>
            <a:pPr marL="0" indent="0" algn="just">
              <a:lnSpc>
                <a:spcPct val="150000"/>
              </a:lnSpc>
              <a:buNone/>
            </a:pPr>
            <a:r>
              <a:rPr lang="en-IN" sz="1900" b="1" dirty="0"/>
              <a:t>Future Work-</a:t>
            </a:r>
          </a:p>
          <a:p>
            <a:pPr marL="285750" indent="-285750">
              <a:lnSpc>
                <a:spcPct val="150000"/>
              </a:lnSpc>
              <a:buFont typeface="Wingdings" panose="05000000000000000000" pitchFamily="2" charset="2"/>
              <a:buChar char="§"/>
            </a:pPr>
            <a:r>
              <a:rPr lang="en-IN" sz="1900" dirty="0"/>
              <a:t>Investigate advanced AI architectures like transformers</a:t>
            </a:r>
          </a:p>
          <a:p>
            <a:pPr marL="285750" indent="-285750">
              <a:lnSpc>
                <a:spcPct val="150000"/>
              </a:lnSpc>
              <a:buFont typeface="Wingdings" panose="05000000000000000000" pitchFamily="2" charset="2"/>
              <a:buChar char="§"/>
            </a:pPr>
            <a:r>
              <a:rPr lang="en-IN" sz="1900" dirty="0"/>
              <a:t>GNNs to model relations between nodes and KPIs</a:t>
            </a:r>
          </a:p>
          <a:p>
            <a:pPr marL="285750" indent="-285750">
              <a:lnSpc>
                <a:spcPct val="150000"/>
              </a:lnSpc>
              <a:buFont typeface="Wingdings" panose="05000000000000000000" pitchFamily="2" charset="2"/>
              <a:buChar char="§"/>
            </a:pPr>
            <a:r>
              <a:rPr lang="en-IN" sz="1900" dirty="0"/>
              <a:t>Capture KPI anomalies from forecasting </a:t>
            </a:r>
          </a:p>
          <a:p>
            <a:pPr marL="285750" indent="-285750">
              <a:lnSpc>
                <a:spcPct val="150000"/>
              </a:lnSpc>
              <a:buFont typeface="Wingdings" panose="05000000000000000000" pitchFamily="2" charset="2"/>
              <a:buChar char="§"/>
            </a:pPr>
            <a:r>
              <a:rPr lang="en-IN" sz="1900" dirty="0"/>
              <a:t>Develop real-time pipelines for NMS</a:t>
            </a:r>
          </a:p>
          <a:p>
            <a:pPr marL="285750" indent="-285750">
              <a:lnSpc>
                <a:spcPct val="150000"/>
              </a:lnSpc>
              <a:buFont typeface="Wingdings" panose="05000000000000000000" pitchFamily="2" charset="2"/>
              <a:buChar char="§"/>
            </a:pPr>
            <a:r>
              <a:rPr lang="en-IN" sz="1900" dirty="0"/>
              <a:t>Implement Closed loop network optimization</a:t>
            </a:r>
            <a:endParaRPr lang="en-IN" dirty="0"/>
          </a:p>
          <a:p>
            <a:pPr marL="0" indent="0" algn="just">
              <a:lnSpc>
                <a:spcPct val="150000"/>
              </a:lnSpc>
              <a:buNone/>
            </a:pPr>
            <a:r>
              <a:rPr lang="en-IN"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a:spLocks noGrp="1"/>
          </p:cNvSpPr>
          <p:nvPr>
            <p:ph type="title"/>
          </p:nvPr>
        </p:nvSpPr>
        <p:spPr>
          <a:xfrm>
            <a:off x="729450" y="65083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Bibliography</a:t>
            </a:r>
            <a:endParaRPr dirty="0"/>
          </a:p>
        </p:txBody>
      </p:sp>
      <p:sp>
        <p:nvSpPr>
          <p:cNvPr id="147" name="Google Shape;147;p23"/>
          <p:cNvSpPr txBox="1">
            <a:spLocks noGrp="1"/>
          </p:cNvSpPr>
          <p:nvPr>
            <p:ph type="body" idx="1"/>
          </p:nvPr>
        </p:nvSpPr>
        <p:spPr>
          <a:xfrm>
            <a:off x="729450" y="1385368"/>
            <a:ext cx="7688700" cy="3032519"/>
          </a:xfrm>
          <a:prstGeom prst="rect">
            <a:avLst/>
          </a:prstGeom>
        </p:spPr>
        <p:txBody>
          <a:bodyPr spcFirstLastPara="1" wrap="square" lIns="91425" tIns="91425" rIns="91425" bIns="91425" anchor="t" anchorCtr="0">
            <a:noAutofit/>
          </a:bodyPr>
          <a:lstStyle/>
          <a:p>
            <a:pPr>
              <a:buFont typeface="Wingdings" panose="05000000000000000000" pitchFamily="2" charset="2"/>
              <a:buChar char="§"/>
            </a:pPr>
            <a:r>
              <a:rPr lang="en-IN" sz="1200" dirty="0"/>
              <a:t>Box, G. E. P., Jenkins, G. M. (1976). </a:t>
            </a:r>
            <a:r>
              <a:rPr lang="en-IN" sz="1200" i="1" dirty="0"/>
              <a:t>Time Series Analysis: Forecasting and Control</a:t>
            </a:r>
            <a:endParaRPr lang="en-IN" sz="1200" dirty="0"/>
          </a:p>
          <a:p>
            <a:pPr>
              <a:buFont typeface="Wingdings" panose="05000000000000000000" pitchFamily="2" charset="2"/>
              <a:buChar char="§"/>
            </a:pPr>
            <a:r>
              <a:rPr lang="en-IN" sz="1200" dirty="0"/>
              <a:t>Hochreiter, S., </a:t>
            </a:r>
            <a:r>
              <a:rPr lang="en-IN" sz="1200" dirty="0" err="1"/>
              <a:t>Schmidhuber</a:t>
            </a:r>
            <a:r>
              <a:rPr lang="en-IN" sz="1200" dirty="0"/>
              <a:t>, J. (1997). </a:t>
            </a:r>
            <a:r>
              <a:rPr lang="en-IN" sz="1200" i="1" dirty="0"/>
              <a:t>Long Short-Term Memory</a:t>
            </a:r>
            <a:endParaRPr lang="en-IN" sz="1200" dirty="0"/>
          </a:p>
          <a:p>
            <a:pPr>
              <a:buFont typeface="Wingdings" panose="05000000000000000000" pitchFamily="2" charset="2"/>
              <a:buChar char="§"/>
            </a:pPr>
            <a:r>
              <a:rPr lang="en-IN" sz="1200" dirty="0"/>
              <a:t>Vaswani et al. (2017</a:t>
            </a:r>
            <a:r>
              <a:rPr lang="en-IN" sz="1200" i="1" dirty="0"/>
              <a:t>). Attention Is All You Need</a:t>
            </a:r>
            <a:endParaRPr lang="en-IN" sz="1200" dirty="0"/>
          </a:p>
          <a:p>
            <a:pPr>
              <a:buFont typeface="Wingdings" panose="05000000000000000000" pitchFamily="2" charset="2"/>
              <a:buChar char="§"/>
            </a:pPr>
            <a:r>
              <a:rPr lang="en-IN" sz="1200" dirty="0"/>
              <a:t>Lai et al. (2018). </a:t>
            </a:r>
            <a:r>
              <a:rPr lang="en-IN" sz="1200" i="1" dirty="0" err="1"/>
              <a:t>Modeling</a:t>
            </a:r>
            <a:r>
              <a:rPr lang="en-IN" sz="1200" i="1" dirty="0"/>
              <a:t> Long- and Short-Term Temporal Patterns</a:t>
            </a:r>
            <a:endParaRPr lang="en-IN" sz="1200" dirty="0"/>
          </a:p>
          <a:p>
            <a:pPr>
              <a:buFont typeface="Wingdings" panose="05000000000000000000" pitchFamily="2" charset="2"/>
              <a:buChar char="§"/>
            </a:pPr>
            <a:r>
              <a:rPr lang="en-IN" sz="1200" dirty="0"/>
              <a:t>Qin et al. (2017). </a:t>
            </a:r>
            <a:r>
              <a:rPr lang="en-IN" sz="1200" i="1" dirty="0"/>
              <a:t>Dual-Stage Attention-Based RNN</a:t>
            </a:r>
            <a:endParaRPr lang="en-IN" sz="1200" dirty="0"/>
          </a:p>
          <a:p>
            <a:pPr>
              <a:buFont typeface="Wingdings" panose="05000000000000000000" pitchFamily="2" charset="2"/>
              <a:buChar char="§"/>
            </a:pPr>
            <a:r>
              <a:rPr lang="en-IN" sz="1200" dirty="0"/>
              <a:t>Zhang et al. (2020). </a:t>
            </a:r>
            <a:r>
              <a:rPr lang="en-IN" sz="1200" i="1" dirty="0"/>
              <a:t>Deep Learning for Network Traffic Prediction</a:t>
            </a:r>
            <a:endParaRPr lang="en-IN" sz="1200" dirty="0"/>
          </a:p>
          <a:p>
            <a:pPr>
              <a:buFont typeface="Wingdings" panose="05000000000000000000" pitchFamily="2" charset="2"/>
              <a:buChar char="§"/>
            </a:pPr>
            <a:r>
              <a:rPr lang="en-IN" sz="1200" dirty="0"/>
              <a:t>ETSI GS ZSM 002 – </a:t>
            </a:r>
            <a:r>
              <a:rPr lang="en-IN" sz="1200" i="1" dirty="0"/>
              <a:t>Zero-touch network management</a:t>
            </a:r>
            <a:endParaRPr lang="en-IN" sz="1200" dirty="0"/>
          </a:p>
          <a:p>
            <a:pPr>
              <a:buFont typeface="Wingdings" panose="05000000000000000000" pitchFamily="2" charset="2"/>
              <a:buChar char="§"/>
            </a:pPr>
            <a:r>
              <a:rPr lang="en-IN" sz="1200" dirty="0"/>
              <a:t>ITU-T Y.3172 – </a:t>
            </a:r>
            <a:r>
              <a:rPr lang="en-IN" sz="1200" i="1" dirty="0"/>
              <a:t>Machine learning in future networks</a:t>
            </a:r>
            <a:endParaRPr lang="en-IN" sz="1200" dirty="0"/>
          </a:p>
          <a:p>
            <a:pPr>
              <a:buFont typeface="Wingdings" panose="05000000000000000000" pitchFamily="2" charset="2"/>
              <a:buChar char="§"/>
            </a:pPr>
            <a:r>
              <a:rPr lang="en-IN" sz="1200" dirty="0"/>
              <a:t>Ahmed et al. (2019). </a:t>
            </a:r>
            <a:r>
              <a:rPr lang="en-IN" sz="1200" i="1" dirty="0"/>
              <a:t>Telecom KPI Prediction using LSTM</a:t>
            </a:r>
            <a:endParaRPr lang="en-IN" sz="1200" dirty="0"/>
          </a:p>
          <a:p>
            <a:pPr>
              <a:buFont typeface="Wingdings" panose="05000000000000000000" pitchFamily="2" charset="2"/>
              <a:buChar char="§"/>
            </a:pPr>
            <a:r>
              <a:rPr lang="en-IN" sz="1200" dirty="0"/>
              <a:t>Wang et al. (2021). </a:t>
            </a:r>
            <a:r>
              <a:rPr lang="en-IN" sz="1200" i="1" dirty="0"/>
              <a:t>Hybrid ARIMA-LSTM Models for Time-Series Forecasting</a:t>
            </a:r>
            <a:endParaRPr lang="en-IN" sz="1200" dirty="0"/>
          </a:p>
          <a:p>
            <a:pPr>
              <a:buFont typeface="Wingdings" panose="05000000000000000000" pitchFamily="2" charset="2"/>
              <a:buChar char="§"/>
            </a:pPr>
            <a:r>
              <a:rPr lang="en-IN" sz="1200" dirty="0"/>
              <a:t>Hyndman, R. J., &amp; Athanasopoulos, G. (2018). </a:t>
            </a:r>
            <a:r>
              <a:rPr lang="en-IN" sz="1200" i="1" dirty="0"/>
              <a:t>Forecasting: Principles and practice</a:t>
            </a:r>
            <a:endParaRPr lang="en-IN" sz="1200" dirty="0"/>
          </a:p>
          <a:p>
            <a:pPr>
              <a:buFont typeface="Wingdings" panose="05000000000000000000" pitchFamily="2" charset="2"/>
              <a:buChar char="§"/>
            </a:pPr>
            <a:r>
              <a:rPr lang="en-IN" sz="1200" dirty="0"/>
              <a:t>Sample size and power calculations, </a:t>
            </a:r>
            <a:r>
              <a:rPr lang="en-IN" sz="1200" i="1" dirty="0"/>
              <a:t>Walsh College</a:t>
            </a:r>
            <a:endParaRPr lang="en-IN" sz="1200" dirty="0"/>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220</TotalTime>
  <Words>2091</Words>
  <Application>Microsoft Office PowerPoint</Application>
  <PresentationFormat>On-screen Show (16:9)</PresentationFormat>
  <Paragraphs>275</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Times New Roman</vt:lpstr>
      <vt:lpstr>Arial</vt:lpstr>
      <vt:lpstr>Lato</vt:lpstr>
      <vt:lpstr>Wingdings</vt:lpstr>
      <vt:lpstr>Raleway</vt:lpstr>
      <vt:lpstr>Roboto</vt:lpstr>
      <vt:lpstr>Streamline</vt:lpstr>
      <vt:lpstr>AI-Driven Predictive Multi-step KPI Forecasting for Proactive Telecom Service Assurance   Final Presentation</vt:lpstr>
      <vt:lpstr>Executive Summary</vt:lpstr>
      <vt:lpstr>Gap Analysis</vt:lpstr>
      <vt:lpstr>Research Questions</vt:lpstr>
      <vt:lpstr>Data Description and EDA</vt:lpstr>
      <vt:lpstr>Architecture diagram/Workflow</vt:lpstr>
      <vt:lpstr>Model building</vt:lpstr>
      <vt:lpstr>Results</vt:lpstr>
      <vt:lpstr>Implementation and User Benefit</vt:lpstr>
      <vt:lpstr>Conclusion</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Shanmuganathan Thiagarajan</cp:lastModifiedBy>
  <cp:revision>8</cp:revision>
  <dcterms:modified xsi:type="dcterms:W3CDTF">2026-03-07T18:10:17Z</dcterms:modified>
</cp:coreProperties>
</file>